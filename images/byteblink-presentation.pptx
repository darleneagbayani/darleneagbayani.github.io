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Poppins Medium" charset="1" panose="00000600000000000000"/>
      <p:regular r:id="rId31"/>
    </p:embeddedFont>
    <p:embeddedFont>
      <p:font typeface="Poppins Italics" charset="1" panose="00000500000000000000"/>
      <p:regular r:id="rId32"/>
    </p:embeddedFont>
    <p:embeddedFont>
      <p:font typeface="Poppins Semi-Bold" charset="1" panose="00000700000000000000"/>
      <p:regular r:id="rId33"/>
    </p:embeddedFont>
    <p:embeddedFont>
      <p:font typeface="Poppins Light" charset="1" panose="00000400000000000000"/>
      <p:regular r:id="rId34"/>
    </p:embeddedFont>
    <p:embeddedFont>
      <p:font typeface="Poppins Bold" charset="1" panose="00000800000000000000"/>
      <p:regular r:id="rId35"/>
    </p:embeddedFont>
    <p:embeddedFont>
      <p:font typeface="Poppins Heavy Italics" charset="1" panose="00000A00000000000000"/>
      <p:regular r:id="rId36"/>
    </p:embeddedFont>
    <p:embeddedFont>
      <p:font typeface="Poppins Ultra-Bold Italics" charset="1" panose="00000900000000000000"/>
      <p:regular r:id="rId37"/>
    </p:embeddedFont>
    <p:embeddedFont>
      <p:font typeface="Poppins Bold Italics" charset="1" panose="00000800000000000000"/>
      <p:regular r:id="rId38"/>
    </p:embeddedFont>
    <p:embeddedFont>
      <p:font typeface="Poppins Medium Italics" charset="1" panose="00000600000000000000"/>
      <p:regular r:id="rId39"/>
    </p:embeddedFont>
    <p:embeddedFont>
      <p:font typeface="Poppins" charset="1" panose="0000050000000000000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15" Target="../media/image17.png" Type="http://schemas.openxmlformats.org/officeDocument/2006/relationships/image"/><Relationship Id="rId16" Target="../media/image18.svg" Type="http://schemas.openxmlformats.org/officeDocument/2006/relationships/image"/><Relationship Id="rId2" Target="../media/image1.jpe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23.png" Type="http://schemas.openxmlformats.org/officeDocument/2006/relationships/image"/><Relationship Id="rId13" Target="../media/image24.png" Type="http://schemas.openxmlformats.org/officeDocument/2006/relationships/image"/><Relationship Id="rId14" Target="../media/image25.svg" Type="http://schemas.openxmlformats.org/officeDocument/2006/relationships/image"/><Relationship Id="rId15" Target="../media/image26.png" Type="http://schemas.openxmlformats.org/officeDocument/2006/relationships/image"/><Relationship Id="rId16" Target="../media/image27.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11" Target="../media/image32.png" Type="http://schemas.openxmlformats.org/officeDocument/2006/relationships/image"/><Relationship Id="rId12" Target="../media/image33.svg" Type="http://schemas.openxmlformats.org/officeDocument/2006/relationships/image"/><Relationship Id="rId13" Target="../media/image34.png" Type="http://schemas.openxmlformats.org/officeDocument/2006/relationships/image"/><Relationship Id="rId14" Target="../media/image35.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3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11" Target="../media/image38.png" Type="http://schemas.openxmlformats.org/officeDocument/2006/relationships/image"/><Relationship Id="rId12" Target="../media/image39.svg" Type="http://schemas.openxmlformats.org/officeDocument/2006/relationships/image"/><Relationship Id="rId13" Target="../media/image40.png" Type="http://schemas.openxmlformats.org/officeDocument/2006/relationships/image"/><Relationship Id="rId14" Target="../media/image41.svg" Type="http://schemas.openxmlformats.org/officeDocument/2006/relationships/image"/><Relationship Id="rId15" Target="../media/image42.png" Type="http://schemas.openxmlformats.org/officeDocument/2006/relationships/image"/><Relationship Id="rId16" Target="../media/image43.svg" Type="http://schemas.openxmlformats.org/officeDocument/2006/relationships/image"/><Relationship Id="rId2" Target="../media/image1.jpeg" Type="http://schemas.openxmlformats.org/officeDocument/2006/relationships/image"/><Relationship Id="rId3" Target="../media/image6.png" Type="http://schemas.openxmlformats.org/officeDocument/2006/relationships/image"/><Relationship Id="rId4" Target="../media/image2.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3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png" Type="http://schemas.openxmlformats.org/officeDocument/2006/relationships/image"/><Relationship Id="rId11" Target="../media/image48.svg" Type="http://schemas.openxmlformats.org/officeDocument/2006/relationships/image"/><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4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52.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media/image5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svg" Type="http://schemas.openxmlformats.org/officeDocument/2006/relationships/image"/><Relationship Id="rId11" Target="../media/image55.png" Type="http://schemas.openxmlformats.org/officeDocument/2006/relationships/image"/><Relationship Id="rId12" Target="../media/image56.svg" Type="http://schemas.openxmlformats.org/officeDocument/2006/relationships/image"/><Relationship Id="rId13" Target="../media/image57.png" Type="http://schemas.openxmlformats.org/officeDocument/2006/relationships/image"/><Relationship Id="rId14" Target="../media/image58.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5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svg" Type="http://schemas.openxmlformats.org/officeDocument/2006/relationships/image"/><Relationship Id="rId11" Target="../media/image65.png" Type="http://schemas.openxmlformats.org/officeDocument/2006/relationships/image"/><Relationship Id="rId12" Target="../media/image66.svg" Type="http://schemas.openxmlformats.org/officeDocument/2006/relationships/image"/><Relationship Id="rId13" Target="../media/image67.png" Type="http://schemas.openxmlformats.org/officeDocument/2006/relationships/image"/><Relationship Id="rId14" Target="../media/image68.png" Type="http://schemas.openxmlformats.org/officeDocument/2006/relationships/image"/><Relationship Id="rId15" Target="../media/image69.png" Type="http://schemas.openxmlformats.org/officeDocument/2006/relationships/image"/><Relationship Id="rId16" Target="../media/image70.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59.png" Type="http://schemas.openxmlformats.org/officeDocument/2006/relationships/image"/><Relationship Id="rId6" Target="../media/image60.svg" Type="http://schemas.openxmlformats.org/officeDocument/2006/relationships/image"/><Relationship Id="rId7" Target="../media/image61.png" Type="http://schemas.openxmlformats.org/officeDocument/2006/relationships/image"/><Relationship Id="rId8" Target="../media/image62.svg" Type="http://schemas.openxmlformats.org/officeDocument/2006/relationships/image"/><Relationship Id="rId9" Target="../media/image6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png" Type="http://schemas.openxmlformats.org/officeDocument/2006/relationships/image"/><Relationship Id="rId11" Target="../media/image76.svg" Type="http://schemas.openxmlformats.org/officeDocument/2006/relationships/image"/><Relationship Id="rId12" Target="../media/image77.png" Type="http://schemas.openxmlformats.org/officeDocument/2006/relationships/image"/><Relationship Id="rId13" Target="../media/image78.png" Type="http://schemas.openxmlformats.org/officeDocument/2006/relationships/image"/><Relationship Id="rId14" Target="../media/image79.svg" Type="http://schemas.openxmlformats.org/officeDocument/2006/relationships/image"/><Relationship Id="rId15" Target="../media/image80.png" Type="http://schemas.openxmlformats.org/officeDocument/2006/relationships/image"/><Relationship Id="rId16" Target="../media/image8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68.png" Type="http://schemas.openxmlformats.org/officeDocument/2006/relationships/image"/><Relationship Id="rId6" Target="../media/image71.png" Type="http://schemas.openxmlformats.org/officeDocument/2006/relationships/image"/><Relationship Id="rId7" Target="../media/image72.svg" Type="http://schemas.openxmlformats.org/officeDocument/2006/relationships/image"/><Relationship Id="rId8" Target="../media/image73.png" Type="http://schemas.openxmlformats.org/officeDocument/2006/relationships/image"/><Relationship Id="rId9" Target="../media/image7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4.png" Type="http://schemas.openxmlformats.org/officeDocument/2006/relationships/image"/><Relationship Id="rId11" Target="../media/image85.svg" Type="http://schemas.openxmlformats.org/officeDocument/2006/relationships/image"/><Relationship Id="rId12" Target="../media/image86.jpe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6.png" Type="http://schemas.openxmlformats.org/officeDocument/2006/relationships/image"/><Relationship Id="rId8" Target="../media/image82.png" Type="http://schemas.openxmlformats.org/officeDocument/2006/relationships/image"/><Relationship Id="rId9" Target="../media/image8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8.svg" Type="http://schemas.openxmlformats.org/officeDocument/2006/relationships/image"/><Relationship Id="rId11" Target="../media/image75.png" Type="http://schemas.openxmlformats.org/officeDocument/2006/relationships/image"/><Relationship Id="rId12" Target="../media/image76.svg" Type="http://schemas.openxmlformats.org/officeDocument/2006/relationships/image"/><Relationship Id="rId13" Target="../media/image89.png" Type="http://schemas.openxmlformats.org/officeDocument/2006/relationships/image"/><Relationship Id="rId14" Target="../media/image90.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8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2.pn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3.svg" Type="http://schemas.openxmlformats.org/officeDocument/2006/relationships/image"/><Relationship Id="rId11" Target="../media/image94.pn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6.png" Type="http://schemas.openxmlformats.org/officeDocument/2006/relationships/image"/><Relationship Id="rId8" Target="../media/image91.png" Type="http://schemas.openxmlformats.org/officeDocument/2006/relationships/image"/><Relationship Id="rId9" Target="../media/image9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2.png" Type="http://schemas.openxmlformats.org/officeDocument/2006/relationships/image"/><Relationship Id="rId6" Target="../media/image93.svg" Type="http://schemas.openxmlformats.org/officeDocument/2006/relationships/image"/><Relationship Id="rId7" Target="../media/image9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2.png" Type="http://schemas.openxmlformats.org/officeDocument/2006/relationships/image"/><Relationship Id="rId6" Target="../media/image93.svg" Type="http://schemas.openxmlformats.org/officeDocument/2006/relationships/image"/><Relationship Id="rId7" Target="../media/image9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2.png" Type="http://schemas.openxmlformats.org/officeDocument/2006/relationships/image"/><Relationship Id="rId6" Target="../media/image93.svg" Type="http://schemas.openxmlformats.org/officeDocument/2006/relationships/image"/><Relationship Id="rId7" Target="../media/image9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92.png" Type="http://schemas.openxmlformats.org/officeDocument/2006/relationships/image"/><Relationship Id="rId6" Target="../media/image93.svg" Type="http://schemas.openxmlformats.org/officeDocument/2006/relationships/image"/><Relationship Id="rId7" Target="../media/image9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0.svg" Type="http://schemas.openxmlformats.org/officeDocument/2006/relationships/image"/><Relationship Id="rId11" Target="../media/image101.png" Type="http://schemas.openxmlformats.org/officeDocument/2006/relationships/image"/><Relationship Id="rId12" Target="../media/image102.svg" Type="http://schemas.openxmlformats.org/officeDocument/2006/relationships/image"/><Relationship Id="rId13" Target="../media/image103.png" Type="http://schemas.openxmlformats.org/officeDocument/2006/relationships/image"/><Relationship Id="rId14" Target="../media/image104.svg" Type="http://schemas.openxmlformats.org/officeDocument/2006/relationships/image"/><Relationship Id="rId2" Target="../media/image1.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9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svg" Type="http://schemas.openxmlformats.org/officeDocument/2006/relationships/image"/><Relationship Id="rId11" Target="../media/image105.png" Type="http://schemas.openxmlformats.org/officeDocument/2006/relationships/image"/><Relationship Id="rId2" Target="../media/image1.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 Id="rId9" Target="../media/image4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png" Type="http://schemas.openxmlformats.org/officeDocument/2006/relationships/image"/><Relationship Id="rId11" Target="../media/image76.svg" Type="http://schemas.openxmlformats.org/officeDocument/2006/relationships/image"/><Relationship Id="rId12" Target="../media/image77.png" Type="http://schemas.openxmlformats.org/officeDocument/2006/relationships/image"/><Relationship Id="rId13" Target="../media/image78.png" Type="http://schemas.openxmlformats.org/officeDocument/2006/relationships/image"/><Relationship Id="rId14" Target="../media/image79.svg" Type="http://schemas.openxmlformats.org/officeDocument/2006/relationships/image"/><Relationship Id="rId15" Target="../media/image80.png" Type="http://schemas.openxmlformats.org/officeDocument/2006/relationships/image"/><Relationship Id="rId16" Target="../media/image8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 Id="rId5" Target="../media/image68.png" Type="http://schemas.openxmlformats.org/officeDocument/2006/relationships/image"/><Relationship Id="rId6" Target="../media/image71.png" Type="http://schemas.openxmlformats.org/officeDocument/2006/relationships/image"/><Relationship Id="rId7" Target="../media/image72.svg" Type="http://schemas.openxmlformats.org/officeDocument/2006/relationships/image"/><Relationship Id="rId8" Target="../media/image73.png" Type="http://schemas.openxmlformats.org/officeDocument/2006/relationships/image"/><Relationship Id="rId9" Target="../media/image7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5571015"/>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grpSp>
        <p:nvGrpSpPr>
          <p:cNvPr name="Group 6" id="6"/>
          <p:cNvGrpSpPr/>
          <p:nvPr/>
        </p:nvGrpSpPr>
        <p:grpSpPr>
          <a:xfrm rot="0">
            <a:off x="1492351" y="918210"/>
            <a:ext cx="4396063" cy="1436837"/>
            <a:chOff x="0" y="0"/>
            <a:chExt cx="5861417" cy="1915783"/>
          </a:xfrm>
        </p:grpSpPr>
        <p:sp>
          <p:nvSpPr>
            <p:cNvPr name="Freeform 7" id="7"/>
            <p:cNvSpPr/>
            <p:nvPr/>
          </p:nvSpPr>
          <p:spPr>
            <a:xfrm flipH="false" flipV="false" rot="0">
              <a:off x="0" y="0"/>
              <a:ext cx="1915783" cy="1915783"/>
            </a:xfrm>
            <a:custGeom>
              <a:avLst/>
              <a:gdLst/>
              <a:ahLst/>
              <a:cxnLst/>
              <a:rect r="r" b="b" t="t" l="l"/>
              <a:pathLst>
                <a:path h="1915783" w="1915783">
                  <a:moveTo>
                    <a:pt x="0" y="0"/>
                  </a:moveTo>
                  <a:lnTo>
                    <a:pt x="1915783" y="0"/>
                  </a:lnTo>
                  <a:lnTo>
                    <a:pt x="1915783" y="1915783"/>
                  </a:lnTo>
                  <a:lnTo>
                    <a:pt x="0" y="1915783"/>
                  </a:lnTo>
                  <a:lnTo>
                    <a:pt x="0" y="0"/>
                  </a:lnTo>
                  <a:close/>
                </a:path>
              </a:pathLst>
            </a:custGeom>
            <a:blipFill>
              <a:blip r:embed="rId3"/>
              <a:stretch>
                <a:fillRect l="0" t="0" r="0" b="0"/>
              </a:stretch>
            </a:blipFill>
          </p:spPr>
        </p:sp>
        <p:sp>
          <p:nvSpPr>
            <p:cNvPr name="TextBox 8" id="8"/>
            <p:cNvSpPr txBox="true"/>
            <p:nvPr/>
          </p:nvSpPr>
          <p:spPr>
            <a:xfrm rot="0">
              <a:off x="1915783" y="547191"/>
              <a:ext cx="3945634" cy="726151"/>
            </a:xfrm>
            <a:prstGeom prst="rect">
              <a:avLst/>
            </a:prstGeom>
          </p:spPr>
          <p:txBody>
            <a:bodyPr anchor="t" rtlCol="false" tIns="0" lIns="0" bIns="0" rIns="0">
              <a:spAutoFit/>
            </a:bodyPr>
            <a:lstStyle/>
            <a:p>
              <a:pPr algn="l">
                <a:lnSpc>
                  <a:spcPts val="4360"/>
                </a:lnSpc>
                <a:spcBef>
                  <a:spcPct val="0"/>
                </a:spcBef>
              </a:pPr>
              <a:r>
                <a:rPr lang="en-US" b="true" sz="3114">
                  <a:solidFill>
                    <a:srgbClr val="FFFFFF"/>
                  </a:solidFill>
                  <a:latin typeface="Poppins Medium"/>
                  <a:ea typeface="Poppins Medium"/>
                  <a:cs typeface="Poppins Medium"/>
                  <a:sym typeface="Poppins Medium"/>
                </a:rPr>
                <a:t>ByteBlink AI</a:t>
              </a:r>
            </a:p>
          </p:txBody>
        </p:sp>
      </p:grpSp>
      <p:grpSp>
        <p:nvGrpSpPr>
          <p:cNvPr name="Group 9" id="9"/>
          <p:cNvGrpSpPr/>
          <p:nvPr/>
        </p:nvGrpSpPr>
        <p:grpSpPr>
          <a:xfrm rot="0">
            <a:off x="11532494" y="1976881"/>
            <a:ext cx="4733932" cy="4729661"/>
            <a:chOff x="0" y="0"/>
            <a:chExt cx="1396176" cy="1394916"/>
          </a:xfrm>
        </p:grpSpPr>
        <p:sp>
          <p:nvSpPr>
            <p:cNvPr name="Freeform 10" id="10"/>
            <p:cNvSpPr/>
            <p:nvPr/>
          </p:nvSpPr>
          <p:spPr>
            <a:xfrm flipH="false" flipV="false" rot="0">
              <a:off x="0" y="0"/>
              <a:ext cx="1396176" cy="1394916"/>
            </a:xfrm>
            <a:custGeom>
              <a:avLst/>
              <a:gdLst/>
              <a:ahLst/>
              <a:cxnLst/>
              <a:rect r="r" b="b" t="t" l="l"/>
              <a:pathLst>
                <a:path h="1394916" w="1396176">
                  <a:moveTo>
                    <a:pt x="961432" y="733104"/>
                  </a:moveTo>
                  <a:lnTo>
                    <a:pt x="961432" y="160633"/>
                  </a:lnTo>
                  <a:cubicBezTo>
                    <a:pt x="961432" y="71918"/>
                    <a:pt x="889514" y="0"/>
                    <a:pt x="800799" y="0"/>
                  </a:cubicBezTo>
                  <a:lnTo>
                    <a:pt x="160633" y="0"/>
                  </a:lnTo>
                  <a:cubicBezTo>
                    <a:pt x="71918" y="1"/>
                    <a:pt x="1" y="71918"/>
                    <a:pt x="0" y="160633"/>
                  </a:cubicBezTo>
                  <a:lnTo>
                    <a:pt x="0" y="800797"/>
                  </a:lnTo>
                  <a:cubicBezTo>
                    <a:pt x="1" y="889512"/>
                    <a:pt x="71918" y="961430"/>
                    <a:pt x="160633" y="961431"/>
                  </a:cubicBezTo>
                  <a:lnTo>
                    <a:pt x="734364" y="961431"/>
                  </a:lnTo>
                  <a:cubicBezTo>
                    <a:pt x="823079" y="961431"/>
                    <a:pt x="894997" y="1033349"/>
                    <a:pt x="894997" y="1122064"/>
                  </a:cubicBezTo>
                  <a:lnTo>
                    <a:pt x="894997" y="1234283"/>
                  </a:lnTo>
                  <a:cubicBezTo>
                    <a:pt x="894997" y="1322995"/>
                    <a:pt x="966911" y="1394912"/>
                    <a:pt x="1055624" y="1394916"/>
                  </a:cubicBezTo>
                  <a:lnTo>
                    <a:pt x="1235542" y="1394916"/>
                  </a:lnTo>
                  <a:cubicBezTo>
                    <a:pt x="1324257" y="1394915"/>
                    <a:pt x="1396175" y="1322998"/>
                    <a:pt x="1396176" y="1234283"/>
                  </a:cubicBezTo>
                  <a:lnTo>
                    <a:pt x="1396176" y="1054371"/>
                  </a:lnTo>
                  <a:cubicBezTo>
                    <a:pt x="1396176" y="965655"/>
                    <a:pt x="1324258" y="893737"/>
                    <a:pt x="1235542" y="893737"/>
                  </a:cubicBezTo>
                  <a:lnTo>
                    <a:pt x="1122065" y="893737"/>
                  </a:lnTo>
                  <a:cubicBezTo>
                    <a:pt x="1033350" y="893737"/>
                    <a:pt x="961432" y="821819"/>
                    <a:pt x="961432" y="733104"/>
                  </a:cubicBezTo>
                  <a:close/>
                </a:path>
              </a:pathLst>
            </a:custGeom>
            <a:blipFill>
              <a:blip r:embed="rId4">
                <a:alphaModFix amt="81000"/>
              </a:blip>
              <a:stretch>
                <a:fillRect l="-43578" t="-18567" r="-36402" b="0"/>
              </a:stretch>
            </a:blipFill>
          </p:spPr>
        </p:sp>
      </p:grpSp>
      <p:grpSp>
        <p:nvGrpSpPr>
          <p:cNvPr name="Group 11" id="11"/>
          <p:cNvGrpSpPr/>
          <p:nvPr/>
        </p:nvGrpSpPr>
        <p:grpSpPr>
          <a:xfrm rot="0">
            <a:off x="10527638" y="5643336"/>
            <a:ext cx="3964622" cy="4173059"/>
            <a:chOff x="0" y="0"/>
            <a:chExt cx="5845810" cy="6153150"/>
          </a:xfrm>
        </p:grpSpPr>
        <p:sp>
          <p:nvSpPr>
            <p:cNvPr name="Freeform 12" id="12"/>
            <p:cNvSpPr/>
            <p:nvPr/>
          </p:nvSpPr>
          <p:spPr>
            <a:xfrm flipH="false" flipV="false" rot="0">
              <a:off x="0" y="0"/>
              <a:ext cx="5845810" cy="6153150"/>
            </a:xfrm>
            <a:custGeom>
              <a:avLst/>
              <a:gdLst/>
              <a:ahLst/>
              <a:cxnLst/>
              <a:rect r="r" b="b" t="t" l="l"/>
              <a:pathLst>
                <a:path h="6153150" w="5845810">
                  <a:moveTo>
                    <a:pt x="4033520" y="0"/>
                  </a:moveTo>
                  <a:lnTo>
                    <a:pt x="1811020" y="0"/>
                  </a:lnTo>
                  <a:cubicBezTo>
                    <a:pt x="811530" y="0"/>
                    <a:pt x="0" y="811530"/>
                    <a:pt x="0" y="1812290"/>
                  </a:cubicBezTo>
                  <a:cubicBezTo>
                    <a:pt x="0" y="2733040"/>
                    <a:pt x="687070" y="3493770"/>
                    <a:pt x="1577340" y="3609340"/>
                  </a:cubicBezTo>
                  <a:lnTo>
                    <a:pt x="0" y="6153150"/>
                  </a:lnTo>
                  <a:lnTo>
                    <a:pt x="4333240" y="6153150"/>
                  </a:lnTo>
                  <a:cubicBezTo>
                    <a:pt x="5168900" y="6153150"/>
                    <a:pt x="5845810" y="5476240"/>
                    <a:pt x="5845810" y="4640580"/>
                  </a:cubicBezTo>
                  <a:lnTo>
                    <a:pt x="5845810" y="1812290"/>
                  </a:lnTo>
                  <a:cubicBezTo>
                    <a:pt x="5845810" y="811530"/>
                    <a:pt x="5034280" y="0"/>
                    <a:pt x="4033520" y="0"/>
                  </a:cubicBezTo>
                  <a:close/>
                </a:path>
              </a:pathLst>
            </a:custGeom>
            <a:blipFill>
              <a:blip r:embed="rId5">
                <a:alphaModFix amt="81000"/>
              </a:blip>
              <a:stretch>
                <a:fillRect l="-25741" t="-2097" r="-36371" b="-514"/>
              </a:stretch>
            </a:blipFill>
          </p:spPr>
        </p:sp>
      </p:grpSp>
      <p:grpSp>
        <p:nvGrpSpPr>
          <p:cNvPr name="Group 13" id="13"/>
          <p:cNvGrpSpPr/>
          <p:nvPr/>
        </p:nvGrpSpPr>
        <p:grpSpPr>
          <a:xfrm rot="0">
            <a:off x="15260059" y="594360"/>
            <a:ext cx="3998482" cy="3998486"/>
            <a:chOff x="0" y="0"/>
            <a:chExt cx="1419732" cy="1419733"/>
          </a:xfrm>
        </p:grpSpPr>
        <p:sp>
          <p:nvSpPr>
            <p:cNvPr name="Freeform 14" id="14"/>
            <p:cNvSpPr/>
            <p:nvPr/>
          </p:nvSpPr>
          <p:spPr>
            <a:xfrm flipH="false" flipV="false" rot="0">
              <a:off x="0" y="0"/>
              <a:ext cx="1419733" cy="1419746"/>
            </a:xfrm>
            <a:custGeom>
              <a:avLst/>
              <a:gdLst/>
              <a:ahLst/>
              <a:cxnLst/>
              <a:rect r="r" b="b" t="t" l="l"/>
              <a:pathLst>
                <a:path h="1419746" w="1419733">
                  <a:moveTo>
                    <a:pt x="932290" y="0"/>
                  </a:moveTo>
                  <a:lnTo>
                    <a:pt x="177673" y="0"/>
                  </a:lnTo>
                  <a:cubicBezTo>
                    <a:pt x="79547" y="0"/>
                    <a:pt x="0" y="79547"/>
                    <a:pt x="0" y="177673"/>
                  </a:cubicBezTo>
                  <a:lnTo>
                    <a:pt x="0" y="1242073"/>
                  </a:lnTo>
                  <a:cubicBezTo>
                    <a:pt x="0" y="1340199"/>
                    <a:pt x="79547" y="1419746"/>
                    <a:pt x="177673" y="1419746"/>
                  </a:cubicBezTo>
                  <a:lnTo>
                    <a:pt x="1242060" y="1419746"/>
                  </a:lnTo>
                  <a:cubicBezTo>
                    <a:pt x="1340186" y="1419746"/>
                    <a:pt x="1419733" y="1340199"/>
                    <a:pt x="1419733" y="1242073"/>
                  </a:cubicBezTo>
                  <a:lnTo>
                    <a:pt x="1419733" y="523958"/>
                  </a:lnTo>
                  <a:cubicBezTo>
                    <a:pt x="1419733" y="480251"/>
                    <a:pt x="1403623" y="438079"/>
                    <a:pt x="1374484" y="405503"/>
                  </a:cubicBezTo>
                  <a:lnTo>
                    <a:pt x="1064707" y="59214"/>
                  </a:lnTo>
                  <a:cubicBezTo>
                    <a:pt x="1031003" y="21536"/>
                    <a:pt x="982844" y="0"/>
                    <a:pt x="932290" y="0"/>
                  </a:cubicBezTo>
                  <a:close/>
                </a:path>
              </a:pathLst>
            </a:custGeom>
            <a:blipFill>
              <a:blip r:embed="rId6">
                <a:alphaModFix amt="81000"/>
              </a:blip>
              <a:stretch>
                <a:fillRect l="-101148" t="-30854" r="0" b="-3159"/>
              </a:stretch>
            </a:blipFill>
          </p:spPr>
        </p:sp>
      </p:grpSp>
      <p:sp>
        <p:nvSpPr>
          <p:cNvPr name="TextBox 15" id="15"/>
          <p:cNvSpPr txBox="true"/>
          <p:nvPr/>
        </p:nvSpPr>
        <p:spPr>
          <a:xfrm rot="0">
            <a:off x="1872904" y="3889619"/>
            <a:ext cx="11355331" cy="352425"/>
          </a:xfrm>
          <a:prstGeom prst="rect">
            <a:avLst/>
          </a:prstGeom>
        </p:spPr>
        <p:txBody>
          <a:bodyPr anchor="t" rtlCol="false" tIns="0" lIns="0" bIns="0" rIns="0">
            <a:spAutoFit/>
          </a:bodyPr>
          <a:lstStyle/>
          <a:p>
            <a:pPr algn="l" marL="0" indent="0" lvl="0">
              <a:lnSpc>
                <a:spcPts val="2640"/>
              </a:lnSpc>
            </a:pPr>
            <a:r>
              <a:rPr lang="en-US" sz="2200" i="true" spc="528">
                <a:solidFill>
                  <a:srgbClr val="F6F6F6"/>
                </a:solidFill>
                <a:latin typeface="Poppins Italics"/>
                <a:ea typeface="Poppins Italics"/>
                <a:cs typeface="Poppins Italics"/>
                <a:sym typeface="Poppins Italics"/>
              </a:rPr>
              <a:t>PRESENTED BY</a:t>
            </a:r>
          </a:p>
        </p:txBody>
      </p:sp>
      <p:sp>
        <p:nvSpPr>
          <p:cNvPr name="TextBox 16" id="16"/>
          <p:cNvSpPr txBox="true"/>
          <p:nvPr/>
        </p:nvSpPr>
        <p:spPr>
          <a:xfrm rot="0">
            <a:off x="1872904" y="4294177"/>
            <a:ext cx="11355331" cy="520954"/>
          </a:xfrm>
          <a:prstGeom prst="rect">
            <a:avLst/>
          </a:prstGeom>
        </p:spPr>
        <p:txBody>
          <a:bodyPr anchor="t" rtlCol="false" tIns="0" lIns="0" bIns="0" rIns="0">
            <a:spAutoFit/>
          </a:bodyPr>
          <a:lstStyle/>
          <a:p>
            <a:pPr algn="l" marL="0" indent="0" lvl="0">
              <a:lnSpc>
                <a:spcPts val="3967"/>
              </a:lnSpc>
            </a:pPr>
            <a:r>
              <a:rPr lang="en-US" b="true" sz="3099" spc="43">
                <a:solidFill>
                  <a:srgbClr val="51CCCB"/>
                </a:solidFill>
                <a:latin typeface="Poppins Semi-Bold"/>
                <a:ea typeface="Poppins Semi-Bold"/>
                <a:cs typeface="Poppins Semi-Bold"/>
                <a:sym typeface="Poppins Semi-Bold"/>
              </a:rPr>
              <a:t>Vanessa Jencks,</a:t>
            </a:r>
            <a:r>
              <a:rPr lang="en-US" b="true" sz="3099" spc="43">
                <a:solidFill>
                  <a:srgbClr val="51CCCB"/>
                </a:solidFill>
                <a:latin typeface="Poppins Medium"/>
                <a:ea typeface="Poppins Medium"/>
                <a:cs typeface="Poppins Medium"/>
                <a:sym typeface="Poppins Medium"/>
              </a:rPr>
              <a:t> </a:t>
            </a:r>
            <a:r>
              <a:rPr lang="en-US" sz="3099" spc="43">
                <a:solidFill>
                  <a:srgbClr val="D9D9D9"/>
                </a:solidFill>
                <a:latin typeface="Poppins Light"/>
                <a:ea typeface="Poppins Light"/>
                <a:cs typeface="Poppins Light"/>
                <a:sym typeface="Poppins Light"/>
              </a:rPr>
              <a:t>Owner &amp; CEO</a:t>
            </a:r>
          </a:p>
        </p:txBody>
      </p:sp>
      <p:sp>
        <p:nvSpPr>
          <p:cNvPr name="TextBox 17" id="17"/>
          <p:cNvSpPr txBox="true"/>
          <p:nvPr/>
        </p:nvSpPr>
        <p:spPr>
          <a:xfrm rot="0">
            <a:off x="1872904" y="8604839"/>
            <a:ext cx="8136189" cy="354330"/>
          </a:xfrm>
          <a:prstGeom prst="rect">
            <a:avLst/>
          </a:prstGeom>
        </p:spPr>
        <p:txBody>
          <a:bodyPr anchor="t" rtlCol="false" tIns="0" lIns="0" bIns="0" rIns="0">
            <a:spAutoFit/>
          </a:bodyPr>
          <a:lstStyle/>
          <a:p>
            <a:pPr algn="l" marL="0" indent="0" lvl="0">
              <a:lnSpc>
                <a:spcPts val="2730"/>
              </a:lnSpc>
              <a:spcBef>
                <a:spcPct val="0"/>
              </a:spcBef>
            </a:pPr>
            <a:r>
              <a:rPr lang="en-US" b="true" sz="2100" spc="35">
                <a:solidFill>
                  <a:srgbClr val="D9D9D9"/>
                </a:solidFill>
                <a:latin typeface="Poppins Bold"/>
                <a:ea typeface="Poppins Bold"/>
                <a:cs typeface="Poppins Bold"/>
                <a:sym typeface="Poppins Bold"/>
              </a:rPr>
              <a:t>Tu</a:t>
            </a:r>
            <a:r>
              <a:rPr lang="en-US" b="true" sz="2100" spc="35">
                <a:solidFill>
                  <a:srgbClr val="D9D9D9"/>
                </a:solidFill>
                <a:latin typeface="Poppins Bold"/>
                <a:ea typeface="Poppins Bold"/>
                <a:cs typeface="Poppins Bold"/>
                <a:sym typeface="Poppins Bold"/>
              </a:rPr>
              <a:t>rning hidden data into smarter business decisions.</a:t>
            </a:r>
          </a:p>
        </p:txBody>
      </p:sp>
      <p:sp>
        <p:nvSpPr>
          <p:cNvPr name="TextBox 18" id="18"/>
          <p:cNvSpPr txBox="true"/>
          <p:nvPr/>
        </p:nvSpPr>
        <p:spPr>
          <a:xfrm rot="0">
            <a:off x="1868076" y="2279208"/>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Discovering Hidden Data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5961540"/>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1916605" y="2743648"/>
            <a:ext cx="6805687" cy="6797180"/>
          </a:xfrm>
          <a:custGeom>
            <a:avLst/>
            <a:gdLst/>
            <a:ahLst/>
            <a:cxnLst/>
            <a:rect r="r" b="b" t="t" l="l"/>
            <a:pathLst>
              <a:path h="6797180" w="6805687">
                <a:moveTo>
                  <a:pt x="0" y="0"/>
                </a:moveTo>
                <a:lnTo>
                  <a:pt x="6805687" y="0"/>
                </a:lnTo>
                <a:lnTo>
                  <a:pt x="6805687" y="6797180"/>
                </a:lnTo>
                <a:lnTo>
                  <a:pt x="0" y="6797180"/>
                </a:lnTo>
                <a:lnTo>
                  <a:pt x="0" y="0"/>
                </a:lnTo>
                <a:close/>
              </a:path>
            </a:pathLst>
          </a:custGeom>
          <a:blipFill>
            <a:blip r:embed="rId3">
              <a:alphaModFix amt="51000"/>
            </a:blip>
            <a:stretch>
              <a:fillRect l="0" t="0" r="0" b="0"/>
            </a:stretch>
          </a:blipFill>
        </p:spPr>
      </p:sp>
      <p:sp>
        <p:nvSpPr>
          <p:cNvPr name="Freeform 7" id="7"/>
          <p:cNvSpPr/>
          <p:nvPr/>
        </p:nvSpPr>
        <p:spPr>
          <a:xfrm flipH="false" flipV="false" rot="0">
            <a:off x="3790471" y="2729654"/>
            <a:ext cx="6805687" cy="6797180"/>
          </a:xfrm>
          <a:custGeom>
            <a:avLst/>
            <a:gdLst/>
            <a:ahLst/>
            <a:cxnLst/>
            <a:rect r="r" b="b" t="t" l="l"/>
            <a:pathLst>
              <a:path h="6797180" w="6805687">
                <a:moveTo>
                  <a:pt x="0" y="0"/>
                </a:moveTo>
                <a:lnTo>
                  <a:pt x="6805687" y="0"/>
                </a:lnTo>
                <a:lnTo>
                  <a:pt x="6805687" y="6797180"/>
                </a:lnTo>
                <a:lnTo>
                  <a:pt x="0" y="6797180"/>
                </a:lnTo>
                <a:lnTo>
                  <a:pt x="0" y="0"/>
                </a:lnTo>
                <a:close/>
              </a:path>
            </a:pathLst>
          </a:custGeom>
          <a:blipFill>
            <a:blip r:embed="rId3">
              <a:alphaModFix amt="51000"/>
            </a:blip>
            <a:stretch>
              <a:fillRect l="0" t="0" r="0" b="0"/>
            </a:stretch>
          </a:blipFill>
        </p:spPr>
      </p:sp>
      <p:sp>
        <p:nvSpPr>
          <p:cNvPr name="Freeform 8" id="8"/>
          <p:cNvSpPr/>
          <p:nvPr/>
        </p:nvSpPr>
        <p:spPr>
          <a:xfrm flipH="false" flipV="false" rot="0">
            <a:off x="7811843" y="2870695"/>
            <a:ext cx="6805687" cy="6797180"/>
          </a:xfrm>
          <a:custGeom>
            <a:avLst/>
            <a:gdLst/>
            <a:ahLst/>
            <a:cxnLst/>
            <a:rect r="r" b="b" t="t" l="l"/>
            <a:pathLst>
              <a:path h="6797180" w="6805687">
                <a:moveTo>
                  <a:pt x="0" y="0"/>
                </a:moveTo>
                <a:lnTo>
                  <a:pt x="6805687" y="0"/>
                </a:lnTo>
                <a:lnTo>
                  <a:pt x="6805687" y="6797180"/>
                </a:lnTo>
                <a:lnTo>
                  <a:pt x="0" y="6797180"/>
                </a:lnTo>
                <a:lnTo>
                  <a:pt x="0" y="0"/>
                </a:lnTo>
                <a:close/>
              </a:path>
            </a:pathLst>
          </a:custGeom>
          <a:blipFill>
            <a:blip r:embed="rId3">
              <a:alphaModFix amt="51000"/>
            </a:blip>
            <a:stretch>
              <a:fillRect l="0" t="0" r="0" b="0"/>
            </a:stretch>
          </a:blipFill>
        </p:spPr>
      </p:sp>
      <p:sp>
        <p:nvSpPr>
          <p:cNvPr name="Freeform 9" id="9"/>
          <p:cNvSpPr/>
          <p:nvPr/>
        </p:nvSpPr>
        <p:spPr>
          <a:xfrm flipH="false" flipV="false" rot="0">
            <a:off x="-434292" y="2757427"/>
            <a:ext cx="6805687" cy="6797180"/>
          </a:xfrm>
          <a:custGeom>
            <a:avLst/>
            <a:gdLst/>
            <a:ahLst/>
            <a:cxnLst/>
            <a:rect r="r" b="b" t="t" l="l"/>
            <a:pathLst>
              <a:path h="6797180" w="6805687">
                <a:moveTo>
                  <a:pt x="0" y="0"/>
                </a:moveTo>
                <a:lnTo>
                  <a:pt x="6805687" y="0"/>
                </a:lnTo>
                <a:lnTo>
                  <a:pt x="6805687" y="6797179"/>
                </a:lnTo>
                <a:lnTo>
                  <a:pt x="0" y="6797179"/>
                </a:lnTo>
                <a:lnTo>
                  <a:pt x="0" y="0"/>
                </a:lnTo>
                <a:close/>
              </a:path>
            </a:pathLst>
          </a:custGeom>
          <a:blipFill>
            <a:blip r:embed="rId3">
              <a:alphaModFix amt="51000"/>
            </a:blip>
            <a:stretch>
              <a:fillRect l="0" t="0" r="0" b="0"/>
            </a:stretch>
          </a:blipFill>
        </p:spPr>
      </p:sp>
      <p:sp>
        <p:nvSpPr>
          <p:cNvPr name="Freeform 10" id="10"/>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4">
              <a:alphaModFix amt="21999"/>
            </a:blip>
            <a:stretch>
              <a:fillRect l="0" t="0" r="0" b="0"/>
            </a:stretch>
          </a:blipFill>
        </p:spPr>
      </p:sp>
      <p:sp>
        <p:nvSpPr>
          <p:cNvPr name="Freeform 11" id="11"/>
          <p:cNvSpPr/>
          <p:nvPr/>
        </p:nvSpPr>
        <p:spPr>
          <a:xfrm flipH="false" flipV="false" rot="0">
            <a:off x="4245844" y="5365213"/>
            <a:ext cx="5430835" cy="2559281"/>
          </a:xfrm>
          <a:custGeom>
            <a:avLst/>
            <a:gdLst/>
            <a:ahLst/>
            <a:cxnLst/>
            <a:rect r="r" b="b" t="t" l="l"/>
            <a:pathLst>
              <a:path h="2559281" w="5430835">
                <a:moveTo>
                  <a:pt x="0" y="0"/>
                </a:moveTo>
                <a:lnTo>
                  <a:pt x="5430835" y="0"/>
                </a:lnTo>
                <a:lnTo>
                  <a:pt x="5430835" y="2559281"/>
                </a:lnTo>
                <a:lnTo>
                  <a:pt x="0" y="25592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80496" y="5365213"/>
            <a:ext cx="5430835" cy="2559281"/>
          </a:xfrm>
          <a:custGeom>
            <a:avLst/>
            <a:gdLst/>
            <a:ahLst/>
            <a:cxnLst/>
            <a:rect r="r" b="b" t="t" l="l"/>
            <a:pathLst>
              <a:path h="2559281" w="5430835">
                <a:moveTo>
                  <a:pt x="0" y="0"/>
                </a:moveTo>
                <a:lnTo>
                  <a:pt x="5430835" y="0"/>
                </a:lnTo>
                <a:lnTo>
                  <a:pt x="5430835" y="2559281"/>
                </a:lnTo>
                <a:lnTo>
                  <a:pt x="0" y="25592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8499268" y="5365213"/>
            <a:ext cx="5430835" cy="2559281"/>
          </a:xfrm>
          <a:custGeom>
            <a:avLst/>
            <a:gdLst/>
            <a:ahLst/>
            <a:cxnLst/>
            <a:rect r="r" b="b" t="t" l="l"/>
            <a:pathLst>
              <a:path h="2559281" w="5430835">
                <a:moveTo>
                  <a:pt x="0" y="0"/>
                </a:moveTo>
                <a:lnTo>
                  <a:pt x="5430836" y="0"/>
                </a:lnTo>
                <a:lnTo>
                  <a:pt x="5430836" y="2559281"/>
                </a:lnTo>
                <a:lnTo>
                  <a:pt x="0" y="25592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2604031" y="5365213"/>
            <a:ext cx="5430835" cy="2559281"/>
          </a:xfrm>
          <a:custGeom>
            <a:avLst/>
            <a:gdLst/>
            <a:ahLst/>
            <a:cxnLst/>
            <a:rect r="r" b="b" t="t" l="l"/>
            <a:pathLst>
              <a:path h="2559281" w="5430835">
                <a:moveTo>
                  <a:pt x="0" y="0"/>
                </a:moveTo>
                <a:lnTo>
                  <a:pt x="5430836" y="0"/>
                </a:lnTo>
                <a:lnTo>
                  <a:pt x="5430836" y="2559281"/>
                </a:lnTo>
                <a:lnTo>
                  <a:pt x="0" y="25592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6363806" y="4654672"/>
            <a:ext cx="1487566" cy="1487566"/>
            <a:chOff x="0" y="0"/>
            <a:chExt cx="588434" cy="588434"/>
          </a:xfrm>
        </p:grpSpPr>
        <p:sp>
          <p:nvSpPr>
            <p:cNvPr name="Freeform 16" id="16"/>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7" id="17"/>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18" id="18"/>
          <p:cNvGrpSpPr/>
          <p:nvPr/>
        </p:nvGrpSpPr>
        <p:grpSpPr>
          <a:xfrm rot="0">
            <a:off x="5554104" y="5859345"/>
            <a:ext cx="3106972" cy="847868"/>
            <a:chOff x="0" y="0"/>
            <a:chExt cx="1229020" cy="335390"/>
          </a:xfrm>
        </p:grpSpPr>
        <p:sp>
          <p:nvSpPr>
            <p:cNvPr name="Freeform 19" id="19"/>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20" id="20"/>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grpSp>
        <p:nvGrpSpPr>
          <p:cNvPr name="Group 21" id="21"/>
          <p:cNvGrpSpPr/>
          <p:nvPr/>
        </p:nvGrpSpPr>
        <p:grpSpPr>
          <a:xfrm rot="0">
            <a:off x="10470903" y="4640678"/>
            <a:ext cx="1487566" cy="1487566"/>
            <a:chOff x="0" y="0"/>
            <a:chExt cx="588434" cy="588434"/>
          </a:xfrm>
        </p:grpSpPr>
        <p:sp>
          <p:nvSpPr>
            <p:cNvPr name="Freeform 22" id="22"/>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3" id="23"/>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4" id="24"/>
          <p:cNvGrpSpPr/>
          <p:nvPr/>
        </p:nvGrpSpPr>
        <p:grpSpPr>
          <a:xfrm rot="0">
            <a:off x="9661200" y="5845351"/>
            <a:ext cx="3106972" cy="847868"/>
            <a:chOff x="0" y="0"/>
            <a:chExt cx="1229020" cy="335390"/>
          </a:xfrm>
        </p:grpSpPr>
        <p:sp>
          <p:nvSpPr>
            <p:cNvPr name="Freeform 25" id="25"/>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26" id="26"/>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grpSp>
        <p:nvGrpSpPr>
          <p:cNvPr name="Group 27" id="27"/>
          <p:cNvGrpSpPr/>
          <p:nvPr/>
        </p:nvGrpSpPr>
        <p:grpSpPr>
          <a:xfrm rot="0">
            <a:off x="14575666" y="4640678"/>
            <a:ext cx="1487566" cy="1487566"/>
            <a:chOff x="0" y="0"/>
            <a:chExt cx="588434" cy="588434"/>
          </a:xfrm>
        </p:grpSpPr>
        <p:sp>
          <p:nvSpPr>
            <p:cNvPr name="Freeform 28" id="28"/>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9" id="29"/>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30" id="30"/>
          <p:cNvGrpSpPr/>
          <p:nvPr/>
        </p:nvGrpSpPr>
        <p:grpSpPr>
          <a:xfrm rot="0">
            <a:off x="13765963" y="5845351"/>
            <a:ext cx="3106972" cy="847868"/>
            <a:chOff x="0" y="0"/>
            <a:chExt cx="1229020" cy="335390"/>
          </a:xfrm>
        </p:grpSpPr>
        <p:sp>
          <p:nvSpPr>
            <p:cNvPr name="Freeform 31" id="31"/>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32" id="32"/>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Freeform 33" id="33"/>
          <p:cNvSpPr/>
          <p:nvPr/>
        </p:nvSpPr>
        <p:spPr>
          <a:xfrm flipH="false" flipV="false" rot="0">
            <a:off x="6711171" y="4948250"/>
            <a:ext cx="964286" cy="774954"/>
          </a:xfrm>
          <a:custGeom>
            <a:avLst/>
            <a:gdLst/>
            <a:ahLst/>
            <a:cxnLst/>
            <a:rect r="r" b="b" t="t" l="l"/>
            <a:pathLst>
              <a:path h="774954" w="964286">
                <a:moveTo>
                  <a:pt x="0" y="0"/>
                </a:moveTo>
                <a:lnTo>
                  <a:pt x="964287" y="0"/>
                </a:lnTo>
                <a:lnTo>
                  <a:pt x="964287" y="774954"/>
                </a:lnTo>
                <a:lnTo>
                  <a:pt x="0" y="7749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0">
            <a:off x="10817760" y="4940290"/>
            <a:ext cx="793852" cy="790875"/>
          </a:xfrm>
          <a:custGeom>
            <a:avLst/>
            <a:gdLst/>
            <a:ahLst/>
            <a:cxnLst/>
            <a:rect r="r" b="b" t="t" l="l"/>
            <a:pathLst>
              <a:path h="790875" w="793852">
                <a:moveTo>
                  <a:pt x="0" y="0"/>
                </a:moveTo>
                <a:lnTo>
                  <a:pt x="793852" y="0"/>
                </a:lnTo>
                <a:lnTo>
                  <a:pt x="793852" y="790875"/>
                </a:lnTo>
                <a:lnTo>
                  <a:pt x="0" y="79087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14974816" y="4897330"/>
            <a:ext cx="689265" cy="810900"/>
          </a:xfrm>
          <a:custGeom>
            <a:avLst/>
            <a:gdLst/>
            <a:ahLst/>
            <a:cxnLst/>
            <a:rect r="r" b="b" t="t" l="l"/>
            <a:pathLst>
              <a:path h="810900" w="689265">
                <a:moveTo>
                  <a:pt x="0" y="0"/>
                </a:moveTo>
                <a:lnTo>
                  <a:pt x="689265" y="0"/>
                </a:lnTo>
                <a:lnTo>
                  <a:pt x="689265" y="810900"/>
                </a:lnTo>
                <a:lnTo>
                  <a:pt x="0" y="8109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6" id="36"/>
          <p:cNvSpPr/>
          <p:nvPr/>
        </p:nvSpPr>
        <p:spPr>
          <a:xfrm flipH="true" flipV="false" rot="0">
            <a:off x="11348660" y="5365213"/>
            <a:ext cx="1664801" cy="584194"/>
          </a:xfrm>
          <a:custGeom>
            <a:avLst/>
            <a:gdLst/>
            <a:ahLst/>
            <a:cxnLst/>
            <a:rect r="r" b="b" t="t" l="l"/>
            <a:pathLst>
              <a:path h="584194" w="1664801">
                <a:moveTo>
                  <a:pt x="1664801" y="0"/>
                </a:moveTo>
                <a:lnTo>
                  <a:pt x="0" y="0"/>
                </a:lnTo>
                <a:lnTo>
                  <a:pt x="0" y="584194"/>
                </a:lnTo>
                <a:lnTo>
                  <a:pt x="1664801" y="584194"/>
                </a:lnTo>
                <a:lnTo>
                  <a:pt x="1664801"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7" id="37"/>
          <p:cNvSpPr/>
          <p:nvPr/>
        </p:nvSpPr>
        <p:spPr>
          <a:xfrm flipH="false" flipV="true" rot="0">
            <a:off x="2030420" y="4399371"/>
            <a:ext cx="1664801" cy="584194"/>
          </a:xfrm>
          <a:custGeom>
            <a:avLst/>
            <a:gdLst/>
            <a:ahLst/>
            <a:cxnLst/>
            <a:rect r="r" b="b" t="t" l="l"/>
            <a:pathLst>
              <a:path h="584194" w="1664801">
                <a:moveTo>
                  <a:pt x="0" y="584194"/>
                </a:moveTo>
                <a:lnTo>
                  <a:pt x="1664801" y="584194"/>
                </a:lnTo>
                <a:lnTo>
                  <a:pt x="1664801" y="0"/>
                </a:lnTo>
                <a:lnTo>
                  <a:pt x="0" y="0"/>
                </a:lnTo>
                <a:lnTo>
                  <a:pt x="0" y="584194"/>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8" id="38"/>
          <p:cNvGrpSpPr/>
          <p:nvPr/>
        </p:nvGrpSpPr>
        <p:grpSpPr>
          <a:xfrm rot="0">
            <a:off x="2224768" y="4640678"/>
            <a:ext cx="1487566" cy="1487566"/>
            <a:chOff x="0" y="0"/>
            <a:chExt cx="588434" cy="588434"/>
          </a:xfrm>
        </p:grpSpPr>
        <p:sp>
          <p:nvSpPr>
            <p:cNvPr name="Freeform 39" id="39"/>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40" id="40"/>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41" id="41"/>
          <p:cNvGrpSpPr/>
          <p:nvPr/>
        </p:nvGrpSpPr>
        <p:grpSpPr>
          <a:xfrm rot="0">
            <a:off x="1415065" y="5845351"/>
            <a:ext cx="3106972" cy="847868"/>
            <a:chOff x="0" y="0"/>
            <a:chExt cx="1229020" cy="335390"/>
          </a:xfrm>
        </p:grpSpPr>
        <p:sp>
          <p:nvSpPr>
            <p:cNvPr name="Freeform 42" id="42"/>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43" id="43"/>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TextBox 44" id="44"/>
          <p:cNvSpPr txBox="true"/>
          <p:nvPr/>
        </p:nvSpPr>
        <p:spPr>
          <a:xfrm rot="0">
            <a:off x="1795990" y="6097105"/>
            <a:ext cx="2345122" cy="325311"/>
          </a:xfrm>
          <a:prstGeom prst="rect">
            <a:avLst/>
          </a:prstGeom>
        </p:spPr>
        <p:txBody>
          <a:bodyPr anchor="t" rtlCol="false" tIns="0" lIns="0" bIns="0" rIns="0">
            <a:spAutoFit/>
          </a:bodyPr>
          <a:lstStyle/>
          <a:p>
            <a:pPr algn="ctr">
              <a:lnSpc>
                <a:spcPts val="2436"/>
              </a:lnSpc>
              <a:spcBef>
                <a:spcPct val="0"/>
              </a:spcBef>
            </a:pPr>
            <a:r>
              <a:rPr lang="en-US" b="true" sz="2030">
                <a:solidFill>
                  <a:srgbClr val="000000"/>
                </a:solidFill>
                <a:latin typeface="Poppins Bold"/>
                <a:ea typeface="Poppins Bold"/>
                <a:cs typeface="Poppins Bold"/>
                <a:sym typeface="Poppins Bold"/>
              </a:rPr>
              <a:t>Wasted Ad Spend</a:t>
            </a:r>
          </a:p>
        </p:txBody>
      </p:sp>
      <p:sp>
        <p:nvSpPr>
          <p:cNvPr name="Freeform 45" id="45"/>
          <p:cNvSpPr/>
          <p:nvPr/>
        </p:nvSpPr>
        <p:spPr>
          <a:xfrm flipH="false" flipV="false" rot="0">
            <a:off x="2475292" y="4948250"/>
            <a:ext cx="986518" cy="709060"/>
          </a:xfrm>
          <a:custGeom>
            <a:avLst/>
            <a:gdLst/>
            <a:ahLst/>
            <a:cxnLst/>
            <a:rect r="r" b="b" t="t" l="l"/>
            <a:pathLst>
              <a:path h="709060" w="986518">
                <a:moveTo>
                  <a:pt x="0" y="0"/>
                </a:moveTo>
                <a:lnTo>
                  <a:pt x="986518" y="0"/>
                </a:lnTo>
                <a:lnTo>
                  <a:pt x="986518" y="709060"/>
                </a:lnTo>
                <a:lnTo>
                  <a:pt x="0" y="70906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46" id="46"/>
          <p:cNvSpPr/>
          <p:nvPr/>
        </p:nvSpPr>
        <p:spPr>
          <a:xfrm flipH="true" flipV="true" rot="0">
            <a:off x="14487048" y="4364056"/>
            <a:ext cx="1664801" cy="584194"/>
          </a:xfrm>
          <a:custGeom>
            <a:avLst/>
            <a:gdLst/>
            <a:ahLst/>
            <a:cxnLst/>
            <a:rect r="r" b="b" t="t" l="l"/>
            <a:pathLst>
              <a:path h="584194" w="1664801">
                <a:moveTo>
                  <a:pt x="1664802" y="584194"/>
                </a:moveTo>
                <a:lnTo>
                  <a:pt x="0" y="584194"/>
                </a:lnTo>
                <a:lnTo>
                  <a:pt x="0" y="0"/>
                </a:lnTo>
                <a:lnTo>
                  <a:pt x="1664802" y="0"/>
                </a:lnTo>
                <a:lnTo>
                  <a:pt x="1664802" y="584194"/>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7" id="47"/>
          <p:cNvSpPr/>
          <p:nvPr/>
        </p:nvSpPr>
        <p:spPr>
          <a:xfrm flipH="true" flipV="true" rot="0">
            <a:off x="5296460" y="5571822"/>
            <a:ext cx="1664801" cy="584194"/>
          </a:xfrm>
          <a:custGeom>
            <a:avLst/>
            <a:gdLst/>
            <a:ahLst/>
            <a:cxnLst/>
            <a:rect r="r" b="b" t="t" l="l"/>
            <a:pathLst>
              <a:path h="584194" w="1664801">
                <a:moveTo>
                  <a:pt x="1664801" y="584194"/>
                </a:moveTo>
                <a:lnTo>
                  <a:pt x="0" y="584194"/>
                </a:lnTo>
                <a:lnTo>
                  <a:pt x="0" y="0"/>
                </a:lnTo>
                <a:lnTo>
                  <a:pt x="1664801" y="0"/>
                </a:lnTo>
                <a:lnTo>
                  <a:pt x="1664801" y="584194"/>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1868076" y="2383791"/>
            <a:ext cx="8521570" cy="1172844"/>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BUSINESSES </a:t>
            </a:r>
            <a:r>
              <a:rPr lang="en-US" b="true" sz="2200" i="true" spc="528">
                <a:solidFill>
                  <a:srgbClr val="A0EEEB"/>
                </a:solidFill>
                <a:latin typeface="Poppins Heavy Italics"/>
                <a:ea typeface="Poppins Heavy Italics"/>
                <a:cs typeface="Poppins Heavy Italics"/>
                <a:sym typeface="Poppins Heavy Italics"/>
              </a:rPr>
              <a:t>WASTE MONEY</a:t>
            </a:r>
            <a:r>
              <a:rPr lang="en-US" sz="2200" i="true" spc="528">
                <a:solidFill>
                  <a:srgbClr val="F6F6F6"/>
                </a:solidFill>
                <a:latin typeface="Poppins Italics"/>
                <a:ea typeface="Poppins Italics"/>
                <a:cs typeface="Poppins Italics"/>
                <a:sym typeface="Poppins Italics"/>
              </a:rPr>
              <a:t> ON OUTDATED MARKETING — LOSING TRAFFIC, TARGETING, AND GROWTH OPPORTUNITIES.</a:t>
            </a:r>
          </a:p>
        </p:txBody>
      </p:sp>
      <p:sp>
        <p:nvSpPr>
          <p:cNvPr name="TextBox 49" id="49"/>
          <p:cNvSpPr txBox="true"/>
          <p:nvPr/>
        </p:nvSpPr>
        <p:spPr>
          <a:xfrm rot="0">
            <a:off x="1868076" y="1343025"/>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The Co</a:t>
            </a:r>
            <a:r>
              <a:rPr lang="en-US" b="true" sz="5253">
                <a:solidFill>
                  <a:srgbClr val="F6F6F6"/>
                </a:solidFill>
                <a:latin typeface="Poppins Semi-Bold"/>
                <a:ea typeface="Poppins Semi-Bold"/>
                <a:cs typeface="Poppins Semi-Bold"/>
                <a:sym typeface="Poppins Semi-Bold"/>
              </a:rPr>
              <a:t>st of Inefficiency</a:t>
            </a:r>
          </a:p>
        </p:txBody>
      </p:sp>
      <p:sp>
        <p:nvSpPr>
          <p:cNvPr name="TextBox 50" id="50"/>
          <p:cNvSpPr txBox="true"/>
          <p:nvPr/>
        </p:nvSpPr>
        <p:spPr>
          <a:xfrm rot="0">
            <a:off x="1415065" y="6941598"/>
            <a:ext cx="3106972" cy="781050"/>
          </a:xfrm>
          <a:prstGeom prst="rect">
            <a:avLst/>
          </a:prstGeom>
        </p:spPr>
        <p:txBody>
          <a:bodyPr anchor="t" rtlCol="false" tIns="0" lIns="0" bIns="0" rIns="0">
            <a:spAutoFit/>
          </a:bodyPr>
          <a:lstStyle/>
          <a:p>
            <a:pPr algn="ctr">
              <a:lnSpc>
                <a:spcPts val="2076"/>
              </a:lnSpc>
              <a:spcBef>
                <a:spcPct val="0"/>
              </a:spcBef>
            </a:pPr>
            <a:r>
              <a:rPr lang="en-US" b="true" sz="1730">
                <a:solidFill>
                  <a:srgbClr val="FFFFFF"/>
                </a:solidFill>
                <a:latin typeface="Poppins Medium"/>
                <a:ea typeface="Poppins Medium"/>
                <a:cs typeface="Poppins Medium"/>
                <a:sym typeface="Poppins Medium"/>
              </a:rPr>
              <a:t>Ad</a:t>
            </a:r>
            <a:r>
              <a:rPr lang="en-US" b="true" sz="1730">
                <a:solidFill>
                  <a:srgbClr val="FFFFFF"/>
                </a:solidFill>
                <a:latin typeface="Poppins Medium"/>
                <a:ea typeface="Poppins Medium"/>
                <a:cs typeface="Poppins Medium"/>
                <a:sym typeface="Poppins Medium"/>
              </a:rPr>
              <a:t>s waste money when targeting the wrong audience.</a:t>
            </a:r>
          </a:p>
        </p:txBody>
      </p:sp>
      <p:sp>
        <p:nvSpPr>
          <p:cNvPr name="TextBox 51" id="51"/>
          <p:cNvSpPr txBox="true"/>
          <p:nvPr/>
        </p:nvSpPr>
        <p:spPr>
          <a:xfrm rot="0">
            <a:off x="5554104" y="6955592"/>
            <a:ext cx="3106972" cy="781050"/>
          </a:xfrm>
          <a:prstGeom prst="rect">
            <a:avLst/>
          </a:prstGeom>
        </p:spPr>
        <p:txBody>
          <a:bodyPr anchor="t" rtlCol="false" tIns="0" lIns="0" bIns="0" rIns="0">
            <a:spAutoFit/>
          </a:bodyPr>
          <a:lstStyle/>
          <a:p>
            <a:pPr algn="ctr">
              <a:lnSpc>
                <a:spcPts val="2076"/>
              </a:lnSpc>
              <a:spcBef>
                <a:spcPct val="0"/>
              </a:spcBef>
            </a:pPr>
            <a:r>
              <a:rPr lang="en-US" b="true" sz="1730">
                <a:solidFill>
                  <a:srgbClr val="FFFFFF"/>
                </a:solidFill>
                <a:latin typeface="Poppins Medium"/>
                <a:ea typeface="Poppins Medium"/>
                <a:cs typeface="Poppins Medium"/>
                <a:sym typeface="Poppins Medium"/>
              </a:rPr>
              <a:t>Door-knock</a:t>
            </a:r>
            <a:r>
              <a:rPr lang="en-US" b="true" sz="1730">
                <a:solidFill>
                  <a:srgbClr val="FFFFFF"/>
                </a:solidFill>
                <a:latin typeface="Poppins Medium"/>
                <a:ea typeface="Poppins Medium"/>
                <a:cs typeface="Poppins Medium"/>
                <a:sym typeface="Poppins Medium"/>
              </a:rPr>
              <a:t>ing &amp; mailer companies need accurate, hyper-local targeting.</a:t>
            </a:r>
          </a:p>
        </p:txBody>
      </p:sp>
      <p:sp>
        <p:nvSpPr>
          <p:cNvPr name="TextBox 52" id="52"/>
          <p:cNvSpPr txBox="true"/>
          <p:nvPr/>
        </p:nvSpPr>
        <p:spPr>
          <a:xfrm rot="0">
            <a:off x="10374925" y="5957969"/>
            <a:ext cx="1679522" cy="631571"/>
          </a:xfrm>
          <a:prstGeom prst="rect">
            <a:avLst/>
          </a:prstGeom>
        </p:spPr>
        <p:txBody>
          <a:bodyPr anchor="t" rtlCol="false" tIns="0" lIns="0" bIns="0" rIns="0">
            <a:spAutoFit/>
          </a:bodyPr>
          <a:lstStyle/>
          <a:p>
            <a:pPr algn="ctr">
              <a:lnSpc>
                <a:spcPts val="2436"/>
              </a:lnSpc>
            </a:pPr>
            <a:r>
              <a:rPr lang="en-US" sz="2030" b="true">
                <a:solidFill>
                  <a:srgbClr val="000000"/>
                </a:solidFill>
                <a:latin typeface="Poppins Bold"/>
                <a:ea typeface="Poppins Bold"/>
                <a:cs typeface="Poppins Bold"/>
                <a:sym typeface="Poppins Bold"/>
              </a:rPr>
              <a:t>Lost Website</a:t>
            </a:r>
          </a:p>
          <a:p>
            <a:pPr algn="ctr">
              <a:lnSpc>
                <a:spcPts val="2436"/>
              </a:lnSpc>
              <a:spcBef>
                <a:spcPct val="0"/>
              </a:spcBef>
            </a:pPr>
            <a:r>
              <a:rPr lang="en-US" b="true" sz="2030">
                <a:solidFill>
                  <a:srgbClr val="000000"/>
                </a:solidFill>
                <a:latin typeface="Poppins Bold"/>
                <a:ea typeface="Poppins Bold"/>
                <a:cs typeface="Poppins Bold"/>
                <a:sym typeface="Poppins Bold"/>
              </a:rPr>
              <a:t>Traffic</a:t>
            </a:r>
          </a:p>
        </p:txBody>
      </p:sp>
      <p:sp>
        <p:nvSpPr>
          <p:cNvPr name="TextBox 53" id="53"/>
          <p:cNvSpPr txBox="true"/>
          <p:nvPr/>
        </p:nvSpPr>
        <p:spPr>
          <a:xfrm rot="0">
            <a:off x="9661200" y="6941598"/>
            <a:ext cx="3106972" cy="523875"/>
          </a:xfrm>
          <a:prstGeom prst="rect">
            <a:avLst/>
          </a:prstGeom>
        </p:spPr>
        <p:txBody>
          <a:bodyPr anchor="t" rtlCol="false" tIns="0" lIns="0" bIns="0" rIns="0">
            <a:spAutoFit/>
          </a:bodyPr>
          <a:lstStyle/>
          <a:p>
            <a:pPr algn="ctr">
              <a:lnSpc>
                <a:spcPts val="2076"/>
              </a:lnSpc>
              <a:spcBef>
                <a:spcPct val="0"/>
              </a:spcBef>
            </a:pPr>
            <a:r>
              <a:rPr lang="en-US" b="true" sz="1730">
                <a:solidFill>
                  <a:srgbClr val="FFFFFF"/>
                </a:solidFill>
                <a:latin typeface="Poppins Medium"/>
                <a:ea typeface="Poppins Medium"/>
                <a:cs typeface="Poppins Medium"/>
                <a:sym typeface="Poppins Medium"/>
              </a:rPr>
              <a:t>70%+ of website traffic is lost without follow-up.</a:t>
            </a:r>
          </a:p>
        </p:txBody>
      </p:sp>
      <p:sp>
        <p:nvSpPr>
          <p:cNvPr name="TextBox 54" id="54"/>
          <p:cNvSpPr txBox="true"/>
          <p:nvPr/>
        </p:nvSpPr>
        <p:spPr>
          <a:xfrm rot="0">
            <a:off x="14283553" y="5943975"/>
            <a:ext cx="2071792" cy="631571"/>
          </a:xfrm>
          <a:prstGeom prst="rect">
            <a:avLst/>
          </a:prstGeom>
        </p:spPr>
        <p:txBody>
          <a:bodyPr anchor="t" rtlCol="false" tIns="0" lIns="0" bIns="0" rIns="0">
            <a:spAutoFit/>
          </a:bodyPr>
          <a:lstStyle/>
          <a:p>
            <a:pPr algn="ctr">
              <a:lnSpc>
                <a:spcPts val="2436"/>
              </a:lnSpc>
              <a:spcBef>
                <a:spcPct val="0"/>
              </a:spcBef>
            </a:pPr>
            <a:r>
              <a:rPr lang="en-US" b="true" sz="2030">
                <a:solidFill>
                  <a:srgbClr val="000000"/>
                </a:solidFill>
                <a:latin typeface="Poppins Bold"/>
                <a:ea typeface="Poppins Bold"/>
                <a:cs typeface="Poppins Bold"/>
                <a:sym typeface="Poppins Bold"/>
              </a:rPr>
              <a:t>Strategic</a:t>
            </a:r>
          </a:p>
          <a:p>
            <a:pPr algn="ctr">
              <a:lnSpc>
                <a:spcPts val="2436"/>
              </a:lnSpc>
              <a:spcBef>
                <a:spcPct val="0"/>
              </a:spcBef>
            </a:pPr>
            <a:r>
              <a:rPr lang="en-US" b="true" sz="2030">
                <a:solidFill>
                  <a:srgbClr val="000000"/>
                </a:solidFill>
                <a:latin typeface="Poppins Bold"/>
                <a:ea typeface="Poppins Bold"/>
                <a:cs typeface="Poppins Bold"/>
                <a:sym typeface="Poppins Bold"/>
              </a:rPr>
              <a:t>Leadership Gap</a:t>
            </a:r>
          </a:p>
        </p:txBody>
      </p:sp>
      <p:sp>
        <p:nvSpPr>
          <p:cNvPr name="TextBox 55" id="55"/>
          <p:cNvSpPr txBox="true"/>
          <p:nvPr/>
        </p:nvSpPr>
        <p:spPr>
          <a:xfrm rot="0">
            <a:off x="13765963" y="6941598"/>
            <a:ext cx="3106972" cy="781050"/>
          </a:xfrm>
          <a:prstGeom prst="rect">
            <a:avLst/>
          </a:prstGeom>
        </p:spPr>
        <p:txBody>
          <a:bodyPr anchor="t" rtlCol="false" tIns="0" lIns="0" bIns="0" rIns="0">
            <a:spAutoFit/>
          </a:bodyPr>
          <a:lstStyle/>
          <a:p>
            <a:pPr algn="ctr">
              <a:lnSpc>
                <a:spcPts val="2076"/>
              </a:lnSpc>
              <a:spcBef>
                <a:spcPct val="0"/>
              </a:spcBef>
            </a:pPr>
            <a:r>
              <a:rPr lang="en-US" b="true" sz="1730">
                <a:solidFill>
                  <a:srgbClr val="FFFFFF"/>
                </a:solidFill>
                <a:latin typeface="Poppins Medium"/>
                <a:ea typeface="Poppins Medium"/>
                <a:cs typeface="Poppins Medium"/>
                <a:sym typeface="Poppins Medium"/>
              </a:rPr>
              <a:t>Scal</a:t>
            </a:r>
            <a:r>
              <a:rPr lang="en-US" b="true" sz="1730">
                <a:solidFill>
                  <a:srgbClr val="FFFFFF"/>
                </a:solidFill>
                <a:latin typeface="Poppins Medium"/>
                <a:ea typeface="Poppins Medium"/>
                <a:cs typeface="Poppins Medium"/>
                <a:sym typeface="Poppins Medium"/>
              </a:rPr>
              <a:t>ing requires a CMO's strategy, but most can't afford one.</a:t>
            </a:r>
          </a:p>
        </p:txBody>
      </p:sp>
      <p:sp>
        <p:nvSpPr>
          <p:cNvPr name="TextBox 56" id="56"/>
          <p:cNvSpPr txBox="true"/>
          <p:nvPr/>
        </p:nvSpPr>
        <p:spPr>
          <a:xfrm rot="0">
            <a:off x="5522162" y="5957969"/>
            <a:ext cx="3138913" cy="631571"/>
          </a:xfrm>
          <a:prstGeom prst="rect">
            <a:avLst/>
          </a:prstGeom>
        </p:spPr>
        <p:txBody>
          <a:bodyPr anchor="t" rtlCol="false" tIns="0" lIns="0" bIns="0" rIns="0">
            <a:spAutoFit/>
          </a:bodyPr>
          <a:lstStyle/>
          <a:p>
            <a:pPr algn="ctr">
              <a:lnSpc>
                <a:spcPts val="2436"/>
              </a:lnSpc>
              <a:spcBef>
                <a:spcPct val="0"/>
              </a:spcBef>
            </a:pPr>
            <a:r>
              <a:rPr lang="en-US" b="true" sz="2030">
                <a:solidFill>
                  <a:srgbClr val="000000"/>
                </a:solidFill>
                <a:latin typeface="Poppins Bold"/>
                <a:ea typeface="Poppins Bold"/>
                <a:cs typeface="Poppins Bold"/>
                <a:sym typeface="Poppins Bold"/>
              </a:rPr>
              <a:t>Inaccurate Local Targeting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28575"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2219071">
            <a:off x="10039368" y="-1758665"/>
            <a:ext cx="14348822" cy="1434882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gradFill>
                <a:gsLst>
                  <a:gs pos="0">
                    <a:srgbClr val="134D56">
                      <a:alpha val="100000"/>
                    </a:srgbClr>
                  </a:gs>
                  <a:gs pos="50000">
                    <a:srgbClr val="134D56">
                      <a:alpha val="57500"/>
                    </a:srgbClr>
                  </a:gs>
                  <a:gs pos="100000">
                    <a:srgbClr val="134D56">
                      <a:alpha val="32000"/>
                    </a:srgbClr>
                  </a:gs>
                </a:gsLst>
                <a:lin ang="0"/>
              </a:gradFill>
              <a:prstDash val="solid"/>
              <a:miter/>
            </a:ln>
          </p:spPr>
        </p:sp>
        <p:sp>
          <p:nvSpPr>
            <p:cNvPr name="TextBox 5" id="5"/>
            <p:cNvSpPr txBox="true"/>
            <p:nvPr/>
          </p:nvSpPr>
          <p:spPr>
            <a:xfrm>
              <a:off x="76200" y="57150"/>
              <a:ext cx="660400" cy="679450"/>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5131714" y="6622241"/>
            <a:ext cx="2701727" cy="2701727"/>
          </a:xfrm>
          <a:custGeom>
            <a:avLst/>
            <a:gdLst/>
            <a:ahLst/>
            <a:cxnLst/>
            <a:rect r="r" b="b" t="t" l="l"/>
            <a:pathLst>
              <a:path h="2701727" w="2701727">
                <a:moveTo>
                  <a:pt x="0" y="0"/>
                </a:moveTo>
                <a:lnTo>
                  <a:pt x="2701727" y="0"/>
                </a:lnTo>
                <a:lnTo>
                  <a:pt x="2701727" y="2701727"/>
                </a:lnTo>
                <a:lnTo>
                  <a:pt x="0" y="2701727"/>
                </a:lnTo>
                <a:lnTo>
                  <a:pt x="0" y="0"/>
                </a:lnTo>
                <a:close/>
              </a:path>
            </a:pathLst>
          </a:custGeom>
          <a:blipFill>
            <a:blip r:embed="rId3">
              <a:alphaModFix amt="21999"/>
            </a:blip>
            <a:stretch>
              <a:fillRect l="0" t="0" r="0" b="0"/>
            </a:stretch>
          </a:blipFill>
        </p:spPr>
      </p:sp>
      <p:sp>
        <p:nvSpPr>
          <p:cNvPr name="TextBox 7" id="7"/>
          <p:cNvSpPr txBox="true"/>
          <p:nvPr/>
        </p:nvSpPr>
        <p:spPr>
          <a:xfrm rot="0">
            <a:off x="1678016" y="3993832"/>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Ba</a:t>
            </a:r>
            <a:r>
              <a:rPr lang="en-US" b="true" sz="5253">
                <a:solidFill>
                  <a:srgbClr val="F6F6F6"/>
                </a:solidFill>
                <a:latin typeface="Poppins Semi-Bold"/>
                <a:ea typeface="Poppins Semi-Bold"/>
                <a:cs typeface="Poppins Semi-Bold"/>
                <a:sym typeface="Poppins Semi-Bold"/>
              </a:rPr>
              <a:t>sic Premise</a:t>
            </a:r>
          </a:p>
        </p:txBody>
      </p:sp>
      <p:sp>
        <p:nvSpPr>
          <p:cNvPr name="Freeform 8" id="8"/>
          <p:cNvSpPr/>
          <p:nvPr/>
        </p:nvSpPr>
        <p:spPr>
          <a:xfrm flipH="false" flipV="false" rot="0">
            <a:off x="10132492" y="366198"/>
            <a:ext cx="7824774" cy="3687425"/>
          </a:xfrm>
          <a:custGeom>
            <a:avLst/>
            <a:gdLst/>
            <a:ahLst/>
            <a:cxnLst/>
            <a:rect r="r" b="b" t="t" l="l"/>
            <a:pathLst>
              <a:path h="3687425" w="7824774">
                <a:moveTo>
                  <a:pt x="0" y="0"/>
                </a:moveTo>
                <a:lnTo>
                  <a:pt x="7824774" y="0"/>
                </a:lnTo>
                <a:lnTo>
                  <a:pt x="7824774" y="3687425"/>
                </a:lnTo>
                <a:lnTo>
                  <a:pt x="0" y="3687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0980841" y="1264900"/>
            <a:ext cx="6128075" cy="945010"/>
            <a:chOff x="0" y="0"/>
            <a:chExt cx="2174890" cy="335390"/>
          </a:xfrm>
        </p:grpSpPr>
        <p:sp>
          <p:nvSpPr>
            <p:cNvPr name="Freeform 10" id="10"/>
            <p:cNvSpPr/>
            <p:nvPr/>
          </p:nvSpPr>
          <p:spPr>
            <a:xfrm flipH="false" flipV="false" rot="0">
              <a:off x="0" y="0"/>
              <a:ext cx="2174890" cy="335390"/>
            </a:xfrm>
            <a:custGeom>
              <a:avLst/>
              <a:gdLst/>
              <a:ahLst/>
              <a:cxnLst/>
              <a:rect r="r" b="b" t="t" l="l"/>
              <a:pathLst>
                <a:path h="335390" w="2174890">
                  <a:moveTo>
                    <a:pt x="126335" y="0"/>
                  </a:moveTo>
                  <a:lnTo>
                    <a:pt x="2048555" y="0"/>
                  </a:lnTo>
                  <a:cubicBezTo>
                    <a:pt x="2082061" y="0"/>
                    <a:pt x="2114195" y="13310"/>
                    <a:pt x="2137887" y="37003"/>
                  </a:cubicBezTo>
                  <a:cubicBezTo>
                    <a:pt x="2161580" y="60695"/>
                    <a:pt x="2174890" y="92829"/>
                    <a:pt x="2174890" y="126335"/>
                  </a:cubicBezTo>
                  <a:lnTo>
                    <a:pt x="2174890" y="209054"/>
                  </a:lnTo>
                  <a:cubicBezTo>
                    <a:pt x="2174890" y="242561"/>
                    <a:pt x="2161580" y="274695"/>
                    <a:pt x="2137887" y="298387"/>
                  </a:cubicBezTo>
                  <a:cubicBezTo>
                    <a:pt x="2114195" y="322079"/>
                    <a:pt x="2082061" y="335390"/>
                    <a:pt x="2048555" y="335390"/>
                  </a:cubicBezTo>
                  <a:lnTo>
                    <a:pt x="126335" y="335390"/>
                  </a:lnTo>
                  <a:cubicBezTo>
                    <a:pt x="92829" y="335390"/>
                    <a:pt x="60695" y="322079"/>
                    <a:pt x="37003" y="298387"/>
                  </a:cubicBezTo>
                  <a:cubicBezTo>
                    <a:pt x="13310" y="274695"/>
                    <a:pt x="0" y="242561"/>
                    <a:pt x="0" y="209054"/>
                  </a:cubicBezTo>
                  <a:lnTo>
                    <a:pt x="0" y="126335"/>
                  </a:lnTo>
                  <a:cubicBezTo>
                    <a:pt x="0" y="92829"/>
                    <a:pt x="13310" y="60695"/>
                    <a:pt x="37003" y="37003"/>
                  </a:cubicBezTo>
                  <a:cubicBezTo>
                    <a:pt x="60695" y="13310"/>
                    <a:pt x="92829" y="0"/>
                    <a:pt x="126335" y="0"/>
                  </a:cubicBezTo>
                  <a:close/>
                </a:path>
              </a:pathLst>
            </a:custGeom>
            <a:solidFill>
              <a:srgbClr val="A0EEEB"/>
            </a:solidFill>
          </p:spPr>
        </p:sp>
        <p:sp>
          <p:nvSpPr>
            <p:cNvPr name="TextBox 11" id="11"/>
            <p:cNvSpPr txBox="true"/>
            <p:nvPr/>
          </p:nvSpPr>
          <p:spPr>
            <a:xfrm>
              <a:off x="0" y="-19050"/>
              <a:ext cx="2174890" cy="354440"/>
            </a:xfrm>
            <a:prstGeom prst="rect">
              <a:avLst/>
            </a:prstGeom>
          </p:spPr>
          <p:txBody>
            <a:bodyPr anchor="ctr" rtlCol="false" tIns="50800" lIns="50800" bIns="50800" rIns="50800"/>
            <a:lstStyle/>
            <a:p>
              <a:pPr algn="ctr">
                <a:lnSpc>
                  <a:spcPts val="2640"/>
                </a:lnSpc>
              </a:pPr>
            </a:p>
          </p:txBody>
        </p:sp>
      </p:grpSp>
      <p:sp>
        <p:nvSpPr>
          <p:cNvPr name="TextBox 12" id="12"/>
          <p:cNvSpPr txBox="true"/>
          <p:nvPr/>
        </p:nvSpPr>
        <p:spPr>
          <a:xfrm rot="0">
            <a:off x="10980841" y="1538605"/>
            <a:ext cx="6128075" cy="369025"/>
          </a:xfrm>
          <a:prstGeom prst="rect">
            <a:avLst/>
          </a:prstGeom>
        </p:spPr>
        <p:txBody>
          <a:bodyPr anchor="t" rtlCol="false" tIns="0" lIns="0" bIns="0" rIns="0">
            <a:spAutoFit/>
          </a:bodyPr>
          <a:lstStyle/>
          <a:p>
            <a:pPr algn="ctr">
              <a:lnSpc>
                <a:spcPts val="2716"/>
              </a:lnSpc>
              <a:spcBef>
                <a:spcPct val="0"/>
              </a:spcBef>
            </a:pPr>
            <a:r>
              <a:rPr lang="en-US" b="true" sz="2263">
                <a:solidFill>
                  <a:srgbClr val="000000"/>
                </a:solidFill>
                <a:latin typeface="Poppins Bold"/>
                <a:ea typeface="Poppins Bold"/>
                <a:cs typeface="Poppins Bold"/>
                <a:sym typeface="Poppins Bold"/>
              </a:rPr>
              <a:t>Freezing Leads</a:t>
            </a:r>
          </a:p>
        </p:txBody>
      </p:sp>
      <p:grpSp>
        <p:nvGrpSpPr>
          <p:cNvPr name="Group 13" id="13"/>
          <p:cNvGrpSpPr/>
          <p:nvPr/>
        </p:nvGrpSpPr>
        <p:grpSpPr>
          <a:xfrm rot="0">
            <a:off x="10980841" y="1264900"/>
            <a:ext cx="945010" cy="945010"/>
            <a:chOff x="0" y="0"/>
            <a:chExt cx="588434" cy="588434"/>
          </a:xfrm>
        </p:grpSpPr>
        <p:sp>
          <p:nvSpPr>
            <p:cNvPr name="Freeform 14" id="14"/>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5" id="15"/>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16" id="16"/>
          <p:cNvSpPr/>
          <p:nvPr/>
        </p:nvSpPr>
        <p:spPr>
          <a:xfrm flipH="false" flipV="false" rot="0">
            <a:off x="11207193" y="1491252"/>
            <a:ext cx="492307" cy="492307"/>
          </a:xfrm>
          <a:custGeom>
            <a:avLst/>
            <a:gdLst/>
            <a:ahLst/>
            <a:cxnLst/>
            <a:rect r="r" b="b" t="t" l="l"/>
            <a:pathLst>
              <a:path h="492307" w="492307">
                <a:moveTo>
                  <a:pt x="0" y="0"/>
                </a:moveTo>
                <a:lnTo>
                  <a:pt x="492307" y="0"/>
                </a:lnTo>
                <a:lnTo>
                  <a:pt x="492307" y="492307"/>
                </a:lnTo>
                <a:lnTo>
                  <a:pt x="0" y="4923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true" flipV="true" rot="0">
            <a:off x="15253374" y="881718"/>
            <a:ext cx="1855543" cy="651127"/>
          </a:xfrm>
          <a:custGeom>
            <a:avLst/>
            <a:gdLst/>
            <a:ahLst/>
            <a:cxnLst/>
            <a:rect r="r" b="b" t="t" l="l"/>
            <a:pathLst>
              <a:path h="651127" w="1855543">
                <a:moveTo>
                  <a:pt x="1855543" y="651126"/>
                </a:moveTo>
                <a:lnTo>
                  <a:pt x="0" y="651126"/>
                </a:lnTo>
                <a:lnTo>
                  <a:pt x="0" y="0"/>
                </a:lnTo>
                <a:lnTo>
                  <a:pt x="1855543" y="0"/>
                </a:lnTo>
                <a:lnTo>
                  <a:pt x="1855543" y="651126"/>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10980841" y="2448190"/>
            <a:ext cx="6128075" cy="879135"/>
          </a:xfrm>
          <a:prstGeom prst="rect">
            <a:avLst/>
          </a:prstGeom>
        </p:spPr>
        <p:txBody>
          <a:bodyPr anchor="t" rtlCol="false" tIns="0" lIns="0" bIns="0" rIns="0">
            <a:spAutoFit/>
          </a:bodyPr>
          <a:lstStyle/>
          <a:p>
            <a:pPr algn="ctr">
              <a:lnSpc>
                <a:spcPts val="2314"/>
              </a:lnSpc>
              <a:spcBef>
                <a:spcPct val="0"/>
              </a:spcBef>
            </a:pPr>
            <a:r>
              <a:rPr lang="en-US" b="true" sz="1929">
                <a:solidFill>
                  <a:srgbClr val="FFFFFF"/>
                </a:solidFill>
                <a:latin typeface="Poppins Medium"/>
                <a:ea typeface="Poppins Medium"/>
                <a:cs typeface="Poppins Medium"/>
                <a:sym typeface="Poppins Medium"/>
              </a:rPr>
              <a:t>Customers not </a:t>
            </a:r>
            <a:r>
              <a:rPr lang="en-US" b="true" sz="1929">
                <a:solidFill>
                  <a:srgbClr val="FFFFFF"/>
                </a:solidFill>
                <a:latin typeface="Poppins Medium"/>
                <a:ea typeface="Poppins Medium"/>
                <a:cs typeface="Poppins Medium"/>
                <a:sym typeface="Poppins Medium"/>
              </a:rPr>
              <a:t>in market, picked based on demographics, and without awareness of your company</a:t>
            </a:r>
          </a:p>
        </p:txBody>
      </p:sp>
      <p:sp>
        <p:nvSpPr>
          <p:cNvPr name="Freeform 19" id="19"/>
          <p:cNvSpPr/>
          <p:nvPr/>
        </p:nvSpPr>
        <p:spPr>
          <a:xfrm flipH="false" flipV="false" rot="0">
            <a:off x="8957544" y="3286549"/>
            <a:ext cx="7824774" cy="3687425"/>
          </a:xfrm>
          <a:custGeom>
            <a:avLst/>
            <a:gdLst/>
            <a:ahLst/>
            <a:cxnLst/>
            <a:rect r="r" b="b" t="t" l="l"/>
            <a:pathLst>
              <a:path h="3687425" w="7824774">
                <a:moveTo>
                  <a:pt x="0" y="0"/>
                </a:moveTo>
                <a:lnTo>
                  <a:pt x="7824774" y="0"/>
                </a:lnTo>
                <a:lnTo>
                  <a:pt x="7824774" y="3687425"/>
                </a:lnTo>
                <a:lnTo>
                  <a:pt x="0" y="3687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9995209" y="4185251"/>
            <a:ext cx="6128075" cy="945010"/>
            <a:chOff x="0" y="0"/>
            <a:chExt cx="2174890" cy="335390"/>
          </a:xfrm>
        </p:grpSpPr>
        <p:sp>
          <p:nvSpPr>
            <p:cNvPr name="Freeform 21" id="21"/>
            <p:cNvSpPr/>
            <p:nvPr/>
          </p:nvSpPr>
          <p:spPr>
            <a:xfrm flipH="false" flipV="false" rot="0">
              <a:off x="0" y="0"/>
              <a:ext cx="2174890" cy="335390"/>
            </a:xfrm>
            <a:custGeom>
              <a:avLst/>
              <a:gdLst/>
              <a:ahLst/>
              <a:cxnLst/>
              <a:rect r="r" b="b" t="t" l="l"/>
              <a:pathLst>
                <a:path h="335390" w="2174890">
                  <a:moveTo>
                    <a:pt x="126335" y="0"/>
                  </a:moveTo>
                  <a:lnTo>
                    <a:pt x="2048555" y="0"/>
                  </a:lnTo>
                  <a:cubicBezTo>
                    <a:pt x="2082061" y="0"/>
                    <a:pt x="2114195" y="13310"/>
                    <a:pt x="2137887" y="37003"/>
                  </a:cubicBezTo>
                  <a:cubicBezTo>
                    <a:pt x="2161580" y="60695"/>
                    <a:pt x="2174890" y="92829"/>
                    <a:pt x="2174890" y="126335"/>
                  </a:cubicBezTo>
                  <a:lnTo>
                    <a:pt x="2174890" y="209054"/>
                  </a:lnTo>
                  <a:cubicBezTo>
                    <a:pt x="2174890" y="242561"/>
                    <a:pt x="2161580" y="274695"/>
                    <a:pt x="2137887" y="298387"/>
                  </a:cubicBezTo>
                  <a:cubicBezTo>
                    <a:pt x="2114195" y="322079"/>
                    <a:pt x="2082061" y="335390"/>
                    <a:pt x="2048555" y="335390"/>
                  </a:cubicBezTo>
                  <a:lnTo>
                    <a:pt x="126335" y="335390"/>
                  </a:lnTo>
                  <a:cubicBezTo>
                    <a:pt x="92829" y="335390"/>
                    <a:pt x="60695" y="322079"/>
                    <a:pt x="37003" y="298387"/>
                  </a:cubicBezTo>
                  <a:cubicBezTo>
                    <a:pt x="13310" y="274695"/>
                    <a:pt x="0" y="242561"/>
                    <a:pt x="0" y="209054"/>
                  </a:cubicBezTo>
                  <a:lnTo>
                    <a:pt x="0" y="126335"/>
                  </a:lnTo>
                  <a:cubicBezTo>
                    <a:pt x="0" y="92829"/>
                    <a:pt x="13310" y="60695"/>
                    <a:pt x="37003" y="37003"/>
                  </a:cubicBezTo>
                  <a:cubicBezTo>
                    <a:pt x="60695" y="13310"/>
                    <a:pt x="92829" y="0"/>
                    <a:pt x="126335" y="0"/>
                  </a:cubicBezTo>
                  <a:close/>
                </a:path>
              </a:pathLst>
            </a:custGeom>
            <a:solidFill>
              <a:srgbClr val="FFA800"/>
            </a:solidFill>
          </p:spPr>
        </p:sp>
        <p:sp>
          <p:nvSpPr>
            <p:cNvPr name="TextBox 22" id="22"/>
            <p:cNvSpPr txBox="true"/>
            <p:nvPr/>
          </p:nvSpPr>
          <p:spPr>
            <a:xfrm>
              <a:off x="0" y="-19050"/>
              <a:ext cx="2174890" cy="354440"/>
            </a:xfrm>
            <a:prstGeom prst="rect">
              <a:avLst/>
            </a:prstGeom>
          </p:spPr>
          <p:txBody>
            <a:bodyPr anchor="ctr" rtlCol="false" tIns="50800" lIns="50800" bIns="50800" rIns="50800"/>
            <a:lstStyle/>
            <a:p>
              <a:pPr algn="ctr">
                <a:lnSpc>
                  <a:spcPts val="2640"/>
                </a:lnSpc>
              </a:pPr>
            </a:p>
          </p:txBody>
        </p:sp>
      </p:grpSp>
      <p:sp>
        <p:nvSpPr>
          <p:cNvPr name="TextBox 23" id="23"/>
          <p:cNvSpPr txBox="true"/>
          <p:nvPr/>
        </p:nvSpPr>
        <p:spPr>
          <a:xfrm rot="0">
            <a:off x="9995209" y="4458956"/>
            <a:ext cx="6128075" cy="369025"/>
          </a:xfrm>
          <a:prstGeom prst="rect">
            <a:avLst/>
          </a:prstGeom>
        </p:spPr>
        <p:txBody>
          <a:bodyPr anchor="t" rtlCol="false" tIns="0" lIns="0" bIns="0" rIns="0">
            <a:spAutoFit/>
          </a:bodyPr>
          <a:lstStyle/>
          <a:p>
            <a:pPr algn="ctr">
              <a:lnSpc>
                <a:spcPts val="2716"/>
              </a:lnSpc>
              <a:spcBef>
                <a:spcPct val="0"/>
              </a:spcBef>
            </a:pPr>
            <a:r>
              <a:rPr lang="en-US" b="true" sz="2263">
                <a:solidFill>
                  <a:srgbClr val="000000"/>
                </a:solidFill>
                <a:latin typeface="Poppins Bold"/>
                <a:ea typeface="Poppins Bold"/>
                <a:cs typeface="Poppins Bold"/>
                <a:sym typeface="Poppins Bold"/>
              </a:rPr>
              <a:t>Warm Leads</a:t>
            </a:r>
          </a:p>
        </p:txBody>
      </p:sp>
      <p:grpSp>
        <p:nvGrpSpPr>
          <p:cNvPr name="Group 24" id="24"/>
          <p:cNvGrpSpPr/>
          <p:nvPr/>
        </p:nvGrpSpPr>
        <p:grpSpPr>
          <a:xfrm rot="0">
            <a:off x="9995209" y="4185251"/>
            <a:ext cx="945010" cy="945010"/>
            <a:chOff x="0" y="0"/>
            <a:chExt cx="588434" cy="588434"/>
          </a:xfrm>
        </p:grpSpPr>
        <p:sp>
          <p:nvSpPr>
            <p:cNvPr name="Freeform 25" id="25"/>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FFA800"/>
              </a:solidFill>
              <a:prstDash val="solid"/>
              <a:round/>
            </a:ln>
          </p:spPr>
        </p:sp>
        <p:sp>
          <p:nvSpPr>
            <p:cNvPr name="TextBox 26" id="26"/>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27" id="27"/>
          <p:cNvSpPr/>
          <p:nvPr/>
        </p:nvSpPr>
        <p:spPr>
          <a:xfrm flipH="true" flipV="true" rot="0">
            <a:off x="11234071" y="3811123"/>
            <a:ext cx="1855543" cy="651127"/>
          </a:xfrm>
          <a:custGeom>
            <a:avLst/>
            <a:gdLst/>
            <a:ahLst/>
            <a:cxnLst/>
            <a:rect r="r" b="b" t="t" l="l"/>
            <a:pathLst>
              <a:path h="651127" w="1855543">
                <a:moveTo>
                  <a:pt x="1855542" y="651127"/>
                </a:moveTo>
                <a:lnTo>
                  <a:pt x="0" y="651127"/>
                </a:lnTo>
                <a:lnTo>
                  <a:pt x="0" y="0"/>
                </a:lnTo>
                <a:lnTo>
                  <a:pt x="1855542" y="0"/>
                </a:lnTo>
                <a:lnTo>
                  <a:pt x="1855542" y="651127"/>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10071706" y="4261747"/>
            <a:ext cx="792018" cy="792018"/>
          </a:xfrm>
          <a:custGeom>
            <a:avLst/>
            <a:gdLst/>
            <a:ahLst/>
            <a:cxnLst/>
            <a:rect r="r" b="b" t="t" l="l"/>
            <a:pathLst>
              <a:path h="792018" w="792018">
                <a:moveTo>
                  <a:pt x="0" y="0"/>
                </a:moveTo>
                <a:lnTo>
                  <a:pt x="792017" y="0"/>
                </a:lnTo>
                <a:lnTo>
                  <a:pt x="792017" y="792018"/>
                </a:lnTo>
                <a:lnTo>
                  <a:pt x="0" y="792018"/>
                </a:lnTo>
                <a:lnTo>
                  <a:pt x="0" y="0"/>
                </a:lnTo>
                <a:close/>
              </a:path>
            </a:pathLst>
          </a:custGeom>
          <a:blipFill>
            <a:blip r:embed="rId12"/>
            <a:stretch>
              <a:fillRect l="0" t="0" r="0" b="0"/>
            </a:stretch>
          </a:blipFill>
        </p:spPr>
      </p:sp>
      <p:sp>
        <p:nvSpPr>
          <p:cNvPr name="Freeform 29" id="29"/>
          <p:cNvSpPr/>
          <p:nvPr/>
        </p:nvSpPr>
        <p:spPr>
          <a:xfrm flipH="false" flipV="false" rot="0">
            <a:off x="9472807" y="6214327"/>
            <a:ext cx="7824774" cy="3687425"/>
          </a:xfrm>
          <a:custGeom>
            <a:avLst/>
            <a:gdLst/>
            <a:ahLst/>
            <a:cxnLst/>
            <a:rect r="r" b="b" t="t" l="l"/>
            <a:pathLst>
              <a:path h="3687425" w="7824774">
                <a:moveTo>
                  <a:pt x="0" y="0"/>
                </a:moveTo>
                <a:lnTo>
                  <a:pt x="7824775" y="0"/>
                </a:lnTo>
                <a:lnTo>
                  <a:pt x="7824775" y="3687425"/>
                </a:lnTo>
                <a:lnTo>
                  <a:pt x="0" y="36874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30" id="30"/>
          <p:cNvGrpSpPr/>
          <p:nvPr/>
        </p:nvGrpSpPr>
        <p:grpSpPr>
          <a:xfrm rot="0">
            <a:off x="10321157" y="7113029"/>
            <a:ext cx="6128075" cy="945010"/>
            <a:chOff x="0" y="0"/>
            <a:chExt cx="2174890" cy="335390"/>
          </a:xfrm>
        </p:grpSpPr>
        <p:sp>
          <p:nvSpPr>
            <p:cNvPr name="Freeform 31" id="31"/>
            <p:cNvSpPr/>
            <p:nvPr/>
          </p:nvSpPr>
          <p:spPr>
            <a:xfrm flipH="false" flipV="false" rot="0">
              <a:off x="0" y="0"/>
              <a:ext cx="2174890" cy="335390"/>
            </a:xfrm>
            <a:custGeom>
              <a:avLst/>
              <a:gdLst/>
              <a:ahLst/>
              <a:cxnLst/>
              <a:rect r="r" b="b" t="t" l="l"/>
              <a:pathLst>
                <a:path h="335390" w="2174890">
                  <a:moveTo>
                    <a:pt x="126335" y="0"/>
                  </a:moveTo>
                  <a:lnTo>
                    <a:pt x="2048555" y="0"/>
                  </a:lnTo>
                  <a:cubicBezTo>
                    <a:pt x="2082061" y="0"/>
                    <a:pt x="2114195" y="13310"/>
                    <a:pt x="2137887" y="37003"/>
                  </a:cubicBezTo>
                  <a:cubicBezTo>
                    <a:pt x="2161580" y="60695"/>
                    <a:pt x="2174890" y="92829"/>
                    <a:pt x="2174890" y="126335"/>
                  </a:cubicBezTo>
                  <a:lnTo>
                    <a:pt x="2174890" y="209054"/>
                  </a:lnTo>
                  <a:cubicBezTo>
                    <a:pt x="2174890" y="242561"/>
                    <a:pt x="2161580" y="274695"/>
                    <a:pt x="2137887" y="298387"/>
                  </a:cubicBezTo>
                  <a:cubicBezTo>
                    <a:pt x="2114195" y="322079"/>
                    <a:pt x="2082061" y="335390"/>
                    <a:pt x="2048555" y="335390"/>
                  </a:cubicBezTo>
                  <a:lnTo>
                    <a:pt x="126335" y="335390"/>
                  </a:lnTo>
                  <a:cubicBezTo>
                    <a:pt x="92829" y="335390"/>
                    <a:pt x="60695" y="322079"/>
                    <a:pt x="37003" y="298387"/>
                  </a:cubicBezTo>
                  <a:cubicBezTo>
                    <a:pt x="13310" y="274695"/>
                    <a:pt x="0" y="242561"/>
                    <a:pt x="0" y="209054"/>
                  </a:cubicBezTo>
                  <a:lnTo>
                    <a:pt x="0" y="126335"/>
                  </a:lnTo>
                  <a:cubicBezTo>
                    <a:pt x="0" y="92829"/>
                    <a:pt x="13310" y="60695"/>
                    <a:pt x="37003" y="37003"/>
                  </a:cubicBezTo>
                  <a:cubicBezTo>
                    <a:pt x="60695" y="13310"/>
                    <a:pt x="92829" y="0"/>
                    <a:pt x="126335" y="0"/>
                  </a:cubicBezTo>
                  <a:close/>
                </a:path>
              </a:pathLst>
            </a:custGeom>
            <a:solidFill>
              <a:srgbClr val="F1473A"/>
            </a:solidFill>
          </p:spPr>
        </p:sp>
        <p:sp>
          <p:nvSpPr>
            <p:cNvPr name="TextBox 32" id="32"/>
            <p:cNvSpPr txBox="true"/>
            <p:nvPr/>
          </p:nvSpPr>
          <p:spPr>
            <a:xfrm>
              <a:off x="0" y="-19050"/>
              <a:ext cx="2174890" cy="354440"/>
            </a:xfrm>
            <a:prstGeom prst="rect">
              <a:avLst/>
            </a:prstGeom>
          </p:spPr>
          <p:txBody>
            <a:bodyPr anchor="ctr" rtlCol="false" tIns="50800" lIns="50800" bIns="50800" rIns="50800"/>
            <a:lstStyle/>
            <a:p>
              <a:pPr algn="ctr">
                <a:lnSpc>
                  <a:spcPts val="2640"/>
                </a:lnSpc>
              </a:pPr>
            </a:p>
          </p:txBody>
        </p:sp>
      </p:grpSp>
      <p:sp>
        <p:nvSpPr>
          <p:cNvPr name="TextBox 33" id="33"/>
          <p:cNvSpPr txBox="true"/>
          <p:nvPr/>
        </p:nvSpPr>
        <p:spPr>
          <a:xfrm rot="0">
            <a:off x="10321157" y="7386734"/>
            <a:ext cx="6128075" cy="369025"/>
          </a:xfrm>
          <a:prstGeom prst="rect">
            <a:avLst/>
          </a:prstGeom>
        </p:spPr>
        <p:txBody>
          <a:bodyPr anchor="t" rtlCol="false" tIns="0" lIns="0" bIns="0" rIns="0">
            <a:spAutoFit/>
          </a:bodyPr>
          <a:lstStyle/>
          <a:p>
            <a:pPr algn="ctr">
              <a:lnSpc>
                <a:spcPts val="2716"/>
              </a:lnSpc>
              <a:spcBef>
                <a:spcPct val="0"/>
              </a:spcBef>
            </a:pPr>
            <a:r>
              <a:rPr lang="en-US" b="true" sz="2263">
                <a:solidFill>
                  <a:srgbClr val="000000"/>
                </a:solidFill>
                <a:latin typeface="Poppins Bold"/>
                <a:ea typeface="Poppins Bold"/>
                <a:cs typeface="Poppins Bold"/>
                <a:sym typeface="Poppins Bold"/>
              </a:rPr>
              <a:t>Hot Leads</a:t>
            </a:r>
          </a:p>
        </p:txBody>
      </p:sp>
      <p:grpSp>
        <p:nvGrpSpPr>
          <p:cNvPr name="Group 34" id="34"/>
          <p:cNvGrpSpPr/>
          <p:nvPr/>
        </p:nvGrpSpPr>
        <p:grpSpPr>
          <a:xfrm rot="0">
            <a:off x="10321157" y="7113029"/>
            <a:ext cx="945010" cy="945010"/>
            <a:chOff x="0" y="0"/>
            <a:chExt cx="588434" cy="588434"/>
          </a:xfrm>
        </p:grpSpPr>
        <p:sp>
          <p:nvSpPr>
            <p:cNvPr name="Freeform 35" id="35"/>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F1473A"/>
              </a:solidFill>
              <a:prstDash val="solid"/>
              <a:round/>
            </a:ln>
          </p:spPr>
        </p:sp>
        <p:sp>
          <p:nvSpPr>
            <p:cNvPr name="TextBox 36" id="36"/>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37" id="37"/>
          <p:cNvSpPr/>
          <p:nvPr/>
        </p:nvSpPr>
        <p:spPr>
          <a:xfrm flipH="false" flipV="true" rot="0">
            <a:off x="14926775" y="6809650"/>
            <a:ext cx="1855543" cy="651127"/>
          </a:xfrm>
          <a:custGeom>
            <a:avLst/>
            <a:gdLst/>
            <a:ahLst/>
            <a:cxnLst/>
            <a:rect r="r" b="b" t="t" l="l"/>
            <a:pathLst>
              <a:path h="651127" w="1855543">
                <a:moveTo>
                  <a:pt x="0" y="651127"/>
                </a:moveTo>
                <a:lnTo>
                  <a:pt x="1855543" y="651127"/>
                </a:lnTo>
                <a:lnTo>
                  <a:pt x="1855543" y="0"/>
                </a:lnTo>
                <a:lnTo>
                  <a:pt x="0" y="0"/>
                </a:lnTo>
                <a:lnTo>
                  <a:pt x="0" y="651127"/>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8" id="38"/>
          <p:cNvSpPr txBox="true"/>
          <p:nvPr/>
        </p:nvSpPr>
        <p:spPr>
          <a:xfrm rot="0">
            <a:off x="1678016" y="5034598"/>
            <a:ext cx="7720042" cy="1172844"/>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RECOGNIZING</a:t>
            </a:r>
            <a:r>
              <a:rPr lang="en-US" b="true" sz="2200" i="true" spc="528">
                <a:solidFill>
                  <a:srgbClr val="A0EEEB"/>
                </a:solidFill>
                <a:latin typeface="Poppins Ultra-Bold Italics"/>
                <a:ea typeface="Poppins Ultra-Bold Italics"/>
                <a:cs typeface="Poppins Ultra-Bold Italics"/>
                <a:sym typeface="Poppins Ultra-Bold Italics"/>
              </a:rPr>
              <a:t> FREEZING, </a:t>
            </a:r>
            <a:r>
              <a:rPr lang="en-US" b="true" sz="2200" i="true" spc="528">
                <a:solidFill>
                  <a:srgbClr val="FFA800"/>
                </a:solidFill>
                <a:latin typeface="Poppins Ultra-Bold Italics"/>
                <a:ea typeface="Poppins Ultra-Bold Italics"/>
                <a:cs typeface="Poppins Ultra-Bold Italics"/>
                <a:sym typeface="Poppins Ultra-Bold Italics"/>
              </a:rPr>
              <a:t>WARM,</a:t>
            </a:r>
            <a:r>
              <a:rPr lang="en-US" b="true" sz="2200" i="true" spc="528">
                <a:solidFill>
                  <a:srgbClr val="F1473A"/>
                </a:solidFill>
                <a:latin typeface="Poppins Ultra-Bold Italics"/>
                <a:ea typeface="Poppins Ultra-Bold Italics"/>
                <a:cs typeface="Poppins Ultra-Bold Italics"/>
                <a:sym typeface="Poppins Ultra-Bold Italics"/>
              </a:rPr>
              <a:t> AND HOT LEADS</a:t>
            </a:r>
            <a:r>
              <a:rPr lang="en-US" sz="2200" i="true" spc="528">
                <a:solidFill>
                  <a:srgbClr val="F6F6F6"/>
                </a:solidFill>
                <a:latin typeface="Poppins Italics"/>
                <a:ea typeface="Poppins Italics"/>
                <a:cs typeface="Poppins Italics"/>
                <a:sym typeface="Poppins Italics"/>
              </a:rPr>
              <a:t> HELPS ALIGN MARKETING STRATEGIES WITH REAL BUYER INTENT</a:t>
            </a:r>
          </a:p>
        </p:txBody>
      </p:sp>
      <p:sp>
        <p:nvSpPr>
          <p:cNvPr name="TextBox 39" id="39"/>
          <p:cNvSpPr txBox="true"/>
          <p:nvPr/>
        </p:nvSpPr>
        <p:spPr>
          <a:xfrm rot="0">
            <a:off x="9995209" y="5368540"/>
            <a:ext cx="6128075" cy="879135"/>
          </a:xfrm>
          <a:prstGeom prst="rect">
            <a:avLst/>
          </a:prstGeom>
        </p:spPr>
        <p:txBody>
          <a:bodyPr anchor="t" rtlCol="false" tIns="0" lIns="0" bIns="0" rIns="0">
            <a:spAutoFit/>
          </a:bodyPr>
          <a:lstStyle/>
          <a:p>
            <a:pPr algn="ctr">
              <a:lnSpc>
                <a:spcPts val="2314"/>
              </a:lnSpc>
              <a:spcBef>
                <a:spcPct val="0"/>
              </a:spcBef>
            </a:pPr>
            <a:r>
              <a:rPr lang="en-US" b="true" sz="1929">
                <a:solidFill>
                  <a:srgbClr val="FFFFFF"/>
                </a:solidFill>
                <a:latin typeface="Poppins Medium"/>
                <a:ea typeface="Poppins Medium"/>
                <a:cs typeface="Poppins Medium"/>
                <a:sym typeface="Poppins Medium"/>
              </a:rPr>
              <a:t>Customers looking for your </a:t>
            </a:r>
            <a:r>
              <a:rPr lang="en-US" b="true" sz="1929">
                <a:solidFill>
                  <a:srgbClr val="FFFFFF"/>
                </a:solidFill>
                <a:latin typeface="Poppins Medium"/>
                <a:ea typeface="Poppins Medium"/>
                <a:cs typeface="Poppins Medium"/>
                <a:sym typeface="Poppins Medium"/>
              </a:rPr>
              <a:t>industry services, refined based on demographics, but without awareness of your company</a:t>
            </a:r>
          </a:p>
        </p:txBody>
      </p:sp>
      <p:sp>
        <p:nvSpPr>
          <p:cNvPr name="TextBox 40" id="40"/>
          <p:cNvSpPr txBox="true"/>
          <p:nvPr/>
        </p:nvSpPr>
        <p:spPr>
          <a:xfrm rot="0">
            <a:off x="10321157" y="8296318"/>
            <a:ext cx="6128075" cy="1165830"/>
          </a:xfrm>
          <a:prstGeom prst="rect">
            <a:avLst/>
          </a:prstGeom>
        </p:spPr>
        <p:txBody>
          <a:bodyPr anchor="t" rtlCol="false" tIns="0" lIns="0" bIns="0" rIns="0">
            <a:spAutoFit/>
          </a:bodyPr>
          <a:lstStyle/>
          <a:p>
            <a:pPr algn="ctr">
              <a:lnSpc>
                <a:spcPts val="2314"/>
              </a:lnSpc>
              <a:spcBef>
                <a:spcPct val="0"/>
              </a:spcBef>
            </a:pPr>
            <a:r>
              <a:rPr lang="en-US" b="true" sz="1929">
                <a:solidFill>
                  <a:srgbClr val="FFFFFF"/>
                </a:solidFill>
                <a:latin typeface="Poppins Medium"/>
                <a:ea typeface="Poppins Medium"/>
                <a:cs typeface="Poppins Medium"/>
                <a:sym typeface="Poppins Medium"/>
              </a:rPr>
              <a:t>Customers actively seeking your </a:t>
            </a:r>
            <a:r>
              <a:rPr lang="en-US" b="true" sz="1929">
                <a:solidFill>
                  <a:srgbClr val="FFFFFF"/>
                </a:solidFill>
                <a:latin typeface="Poppins Medium"/>
                <a:ea typeface="Poppins Medium"/>
                <a:cs typeface="Poppins Medium"/>
                <a:sym typeface="Poppins Medium"/>
              </a:rPr>
              <a:t>services, qualified by demographics, aware of your company, and reached through referrals or marketing channels.</a:t>
            </a:r>
          </a:p>
        </p:txBody>
      </p:sp>
      <p:sp>
        <p:nvSpPr>
          <p:cNvPr name="Freeform 41" id="41"/>
          <p:cNvSpPr/>
          <p:nvPr/>
        </p:nvSpPr>
        <p:spPr>
          <a:xfrm flipH="false" flipV="false" rot="0">
            <a:off x="10561536" y="7307349"/>
            <a:ext cx="464252" cy="541402"/>
          </a:xfrm>
          <a:custGeom>
            <a:avLst/>
            <a:gdLst/>
            <a:ahLst/>
            <a:cxnLst/>
            <a:rect r="r" b="b" t="t" l="l"/>
            <a:pathLst>
              <a:path h="541402" w="464252">
                <a:moveTo>
                  <a:pt x="0" y="0"/>
                </a:moveTo>
                <a:lnTo>
                  <a:pt x="464252" y="0"/>
                </a:lnTo>
                <a:lnTo>
                  <a:pt x="464252" y="541402"/>
                </a:lnTo>
                <a:lnTo>
                  <a:pt x="0" y="54140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5961540"/>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292222" y="2746217"/>
            <a:ext cx="7851778" cy="3700150"/>
          </a:xfrm>
          <a:custGeom>
            <a:avLst/>
            <a:gdLst/>
            <a:ahLst/>
            <a:cxnLst/>
            <a:rect r="r" b="b" t="t" l="l"/>
            <a:pathLst>
              <a:path h="3700150" w="7851778">
                <a:moveTo>
                  <a:pt x="0" y="0"/>
                </a:moveTo>
                <a:lnTo>
                  <a:pt x="7851778" y="0"/>
                </a:lnTo>
                <a:lnTo>
                  <a:pt x="7851778" y="3700151"/>
                </a:lnTo>
                <a:lnTo>
                  <a:pt x="0" y="3700151"/>
                </a:lnTo>
                <a:lnTo>
                  <a:pt x="0" y="0"/>
                </a:lnTo>
                <a:close/>
              </a:path>
            </a:pathLst>
          </a:custGeom>
          <a:blipFill>
            <a:blip r:embed="rId3">
              <a:alphaModFix amt="41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true" rot="0">
            <a:off x="1446450" y="3746196"/>
            <a:ext cx="1581567" cy="554986"/>
          </a:xfrm>
          <a:custGeom>
            <a:avLst/>
            <a:gdLst/>
            <a:ahLst/>
            <a:cxnLst/>
            <a:rect r="r" b="b" t="t" l="l"/>
            <a:pathLst>
              <a:path h="554986" w="1581567">
                <a:moveTo>
                  <a:pt x="0" y="554986"/>
                </a:moveTo>
                <a:lnTo>
                  <a:pt x="1581567" y="554986"/>
                </a:lnTo>
                <a:lnTo>
                  <a:pt x="1581567" y="0"/>
                </a:lnTo>
                <a:lnTo>
                  <a:pt x="0" y="0"/>
                </a:lnTo>
                <a:lnTo>
                  <a:pt x="0" y="554986"/>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2806276" y="3828434"/>
            <a:ext cx="6068959" cy="1670629"/>
            <a:chOff x="0" y="0"/>
            <a:chExt cx="2527032" cy="695627"/>
          </a:xfrm>
        </p:grpSpPr>
        <p:sp>
          <p:nvSpPr>
            <p:cNvPr name="Freeform 9" id="9"/>
            <p:cNvSpPr/>
            <p:nvPr/>
          </p:nvSpPr>
          <p:spPr>
            <a:xfrm flipH="false" flipV="false" rot="0">
              <a:off x="0" y="0"/>
              <a:ext cx="2527032" cy="695627"/>
            </a:xfrm>
            <a:custGeom>
              <a:avLst/>
              <a:gdLst/>
              <a:ahLst/>
              <a:cxnLst/>
              <a:rect r="r" b="b" t="t" l="l"/>
              <a:pathLst>
                <a:path h="695627" w="2527032">
                  <a:moveTo>
                    <a:pt x="29340" y="0"/>
                  </a:moveTo>
                  <a:lnTo>
                    <a:pt x="2497692" y="0"/>
                  </a:lnTo>
                  <a:cubicBezTo>
                    <a:pt x="2505473" y="0"/>
                    <a:pt x="2512936" y="3091"/>
                    <a:pt x="2518438" y="8594"/>
                  </a:cubicBezTo>
                  <a:cubicBezTo>
                    <a:pt x="2523941" y="14096"/>
                    <a:pt x="2527032" y="21559"/>
                    <a:pt x="2527032" y="29340"/>
                  </a:cubicBezTo>
                  <a:lnTo>
                    <a:pt x="2527032" y="666287"/>
                  </a:lnTo>
                  <a:cubicBezTo>
                    <a:pt x="2527032" y="682491"/>
                    <a:pt x="2513896" y="695627"/>
                    <a:pt x="2497692" y="695627"/>
                  </a:cubicBezTo>
                  <a:lnTo>
                    <a:pt x="29340" y="695627"/>
                  </a:lnTo>
                  <a:cubicBezTo>
                    <a:pt x="13136" y="695627"/>
                    <a:pt x="0" y="682491"/>
                    <a:pt x="0" y="666287"/>
                  </a:cubicBezTo>
                  <a:lnTo>
                    <a:pt x="0" y="29340"/>
                  </a:lnTo>
                  <a:cubicBezTo>
                    <a:pt x="0" y="13136"/>
                    <a:pt x="13136" y="0"/>
                    <a:pt x="29340" y="0"/>
                  </a:cubicBezTo>
                  <a:close/>
                </a:path>
              </a:pathLst>
            </a:custGeom>
            <a:solidFill>
              <a:srgbClr val="A0EEEB">
                <a:alpha val="40784"/>
              </a:srgbClr>
            </a:solidFill>
            <a:ln w="85725" cap="rnd">
              <a:solidFill>
                <a:srgbClr val="A0EEEB">
                  <a:alpha val="40784"/>
                </a:srgbClr>
              </a:solidFill>
              <a:prstDash val="solid"/>
              <a:round/>
            </a:ln>
          </p:spPr>
        </p:sp>
        <p:sp>
          <p:nvSpPr>
            <p:cNvPr name="TextBox 10" id="10"/>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11" id="11"/>
          <p:cNvGrpSpPr/>
          <p:nvPr/>
        </p:nvGrpSpPr>
        <p:grpSpPr>
          <a:xfrm rot="0">
            <a:off x="1631081" y="3975438"/>
            <a:ext cx="1413193" cy="1413193"/>
            <a:chOff x="0" y="0"/>
            <a:chExt cx="588434" cy="588434"/>
          </a:xfrm>
        </p:grpSpPr>
        <p:sp>
          <p:nvSpPr>
            <p:cNvPr name="Freeform 12" id="12"/>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3" id="13"/>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TextBox 14" id="14"/>
          <p:cNvSpPr txBox="true"/>
          <p:nvPr/>
        </p:nvSpPr>
        <p:spPr>
          <a:xfrm rot="0">
            <a:off x="1868076" y="2383791"/>
            <a:ext cx="8521570" cy="391794"/>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SM</a:t>
            </a:r>
            <a:r>
              <a:rPr lang="en-US" sz="2200" i="true" spc="528">
                <a:solidFill>
                  <a:srgbClr val="F6F6F6"/>
                </a:solidFill>
                <a:latin typeface="Poppins Italics"/>
                <a:ea typeface="Poppins Italics"/>
                <a:cs typeface="Poppins Italics"/>
                <a:sym typeface="Poppins Italics"/>
              </a:rPr>
              <a:t>ART TOOLS FOR </a:t>
            </a:r>
            <a:r>
              <a:rPr lang="en-US" b="true" sz="2200" i="true" spc="528">
                <a:solidFill>
                  <a:srgbClr val="A0EEEB"/>
                </a:solidFill>
                <a:latin typeface="Poppins Ultra-Bold Italics"/>
                <a:ea typeface="Poppins Ultra-Bold Italics"/>
                <a:cs typeface="Poppins Ultra-Bold Italics"/>
                <a:sym typeface="Poppins Ultra-Bold Italics"/>
              </a:rPr>
              <a:t>SMARTER MARKETING</a:t>
            </a:r>
          </a:p>
        </p:txBody>
      </p:sp>
      <p:sp>
        <p:nvSpPr>
          <p:cNvPr name="TextBox 15" id="15"/>
          <p:cNvSpPr txBox="true"/>
          <p:nvPr/>
        </p:nvSpPr>
        <p:spPr>
          <a:xfrm rot="0">
            <a:off x="3409786" y="4672051"/>
            <a:ext cx="5115320" cy="355046"/>
          </a:xfrm>
          <a:prstGeom prst="rect">
            <a:avLst/>
          </a:prstGeom>
        </p:spPr>
        <p:txBody>
          <a:bodyPr anchor="t" rtlCol="false" tIns="0" lIns="0" bIns="0" rIns="0">
            <a:spAutoFit/>
          </a:bodyPr>
          <a:lstStyle/>
          <a:p>
            <a:pPr algn="l">
              <a:lnSpc>
                <a:spcPts val="2625"/>
              </a:lnSpc>
              <a:spcBef>
                <a:spcPct val="0"/>
              </a:spcBef>
            </a:pPr>
            <a:r>
              <a:rPr lang="en-US" sz="2187" b="true">
                <a:solidFill>
                  <a:srgbClr val="FFFFFF"/>
                </a:solidFill>
                <a:latin typeface="Poppins Medium"/>
                <a:ea typeface="Poppins Medium"/>
                <a:cs typeface="Poppins Medium"/>
                <a:sym typeface="Poppins Medium"/>
              </a:rPr>
              <a:t>Actionable lIsts for outreach</a:t>
            </a:r>
          </a:p>
        </p:txBody>
      </p:sp>
      <p:sp>
        <p:nvSpPr>
          <p:cNvPr name="Freeform 16" id="16"/>
          <p:cNvSpPr/>
          <p:nvPr/>
        </p:nvSpPr>
        <p:spPr>
          <a:xfrm flipH="false" flipV="false" rot="0">
            <a:off x="1292222" y="4846743"/>
            <a:ext cx="7851778" cy="3700150"/>
          </a:xfrm>
          <a:custGeom>
            <a:avLst/>
            <a:gdLst/>
            <a:ahLst/>
            <a:cxnLst/>
            <a:rect r="r" b="b" t="t" l="l"/>
            <a:pathLst>
              <a:path h="3700150" w="7851778">
                <a:moveTo>
                  <a:pt x="0" y="0"/>
                </a:moveTo>
                <a:lnTo>
                  <a:pt x="7851778" y="0"/>
                </a:lnTo>
                <a:lnTo>
                  <a:pt x="7851778" y="3700150"/>
                </a:lnTo>
                <a:lnTo>
                  <a:pt x="0" y="37001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true" rot="0">
            <a:off x="1446450" y="5846722"/>
            <a:ext cx="1581567" cy="554986"/>
          </a:xfrm>
          <a:custGeom>
            <a:avLst/>
            <a:gdLst/>
            <a:ahLst/>
            <a:cxnLst/>
            <a:rect r="r" b="b" t="t" l="l"/>
            <a:pathLst>
              <a:path h="554986" w="1581567">
                <a:moveTo>
                  <a:pt x="0" y="554986"/>
                </a:moveTo>
                <a:lnTo>
                  <a:pt x="1581567" y="554986"/>
                </a:lnTo>
                <a:lnTo>
                  <a:pt x="1581567" y="0"/>
                </a:lnTo>
                <a:lnTo>
                  <a:pt x="0" y="0"/>
                </a:lnTo>
                <a:lnTo>
                  <a:pt x="0" y="554986"/>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2806276" y="5928960"/>
            <a:ext cx="6068959" cy="1670629"/>
            <a:chOff x="0" y="0"/>
            <a:chExt cx="2527032" cy="695627"/>
          </a:xfrm>
        </p:grpSpPr>
        <p:sp>
          <p:nvSpPr>
            <p:cNvPr name="Freeform 19" id="19"/>
            <p:cNvSpPr/>
            <p:nvPr/>
          </p:nvSpPr>
          <p:spPr>
            <a:xfrm flipH="false" flipV="false" rot="0">
              <a:off x="0" y="0"/>
              <a:ext cx="2527032" cy="695627"/>
            </a:xfrm>
            <a:custGeom>
              <a:avLst/>
              <a:gdLst/>
              <a:ahLst/>
              <a:cxnLst/>
              <a:rect r="r" b="b" t="t" l="l"/>
              <a:pathLst>
                <a:path h="695627" w="2527032">
                  <a:moveTo>
                    <a:pt x="29340" y="0"/>
                  </a:moveTo>
                  <a:lnTo>
                    <a:pt x="2497692" y="0"/>
                  </a:lnTo>
                  <a:cubicBezTo>
                    <a:pt x="2505473" y="0"/>
                    <a:pt x="2512936" y="3091"/>
                    <a:pt x="2518438" y="8594"/>
                  </a:cubicBezTo>
                  <a:cubicBezTo>
                    <a:pt x="2523941" y="14096"/>
                    <a:pt x="2527032" y="21559"/>
                    <a:pt x="2527032" y="29340"/>
                  </a:cubicBezTo>
                  <a:lnTo>
                    <a:pt x="2527032" y="666287"/>
                  </a:lnTo>
                  <a:cubicBezTo>
                    <a:pt x="2527032" y="682491"/>
                    <a:pt x="2513896" y="695627"/>
                    <a:pt x="2497692" y="695627"/>
                  </a:cubicBezTo>
                  <a:lnTo>
                    <a:pt x="29340" y="695627"/>
                  </a:lnTo>
                  <a:cubicBezTo>
                    <a:pt x="13136" y="695627"/>
                    <a:pt x="0" y="682491"/>
                    <a:pt x="0" y="666287"/>
                  </a:cubicBezTo>
                  <a:lnTo>
                    <a:pt x="0" y="29340"/>
                  </a:lnTo>
                  <a:cubicBezTo>
                    <a:pt x="0" y="13136"/>
                    <a:pt x="13136" y="0"/>
                    <a:pt x="29340" y="0"/>
                  </a:cubicBezTo>
                  <a:close/>
                </a:path>
              </a:pathLst>
            </a:custGeom>
            <a:solidFill>
              <a:srgbClr val="A0EEEB">
                <a:alpha val="40784"/>
              </a:srgbClr>
            </a:solidFill>
            <a:ln w="85725" cap="rnd">
              <a:solidFill>
                <a:srgbClr val="A0EEEB">
                  <a:alpha val="40784"/>
                </a:srgbClr>
              </a:solidFill>
              <a:prstDash val="solid"/>
              <a:round/>
            </a:ln>
          </p:spPr>
        </p:sp>
        <p:sp>
          <p:nvSpPr>
            <p:cNvPr name="TextBox 20" id="20"/>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21" id="21"/>
          <p:cNvGrpSpPr/>
          <p:nvPr/>
        </p:nvGrpSpPr>
        <p:grpSpPr>
          <a:xfrm rot="0">
            <a:off x="1631081" y="6075964"/>
            <a:ext cx="1413193" cy="1413193"/>
            <a:chOff x="0" y="0"/>
            <a:chExt cx="588434" cy="588434"/>
          </a:xfrm>
        </p:grpSpPr>
        <p:sp>
          <p:nvSpPr>
            <p:cNvPr name="Freeform 22" id="22"/>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3" id="23"/>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24" id="24"/>
          <p:cNvSpPr/>
          <p:nvPr/>
        </p:nvSpPr>
        <p:spPr>
          <a:xfrm flipH="false" flipV="false" rot="0">
            <a:off x="9144000" y="2746217"/>
            <a:ext cx="7851778" cy="3700150"/>
          </a:xfrm>
          <a:custGeom>
            <a:avLst/>
            <a:gdLst/>
            <a:ahLst/>
            <a:cxnLst/>
            <a:rect r="r" b="b" t="t" l="l"/>
            <a:pathLst>
              <a:path h="3700150" w="7851778">
                <a:moveTo>
                  <a:pt x="0" y="0"/>
                </a:moveTo>
                <a:lnTo>
                  <a:pt x="7851778" y="0"/>
                </a:lnTo>
                <a:lnTo>
                  <a:pt x="7851778" y="3700151"/>
                </a:lnTo>
                <a:lnTo>
                  <a:pt x="0" y="37001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true" rot="0">
            <a:off x="9298227" y="3746196"/>
            <a:ext cx="1581567" cy="554986"/>
          </a:xfrm>
          <a:custGeom>
            <a:avLst/>
            <a:gdLst/>
            <a:ahLst/>
            <a:cxnLst/>
            <a:rect r="r" b="b" t="t" l="l"/>
            <a:pathLst>
              <a:path h="554986" w="1581567">
                <a:moveTo>
                  <a:pt x="0" y="554986"/>
                </a:moveTo>
                <a:lnTo>
                  <a:pt x="1581567" y="554986"/>
                </a:lnTo>
                <a:lnTo>
                  <a:pt x="1581567" y="0"/>
                </a:lnTo>
                <a:lnTo>
                  <a:pt x="0" y="0"/>
                </a:lnTo>
                <a:lnTo>
                  <a:pt x="0" y="554986"/>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6" id="26"/>
          <p:cNvGrpSpPr/>
          <p:nvPr/>
        </p:nvGrpSpPr>
        <p:grpSpPr>
          <a:xfrm rot="0">
            <a:off x="10658053" y="3828434"/>
            <a:ext cx="6068959" cy="1670629"/>
            <a:chOff x="0" y="0"/>
            <a:chExt cx="2527032" cy="695627"/>
          </a:xfrm>
        </p:grpSpPr>
        <p:sp>
          <p:nvSpPr>
            <p:cNvPr name="Freeform 27" id="27"/>
            <p:cNvSpPr/>
            <p:nvPr/>
          </p:nvSpPr>
          <p:spPr>
            <a:xfrm flipH="false" flipV="false" rot="0">
              <a:off x="0" y="0"/>
              <a:ext cx="2527032" cy="695627"/>
            </a:xfrm>
            <a:custGeom>
              <a:avLst/>
              <a:gdLst/>
              <a:ahLst/>
              <a:cxnLst/>
              <a:rect r="r" b="b" t="t" l="l"/>
              <a:pathLst>
                <a:path h="695627" w="2527032">
                  <a:moveTo>
                    <a:pt x="29340" y="0"/>
                  </a:moveTo>
                  <a:lnTo>
                    <a:pt x="2497692" y="0"/>
                  </a:lnTo>
                  <a:cubicBezTo>
                    <a:pt x="2505473" y="0"/>
                    <a:pt x="2512936" y="3091"/>
                    <a:pt x="2518438" y="8594"/>
                  </a:cubicBezTo>
                  <a:cubicBezTo>
                    <a:pt x="2523941" y="14096"/>
                    <a:pt x="2527032" y="21559"/>
                    <a:pt x="2527032" y="29340"/>
                  </a:cubicBezTo>
                  <a:lnTo>
                    <a:pt x="2527032" y="666287"/>
                  </a:lnTo>
                  <a:cubicBezTo>
                    <a:pt x="2527032" y="682491"/>
                    <a:pt x="2513896" y="695627"/>
                    <a:pt x="2497692" y="695627"/>
                  </a:cubicBezTo>
                  <a:lnTo>
                    <a:pt x="29340" y="695627"/>
                  </a:lnTo>
                  <a:cubicBezTo>
                    <a:pt x="13136" y="695627"/>
                    <a:pt x="0" y="682491"/>
                    <a:pt x="0" y="666287"/>
                  </a:cubicBezTo>
                  <a:lnTo>
                    <a:pt x="0" y="29340"/>
                  </a:lnTo>
                  <a:cubicBezTo>
                    <a:pt x="0" y="13136"/>
                    <a:pt x="13136" y="0"/>
                    <a:pt x="29340" y="0"/>
                  </a:cubicBezTo>
                  <a:close/>
                </a:path>
              </a:pathLst>
            </a:custGeom>
            <a:solidFill>
              <a:srgbClr val="A0EEEB">
                <a:alpha val="40784"/>
              </a:srgbClr>
            </a:solidFill>
            <a:ln w="85725" cap="rnd">
              <a:solidFill>
                <a:srgbClr val="A0EEEB">
                  <a:alpha val="40784"/>
                </a:srgbClr>
              </a:solidFill>
              <a:prstDash val="solid"/>
              <a:round/>
            </a:ln>
          </p:spPr>
        </p:sp>
        <p:sp>
          <p:nvSpPr>
            <p:cNvPr name="TextBox 28" id="28"/>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29" id="29"/>
          <p:cNvGrpSpPr/>
          <p:nvPr/>
        </p:nvGrpSpPr>
        <p:grpSpPr>
          <a:xfrm rot="0">
            <a:off x="9482859" y="3975438"/>
            <a:ext cx="1413193" cy="1413193"/>
            <a:chOff x="0" y="0"/>
            <a:chExt cx="588434" cy="588434"/>
          </a:xfrm>
        </p:grpSpPr>
        <p:sp>
          <p:nvSpPr>
            <p:cNvPr name="Freeform 30" id="30"/>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31" id="31"/>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32" id="32"/>
          <p:cNvSpPr/>
          <p:nvPr/>
        </p:nvSpPr>
        <p:spPr>
          <a:xfrm flipH="false" flipV="false" rot="0">
            <a:off x="9144000" y="4846743"/>
            <a:ext cx="7851778" cy="3700150"/>
          </a:xfrm>
          <a:custGeom>
            <a:avLst/>
            <a:gdLst/>
            <a:ahLst/>
            <a:cxnLst/>
            <a:rect r="r" b="b" t="t" l="l"/>
            <a:pathLst>
              <a:path h="3700150" w="7851778">
                <a:moveTo>
                  <a:pt x="0" y="0"/>
                </a:moveTo>
                <a:lnTo>
                  <a:pt x="7851778" y="0"/>
                </a:lnTo>
                <a:lnTo>
                  <a:pt x="7851778" y="3700150"/>
                </a:lnTo>
                <a:lnTo>
                  <a:pt x="0" y="37001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3" id="33"/>
          <p:cNvSpPr/>
          <p:nvPr/>
        </p:nvSpPr>
        <p:spPr>
          <a:xfrm flipH="false" flipV="true" rot="0">
            <a:off x="9298227" y="5846722"/>
            <a:ext cx="1581567" cy="554986"/>
          </a:xfrm>
          <a:custGeom>
            <a:avLst/>
            <a:gdLst/>
            <a:ahLst/>
            <a:cxnLst/>
            <a:rect r="r" b="b" t="t" l="l"/>
            <a:pathLst>
              <a:path h="554986" w="1581567">
                <a:moveTo>
                  <a:pt x="0" y="554986"/>
                </a:moveTo>
                <a:lnTo>
                  <a:pt x="1581567" y="554986"/>
                </a:lnTo>
                <a:lnTo>
                  <a:pt x="1581567" y="0"/>
                </a:lnTo>
                <a:lnTo>
                  <a:pt x="0" y="0"/>
                </a:lnTo>
                <a:lnTo>
                  <a:pt x="0" y="554986"/>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4" id="34"/>
          <p:cNvGrpSpPr/>
          <p:nvPr/>
        </p:nvGrpSpPr>
        <p:grpSpPr>
          <a:xfrm rot="0">
            <a:off x="10658053" y="5928960"/>
            <a:ext cx="6068959" cy="1670629"/>
            <a:chOff x="0" y="0"/>
            <a:chExt cx="2527032" cy="695627"/>
          </a:xfrm>
        </p:grpSpPr>
        <p:sp>
          <p:nvSpPr>
            <p:cNvPr name="Freeform 35" id="35"/>
            <p:cNvSpPr/>
            <p:nvPr/>
          </p:nvSpPr>
          <p:spPr>
            <a:xfrm flipH="false" flipV="false" rot="0">
              <a:off x="0" y="0"/>
              <a:ext cx="2527032" cy="695627"/>
            </a:xfrm>
            <a:custGeom>
              <a:avLst/>
              <a:gdLst/>
              <a:ahLst/>
              <a:cxnLst/>
              <a:rect r="r" b="b" t="t" l="l"/>
              <a:pathLst>
                <a:path h="695627" w="2527032">
                  <a:moveTo>
                    <a:pt x="29340" y="0"/>
                  </a:moveTo>
                  <a:lnTo>
                    <a:pt x="2497692" y="0"/>
                  </a:lnTo>
                  <a:cubicBezTo>
                    <a:pt x="2505473" y="0"/>
                    <a:pt x="2512936" y="3091"/>
                    <a:pt x="2518438" y="8594"/>
                  </a:cubicBezTo>
                  <a:cubicBezTo>
                    <a:pt x="2523941" y="14096"/>
                    <a:pt x="2527032" y="21559"/>
                    <a:pt x="2527032" y="29340"/>
                  </a:cubicBezTo>
                  <a:lnTo>
                    <a:pt x="2527032" y="666287"/>
                  </a:lnTo>
                  <a:cubicBezTo>
                    <a:pt x="2527032" y="682491"/>
                    <a:pt x="2513896" y="695627"/>
                    <a:pt x="2497692" y="695627"/>
                  </a:cubicBezTo>
                  <a:lnTo>
                    <a:pt x="29340" y="695627"/>
                  </a:lnTo>
                  <a:cubicBezTo>
                    <a:pt x="13136" y="695627"/>
                    <a:pt x="0" y="682491"/>
                    <a:pt x="0" y="666287"/>
                  </a:cubicBezTo>
                  <a:lnTo>
                    <a:pt x="0" y="29340"/>
                  </a:lnTo>
                  <a:cubicBezTo>
                    <a:pt x="0" y="13136"/>
                    <a:pt x="13136" y="0"/>
                    <a:pt x="29340" y="0"/>
                  </a:cubicBezTo>
                  <a:close/>
                </a:path>
              </a:pathLst>
            </a:custGeom>
            <a:solidFill>
              <a:srgbClr val="A0EEEB">
                <a:alpha val="40784"/>
              </a:srgbClr>
            </a:solidFill>
            <a:ln w="85725" cap="rnd">
              <a:solidFill>
                <a:srgbClr val="A0EEEB">
                  <a:alpha val="40784"/>
                </a:srgbClr>
              </a:solidFill>
              <a:prstDash val="solid"/>
              <a:round/>
            </a:ln>
          </p:spPr>
        </p:sp>
        <p:sp>
          <p:nvSpPr>
            <p:cNvPr name="TextBox 36" id="36"/>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37" id="37"/>
          <p:cNvGrpSpPr/>
          <p:nvPr/>
        </p:nvGrpSpPr>
        <p:grpSpPr>
          <a:xfrm rot="0">
            <a:off x="9482859" y="6075964"/>
            <a:ext cx="1413193" cy="1413193"/>
            <a:chOff x="0" y="0"/>
            <a:chExt cx="588434" cy="588434"/>
          </a:xfrm>
        </p:grpSpPr>
        <p:sp>
          <p:nvSpPr>
            <p:cNvPr name="Freeform 38" id="38"/>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39" id="39"/>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40" id="40"/>
          <p:cNvSpPr/>
          <p:nvPr/>
        </p:nvSpPr>
        <p:spPr>
          <a:xfrm flipH="false" flipV="false" rot="0">
            <a:off x="2085191" y="4368564"/>
            <a:ext cx="504974" cy="626942"/>
          </a:xfrm>
          <a:custGeom>
            <a:avLst/>
            <a:gdLst/>
            <a:ahLst/>
            <a:cxnLst/>
            <a:rect r="r" b="b" t="t" l="l"/>
            <a:pathLst>
              <a:path h="626942" w="504974">
                <a:moveTo>
                  <a:pt x="0" y="0"/>
                </a:moveTo>
                <a:lnTo>
                  <a:pt x="504974" y="0"/>
                </a:lnTo>
                <a:lnTo>
                  <a:pt x="504974" y="626942"/>
                </a:lnTo>
                <a:lnTo>
                  <a:pt x="0" y="6269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1" id="41"/>
          <p:cNvSpPr/>
          <p:nvPr/>
        </p:nvSpPr>
        <p:spPr>
          <a:xfrm flipH="false" flipV="false" rot="0">
            <a:off x="2005008" y="6471098"/>
            <a:ext cx="665341" cy="622925"/>
          </a:xfrm>
          <a:custGeom>
            <a:avLst/>
            <a:gdLst/>
            <a:ahLst/>
            <a:cxnLst/>
            <a:rect r="r" b="b" t="t" l="l"/>
            <a:pathLst>
              <a:path h="622925" w="665341">
                <a:moveTo>
                  <a:pt x="0" y="0"/>
                </a:moveTo>
                <a:lnTo>
                  <a:pt x="665340" y="0"/>
                </a:lnTo>
                <a:lnTo>
                  <a:pt x="665340" y="622925"/>
                </a:lnTo>
                <a:lnTo>
                  <a:pt x="0" y="6229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2" id="42"/>
          <p:cNvSpPr/>
          <p:nvPr/>
        </p:nvSpPr>
        <p:spPr>
          <a:xfrm flipH="false" flipV="false" rot="0">
            <a:off x="9927154" y="4317477"/>
            <a:ext cx="524602" cy="692544"/>
          </a:xfrm>
          <a:custGeom>
            <a:avLst/>
            <a:gdLst/>
            <a:ahLst/>
            <a:cxnLst/>
            <a:rect r="r" b="b" t="t" l="l"/>
            <a:pathLst>
              <a:path h="692544" w="524602">
                <a:moveTo>
                  <a:pt x="0" y="0"/>
                </a:moveTo>
                <a:lnTo>
                  <a:pt x="524603" y="0"/>
                </a:lnTo>
                <a:lnTo>
                  <a:pt x="524603" y="692544"/>
                </a:lnTo>
                <a:lnTo>
                  <a:pt x="0" y="6925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3" id="43"/>
          <p:cNvSpPr/>
          <p:nvPr/>
        </p:nvSpPr>
        <p:spPr>
          <a:xfrm flipH="false" flipV="false" rot="0">
            <a:off x="9814816" y="6389635"/>
            <a:ext cx="749279" cy="749279"/>
          </a:xfrm>
          <a:custGeom>
            <a:avLst/>
            <a:gdLst/>
            <a:ahLst/>
            <a:cxnLst/>
            <a:rect r="r" b="b" t="t" l="l"/>
            <a:pathLst>
              <a:path h="749279" w="749279">
                <a:moveTo>
                  <a:pt x="0" y="0"/>
                </a:moveTo>
                <a:lnTo>
                  <a:pt x="749279" y="0"/>
                </a:lnTo>
                <a:lnTo>
                  <a:pt x="749279" y="749279"/>
                </a:lnTo>
                <a:lnTo>
                  <a:pt x="0" y="7492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4" id="44"/>
          <p:cNvSpPr txBox="true"/>
          <p:nvPr/>
        </p:nvSpPr>
        <p:spPr>
          <a:xfrm rot="0">
            <a:off x="3409786" y="4194622"/>
            <a:ext cx="5115320" cy="407778"/>
          </a:xfrm>
          <a:prstGeom prst="rect">
            <a:avLst/>
          </a:prstGeom>
        </p:spPr>
        <p:txBody>
          <a:bodyPr anchor="t" rtlCol="false" tIns="0" lIns="0" bIns="0" rIns="0">
            <a:spAutoFit/>
          </a:bodyPr>
          <a:lstStyle/>
          <a:p>
            <a:pPr algn="l">
              <a:lnSpc>
                <a:spcPts val="3022"/>
              </a:lnSpc>
              <a:spcBef>
                <a:spcPct val="0"/>
              </a:spcBef>
            </a:pPr>
            <a:r>
              <a:rPr lang="en-US" sz="2518" b="true">
                <a:solidFill>
                  <a:srgbClr val="FFFFFF"/>
                </a:solidFill>
                <a:latin typeface="Poppins Bold"/>
                <a:ea typeface="Poppins Bold"/>
                <a:cs typeface="Poppins Bold"/>
                <a:sym typeface="Poppins Bold"/>
              </a:rPr>
              <a:t>Maps &amp; Leads By Zip Code</a:t>
            </a:r>
          </a:p>
        </p:txBody>
      </p:sp>
      <p:sp>
        <p:nvSpPr>
          <p:cNvPr name="TextBox 45" id="45"/>
          <p:cNvSpPr txBox="true"/>
          <p:nvPr/>
        </p:nvSpPr>
        <p:spPr>
          <a:xfrm rot="0">
            <a:off x="1868076" y="1343025"/>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ByteBlink AI</a:t>
            </a:r>
            <a:r>
              <a:rPr lang="en-US" b="true" sz="5253">
                <a:solidFill>
                  <a:srgbClr val="F6F6F6"/>
                </a:solidFill>
                <a:latin typeface="Poppins Semi-Bold"/>
                <a:ea typeface="Poppins Semi-Bold"/>
                <a:cs typeface="Poppins Semi-Bold"/>
                <a:sym typeface="Poppins Semi-Bold"/>
              </a:rPr>
              <a:t> Solutions</a:t>
            </a:r>
          </a:p>
        </p:txBody>
      </p:sp>
      <p:sp>
        <p:nvSpPr>
          <p:cNvPr name="TextBox 46" id="46"/>
          <p:cNvSpPr txBox="true"/>
          <p:nvPr/>
        </p:nvSpPr>
        <p:spPr>
          <a:xfrm rot="0">
            <a:off x="3409786" y="6295147"/>
            <a:ext cx="5115320" cy="407778"/>
          </a:xfrm>
          <a:prstGeom prst="rect">
            <a:avLst/>
          </a:prstGeom>
        </p:spPr>
        <p:txBody>
          <a:bodyPr anchor="t" rtlCol="false" tIns="0" lIns="0" bIns="0" rIns="0">
            <a:spAutoFit/>
          </a:bodyPr>
          <a:lstStyle/>
          <a:p>
            <a:pPr algn="l">
              <a:lnSpc>
                <a:spcPts val="3022"/>
              </a:lnSpc>
              <a:spcBef>
                <a:spcPct val="0"/>
              </a:spcBef>
            </a:pPr>
            <a:r>
              <a:rPr lang="en-US" sz="2518" b="true">
                <a:solidFill>
                  <a:srgbClr val="FFFFFF"/>
                </a:solidFill>
                <a:latin typeface="Poppins Bold"/>
                <a:ea typeface="Poppins Bold"/>
                <a:cs typeface="Poppins Bold"/>
                <a:sym typeface="Poppins Bold"/>
              </a:rPr>
              <a:t>Website Deanonymization</a:t>
            </a:r>
          </a:p>
        </p:txBody>
      </p:sp>
      <p:sp>
        <p:nvSpPr>
          <p:cNvPr name="TextBox 47" id="47"/>
          <p:cNvSpPr txBox="true"/>
          <p:nvPr/>
        </p:nvSpPr>
        <p:spPr>
          <a:xfrm rot="0">
            <a:off x="3409786" y="6772577"/>
            <a:ext cx="5115320" cy="355046"/>
          </a:xfrm>
          <a:prstGeom prst="rect">
            <a:avLst/>
          </a:prstGeom>
        </p:spPr>
        <p:txBody>
          <a:bodyPr anchor="t" rtlCol="false" tIns="0" lIns="0" bIns="0" rIns="0">
            <a:spAutoFit/>
          </a:bodyPr>
          <a:lstStyle/>
          <a:p>
            <a:pPr algn="l">
              <a:lnSpc>
                <a:spcPts val="2625"/>
              </a:lnSpc>
              <a:spcBef>
                <a:spcPct val="0"/>
              </a:spcBef>
            </a:pPr>
            <a:r>
              <a:rPr lang="en-US" sz="2187" b="true">
                <a:solidFill>
                  <a:srgbClr val="FFFFFF"/>
                </a:solidFill>
                <a:latin typeface="Poppins Medium"/>
                <a:ea typeface="Poppins Medium"/>
                <a:cs typeface="Poppins Medium"/>
                <a:sym typeface="Poppins Medium"/>
              </a:rPr>
              <a:t>Conver hidden traffic into leads</a:t>
            </a:r>
          </a:p>
        </p:txBody>
      </p:sp>
      <p:sp>
        <p:nvSpPr>
          <p:cNvPr name="TextBox 48" id="48"/>
          <p:cNvSpPr txBox="true"/>
          <p:nvPr/>
        </p:nvSpPr>
        <p:spPr>
          <a:xfrm rot="0">
            <a:off x="11391352" y="4089038"/>
            <a:ext cx="5115320" cy="407778"/>
          </a:xfrm>
          <a:prstGeom prst="rect">
            <a:avLst/>
          </a:prstGeom>
        </p:spPr>
        <p:txBody>
          <a:bodyPr anchor="t" rtlCol="false" tIns="0" lIns="0" bIns="0" rIns="0">
            <a:spAutoFit/>
          </a:bodyPr>
          <a:lstStyle/>
          <a:p>
            <a:pPr algn="l">
              <a:lnSpc>
                <a:spcPts val="3022"/>
              </a:lnSpc>
              <a:spcBef>
                <a:spcPct val="0"/>
              </a:spcBef>
            </a:pPr>
            <a:r>
              <a:rPr lang="en-US" sz="2518" b="true">
                <a:solidFill>
                  <a:srgbClr val="FFFFFF"/>
                </a:solidFill>
                <a:latin typeface="Poppins Bold"/>
                <a:ea typeface="Poppins Bold"/>
                <a:cs typeface="Poppins Bold"/>
                <a:sym typeface="Poppins Bold"/>
              </a:rPr>
              <a:t>Bulk Intent Data</a:t>
            </a:r>
          </a:p>
        </p:txBody>
      </p:sp>
      <p:sp>
        <p:nvSpPr>
          <p:cNvPr name="TextBox 49" id="49"/>
          <p:cNvSpPr txBox="true"/>
          <p:nvPr/>
        </p:nvSpPr>
        <p:spPr>
          <a:xfrm rot="0">
            <a:off x="11391352" y="4566468"/>
            <a:ext cx="5115320" cy="681517"/>
          </a:xfrm>
          <a:prstGeom prst="rect">
            <a:avLst/>
          </a:prstGeom>
        </p:spPr>
        <p:txBody>
          <a:bodyPr anchor="t" rtlCol="false" tIns="0" lIns="0" bIns="0" rIns="0">
            <a:spAutoFit/>
          </a:bodyPr>
          <a:lstStyle/>
          <a:p>
            <a:pPr algn="l">
              <a:lnSpc>
                <a:spcPts val="2625"/>
              </a:lnSpc>
              <a:spcBef>
                <a:spcPct val="0"/>
              </a:spcBef>
            </a:pPr>
            <a:r>
              <a:rPr lang="en-US" sz="2187" b="true">
                <a:solidFill>
                  <a:srgbClr val="FFFFFF"/>
                </a:solidFill>
                <a:latin typeface="Poppins Medium"/>
                <a:ea typeface="Poppins Medium"/>
                <a:cs typeface="Poppins Medium"/>
                <a:sym typeface="Poppins Medium"/>
              </a:rPr>
              <a:t>Power Facebook Ads, cold email, LinkedIn</a:t>
            </a:r>
          </a:p>
        </p:txBody>
      </p:sp>
      <p:sp>
        <p:nvSpPr>
          <p:cNvPr name="TextBox 50" id="50"/>
          <p:cNvSpPr txBox="true"/>
          <p:nvPr/>
        </p:nvSpPr>
        <p:spPr>
          <a:xfrm rot="0">
            <a:off x="11391352" y="6207849"/>
            <a:ext cx="5115320" cy="407778"/>
          </a:xfrm>
          <a:prstGeom prst="rect">
            <a:avLst/>
          </a:prstGeom>
        </p:spPr>
        <p:txBody>
          <a:bodyPr anchor="t" rtlCol="false" tIns="0" lIns="0" bIns="0" rIns="0">
            <a:spAutoFit/>
          </a:bodyPr>
          <a:lstStyle/>
          <a:p>
            <a:pPr algn="l">
              <a:lnSpc>
                <a:spcPts val="3022"/>
              </a:lnSpc>
              <a:spcBef>
                <a:spcPct val="0"/>
              </a:spcBef>
            </a:pPr>
            <a:r>
              <a:rPr lang="en-US" sz="2518" b="true">
                <a:solidFill>
                  <a:srgbClr val="FFFFFF"/>
                </a:solidFill>
                <a:latin typeface="Poppins Bold"/>
                <a:ea typeface="Poppins Bold"/>
                <a:cs typeface="Poppins Bold"/>
                <a:sym typeface="Poppins Bold"/>
              </a:rPr>
              <a:t>Fractional CMO Services</a:t>
            </a:r>
          </a:p>
        </p:txBody>
      </p:sp>
      <p:sp>
        <p:nvSpPr>
          <p:cNvPr name="TextBox 51" id="51"/>
          <p:cNvSpPr txBox="true"/>
          <p:nvPr/>
        </p:nvSpPr>
        <p:spPr>
          <a:xfrm rot="0">
            <a:off x="11391352" y="6685279"/>
            <a:ext cx="4594651" cy="681517"/>
          </a:xfrm>
          <a:prstGeom prst="rect">
            <a:avLst/>
          </a:prstGeom>
        </p:spPr>
        <p:txBody>
          <a:bodyPr anchor="t" rtlCol="false" tIns="0" lIns="0" bIns="0" rIns="0">
            <a:spAutoFit/>
          </a:bodyPr>
          <a:lstStyle/>
          <a:p>
            <a:pPr algn="l">
              <a:lnSpc>
                <a:spcPts val="2625"/>
              </a:lnSpc>
              <a:spcBef>
                <a:spcPct val="0"/>
              </a:spcBef>
            </a:pPr>
            <a:r>
              <a:rPr lang="en-US" sz="2187" b="true">
                <a:solidFill>
                  <a:srgbClr val="FFFFFF"/>
                </a:solidFill>
                <a:latin typeface="Poppins Medium"/>
                <a:ea typeface="Poppins Medium"/>
                <a:cs typeface="Poppins Medium"/>
                <a:sym typeface="Poppins Medium"/>
              </a:rPr>
              <a:t>Strategy + Execution without a full-time hire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5961540"/>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1916605" y="2743648"/>
            <a:ext cx="6805687" cy="6797180"/>
          </a:xfrm>
          <a:custGeom>
            <a:avLst/>
            <a:gdLst/>
            <a:ahLst/>
            <a:cxnLst/>
            <a:rect r="r" b="b" t="t" l="l"/>
            <a:pathLst>
              <a:path h="6797180" w="6805687">
                <a:moveTo>
                  <a:pt x="0" y="0"/>
                </a:moveTo>
                <a:lnTo>
                  <a:pt x="6805687" y="0"/>
                </a:lnTo>
                <a:lnTo>
                  <a:pt x="6805687" y="6797180"/>
                </a:lnTo>
                <a:lnTo>
                  <a:pt x="0" y="6797180"/>
                </a:lnTo>
                <a:lnTo>
                  <a:pt x="0" y="0"/>
                </a:lnTo>
                <a:close/>
              </a:path>
            </a:pathLst>
          </a:custGeom>
          <a:blipFill>
            <a:blip r:embed="rId3">
              <a:alphaModFix amt="51000"/>
            </a:blip>
            <a:stretch>
              <a:fillRect l="0" t="0" r="0" b="0"/>
            </a:stretch>
          </a:blipFill>
        </p:spPr>
      </p:sp>
      <p:sp>
        <p:nvSpPr>
          <p:cNvPr name="Freeform 7" id="7"/>
          <p:cNvSpPr/>
          <p:nvPr/>
        </p:nvSpPr>
        <p:spPr>
          <a:xfrm flipH="false" flipV="false" rot="0">
            <a:off x="3790471" y="2729654"/>
            <a:ext cx="6805687" cy="6797180"/>
          </a:xfrm>
          <a:custGeom>
            <a:avLst/>
            <a:gdLst/>
            <a:ahLst/>
            <a:cxnLst/>
            <a:rect r="r" b="b" t="t" l="l"/>
            <a:pathLst>
              <a:path h="6797180" w="6805687">
                <a:moveTo>
                  <a:pt x="0" y="0"/>
                </a:moveTo>
                <a:lnTo>
                  <a:pt x="6805687" y="0"/>
                </a:lnTo>
                <a:lnTo>
                  <a:pt x="6805687" y="6797180"/>
                </a:lnTo>
                <a:lnTo>
                  <a:pt x="0" y="6797180"/>
                </a:lnTo>
                <a:lnTo>
                  <a:pt x="0" y="0"/>
                </a:lnTo>
                <a:close/>
              </a:path>
            </a:pathLst>
          </a:custGeom>
          <a:blipFill>
            <a:blip r:embed="rId3">
              <a:alphaModFix amt="51000"/>
            </a:blip>
            <a:stretch>
              <a:fillRect l="0" t="0" r="0" b="0"/>
            </a:stretch>
          </a:blipFill>
        </p:spPr>
      </p:sp>
      <p:sp>
        <p:nvSpPr>
          <p:cNvPr name="Freeform 8" id="8"/>
          <p:cNvSpPr/>
          <p:nvPr/>
        </p:nvSpPr>
        <p:spPr>
          <a:xfrm flipH="false" flipV="false" rot="0">
            <a:off x="7811843" y="2870695"/>
            <a:ext cx="6805687" cy="6797180"/>
          </a:xfrm>
          <a:custGeom>
            <a:avLst/>
            <a:gdLst/>
            <a:ahLst/>
            <a:cxnLst/>
            <a:rect r="r" b="b" t="t" l="l"/>
            <a:pathLst>
              <a:path h="6797180" w="6805687">
                <a:moveTo>
                  <a:pt x="0" y="0"/>
                </a:moveTo>
                <a:lnTo>
                  <a:pt x="6805687" y="0"/>
                </a:lnTo>
                <a:lnTo>
                  <a:pt x="6805687" y="6797180"/>
                </a:lnTo>
                <a:lnTo>
                  <a:pt x="0" y="6797180"/>
                </a:lnTo>
                <a:lnTo>
                  <a:pt x="0" y="0"/>
                </a:lnTo>
                <a:close/>
              </a:path>
            </a:pathLst>
          </a:custGeom>
          <a:blipFill>
            <a:blip r:embed="rId3">
              <a:alphaModFix amt="51000"/>
            </a:blip>
            <a:stretch>
              <a:fillRect l="0" t="0" r="0" b="0"/>
            </a:stretch>
          </a:blipFill>
        </p:spPr>
      </p:sp>
      <p:sp>
        <p:nvSpPr>
          <p:cNvPr name="Freeform 9" id="9"/>
          <p:cNvSpPr/>
          <p:nvPr/>
        </p:nvSpPr>
        <p:spPr>
          <a:xfrm flipH="false" flipV="false" rot="0">
            <a:off x="-434292" y="2757427"/>
            <a:ext cx="6805687" cy="6797180"/>
          </a:xfrm>
          <a:custGeom>
            <a:avLst/>
            <a:gdLst/>
            <a:ahLst/>
            <a:cxnLst/>
            <a:rect r="r" b="b" t="t" l="l"/>
            <a:pathLst>
              <a:path h="6797180" w="6805687">
                <a:moveTo>
                  <a:pt x="0" y="0"/>
                </a:moveTo>
                <a:lnTo>
                  <a:pt x="6805687" y="0"/>
                </a:lnTo>
                <a:lnTo>
                  <a:pt x="6805687" y="6797179"/>
                </a:lnTo>
                <a:lnTo>
                  <a:pt x="0" y="6797179"/>
                </a:lnTo>
                <a:lnTo>
                  <a:pt x="0" y="0"/>
                </a:lnTo>
                <a:close/>
              </a:path>
            </a:pathLst>
          </a:custGeom>
          <a:blipFill>
            <a:blip r:embed="rId3">
              <a:alphaModFix amt="51000"/>
            </a:blip>
            <a:stretch>
              <a:fillRect l="0" t="0" r="0" b="0"/>
            </a:stretch>
          </a:blipFill>
        </p:spPr>
      </p:sp>
      <p:sp>
        <p:nvSpPr>
          <p:cNvPr name="Freeform 10" id="10"/>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4">
              <a:alphaModFix amt="21999"/>
            </a:blip>
            <a:stretch>
              <a:fillRect l="0" t="0" r="0" b="0"/>
            </a:stretch>
          </a:blipFill>
        </p:spPr>
      </p:sp>
      <p:sp>
        <p:nvSpPr>
          <p:cNvPr name="Freeform 11" id="11"/>
          <p:cNvSpPr/>
          <p:nvPr/>
        </p:nvSpPr>
        <p:spPr>
          <a:xfrm flipH="false" flipV="false" rot="0">
            <a:off x="4245844" y="5365213"/>
            <a:ext cx="5430835" cy="2559281"/>
          </a:xfrm>
          <a:custGeom>
            <a:avLst/>
            <a:gdLst/>
            <a:ahLst/>
            <a:cxnLst/>
            <a:rect r="r" b="b" t="t" l="l"/>
            <a:pathLst>
              <a:path h="2559281" w="5430835">
                <a:moveTo>
                  <a:pt x="0" y="0"/>
                </a:moveTo>
                <a:lnTo>
                  <a:pt x="5430835" y="0"/>
                </a:lnTo>
                <a:lnTo>
                  <a:pt x="5430835" y="2559281"/>
                </a:lnTo>
                <a:lnTo>
                  <a:pt x="0" y="25592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80496" y="5365213"/>
            <a:ext cx="5430835" cy="2559281"/>
          </a:xfrm>
          <a:custGeom>
            <a:avLst/>
            <a:gdLst/>
            <a:ahLst/>
            <a:cxnLst/>
            <a:rect r="r" b="b" t="t" l="l"/>
            <a:pathLst>
              <a:path h="2559281" w="5430835">
                <a:moveTo>
                  <a:pt x="0" y="0"/>
                </a:moveTo>
                <a:lnTo>
                  <a:pt x="5430835" y="0"/>
                </a:lnTo>
                <a:lnTo>
                  <a:pt x="5430835" y="2559281"/>
                </a:lnTo>
                <a:lnTo>
                  <a:pt x="0" y="25592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8499268" y="5365213"/>
            <a:ext cx="5430835" cy="2559281"/>
          </a:xfrm>
          <a:custGeom>
            <a:avLst/>
            <a:gdLst/>
            <a:ahLst/>
            <a:cxnLst/>
            <a:rect r="r" b="b" t="t" l="l"/>
            <a:pathLst>
              <a:path h="2559281" w="5430835">
                <a:moveTo>
                  <a:pt x="0" y="0"/>
                </a:moveTo>
                <a:lnTo>
                  <a:pt x="5430836" y="0"/>
                </a:lnTo>
                <a:lnTo>
                  <a:pt x="5430836" y="2559281"/>
                </a:lnTo>
                <a:lnTo>
                  <a:pt x="0" y="25592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12604031" y="5365213"/>
            <a:ext cx="5430835" cy="2559281"/>
          </a:xfrm>
          <a:custGeom>
            <a:avLst/>
            <a:gdLst/>
            <a:ahLst/>
            <a:cxnLst/>
            <a:rect r="r" b="b" t="t" l="l"/>
            <a:pathLst>
              <a:path h="2559281" w="5430835">
                <a:moveTo>
                  <a:pt x="0" y="0"/>
                </a:moveTo>
                <a:lnTo>
                  <a:pt x="5430836" y="0"/>
                </a:lnTo>
                <a:lnTo>
                  <a:pt x="5430836" y="2559281"/>
                </a:lnTo>
                <a:lnTo>
                  <a:pt x="0" y="25592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6363806" y="4654672"/>
            <a:ext cx="1487566" cy="1487566"/>
            <a:chOff x="0" y="0"/>
            <a:chExt cx="588434" cy="588434"/>
          </a:xfrm>
        </p:grpSpPr>
        <p:sp>
          <p:nvSpPr>
            <p:cNvPr name="Freeform 16" id="16"/>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7" id="17"/>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18" id="18"/>
          <p:cNvGrpSpPr/>
          <p:nvPr/>
        </p:nvGrpSpPr>
        <p:grpSpPr>
          <a:xfrm rot="0">
            <a:off x="5554104" y="5859345"/>
            <a:ext cx="3106972" cy="847868"/>
            <a:chOff x="0" y="0"/>
            <a:chExt cx="1229020" cy="335390"/>
          </a:xfrm>
        </p:grpSpPr>
        <p:sp>
          <p:nvSpPr>
            <p:cNvPr name="Freeform 19" id="19"/>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20" id="20"/>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grpSp>
        <p:nvGrpSpPr>
          <p:cNvPr name="Group 21" id="21"/>
          <p:cNvGrpSpPr/>
          <p:nvPr/>
        </p:nvGrpSpPr>
        <p:grpSpPr>
          <a:xfrm rot="0">
            <a:off x="14575666" y="4640678"/>
            <a:ext cx="1487566" cy="1487566"/>
            <a:chOff x="0" y="0"/>
            <a:chExt cx="588434" cy="588434"/>
          </a:xfrm>
        </p:grpSpPr>
        <p:sp>
          <p:nvSpPr>
            <p:cNvPr name="Freeform 22" id="22"/>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3" id="23"/>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4" id="24"/>
          <p:cNvGrpSpPr/>
          <p:nvPr/>
        </p:nvGrpSpPr>
        <p:grpSpPr>
          <a:xfrm rot="0">
            <a:off x="13765963" y="5845351"/>
            <a:ext cx="3106972" cy="847868"/>
            <a:chOff x="0" y="0"/>
            <a:chExt cx="1229020" cy="335390"/>
          </a:xfrm>
        </p:grpSpPr>
        <p:sp>
          <p:nvSpPr>
            <p:cNvPr name="Freeform 25" id="25"/>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26" id="26"/>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Freeform 27" id="27"/>
          <p:cNvSpPr/>
          <p:nvPr/>
        </p:nvSpPr>
        <p:spPr>
          <a:xfrm flipH="true" flipV="false" rot="0">
            <a:off x="11348660" y="5365213"/>
            <a:ext cx="1664801" cy="584194"/>
          </a:xfrm>
          <a:custGeom>
            <a:avLst/>
            <a:gdLst/>
            <a:ahLst/>
            <a:cxnLst/>
            <a:rect r="r" b="b" t="t" l="l"/>
            <a:pathLst>
              <a:path h="584194" w="1664801">
                <a:moveTo>
                  <a:pt x="1664801" y="0"/>
                </a:moveTo>
                <a:lnTo>
                  <a:pt x="0" y="0"/>
                </a:lnTo>
                <a:lnTo>
                  <a:pt x="0" y="584194"/>
                </a:lnTo>
                <a:lnTo>
                  <a:pt x="1664801" y="584194"/>
                </a:lnTo>
                <a:lnTo>
                  <a:pt x="1664801"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8" id="28"/>
          <p:cNvGrpSpPr/>
          <p:nvPr/>
        </p:nvGrpSpPr>
        <p:grpSpPr>
          <a:xfrm rot="0">
            <a:off x="10470903" y="4640678"/>
            <a:ext cx="1487566" cy="1487566"/>
            <a:chOff x="0" y="0"/>
            <a:chExt cx="588434" cy="588434"/>
          </a:xfrm>
        </p:grpSpPr>
        <p:sp>
          <p:nvSpPr>
            <p:cNvPr name="Freeform 29" id="29"/>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30" id="30"/>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31" id="31"/>
          <p:cNvGrpSpPr/>
          <p:nvPr/>
        </p:nvGrpSpPr>
        <p:grpSpPr>
          <a:xfrm rot="0">
            <a:off x="9661200" y="5845351"/>
            <a:ext cx="3106972" cy="847868"/>
            <a:chOff x="0" y="0"/>
            <a:chExt cx="1229020" cy="335390"/>
          </a:xfrm>
        </p:grpSpPr>
        <p:sp>
          <p:nvSpPr>
            <p:cNvPr name="Freeform 32" id="32"/>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33" id="33"/>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Freeform 34" id="34"/>
          <p:cNvSpPr/>
          <p:nvPr/>
        </p:nvSpPr>
        <p:spPr>
          <a:xfrm flipH="false" flipV="false" rot="0">
            <a:off x="10805329" y="4940290"/>
            <a:ext cx="816380" cy="816380"/>
          </a:xfrm>
          <a:custGeom>
            <a:avLst/>
            <a:gdLst/>
            <a:ahLst/>
            <a:cxnLst/>
            <a:rect r="r" b="b" t="t" l="l"/>
            <a:pathLst>
              <a:path h="816380" w="816380">
                <a:moveTo>
                  <a:pt x="0" y="0"/>
                </a:moveTo>
                <a:lnTo>
                  <a:pt x="816380" y="0"/>
                </a:lnTo>
                <a:lnTo>
                  <a:pt x="816380" y="816380"/>
                </a:lnTo>
                <a:lnTo>
                  <a:pt x="0" y="8163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true" rot="0">
            <a:off x="2030420" y="4399371"/>
            <a:ext cx="1664801" cy="584194"/>
          </a:xfrm>
          <a:custGeom>
            <a:avLst/>
            <a:gdLst/>
            <a:ahLst/>
            <a:cxnLst/>
            <a:rect r="r" b="b" t="t" l="l"/>
            <a:pathLst>
              <a:path h="584194" w="1664801">
                <a:moveTo>
                  <a:pt x="0" y="584194"/>
                </a:moveTo>
                <a:lnTo>
                  <a:pt x="1664801" y="584194"/>
                </a:lnTo>
                <a:lnTo>
                  <a:pt x="1664801" y="0"/>
                </a:lnTo>
                <a:lnTo>
                  <a:pt x="0" y="0"/>
                </a:lnTo>
                <a:lnTo>
                  <a:pt x="0" y="584194"/>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36" id="36"/>
          <p:cNvGrpSpPr/>
          <p:nvPr/>
        </p:nvGrpSpPr>
        <p:grpSpPr>
          <a:xfrm rot="0">
            <a:off x="2224768" y="4640678"/>
            <a:ext cx="1487566" cy="1487566"/>
            <a:chOff x="0" y="0"/>
            <a:chExt cx="588434" cy="588434"/>
          </a:xfrm>
        </p:grpSpPr>
        <p:sp>
          <p:nvSpPr>
            <p:cNvPr name="Freeform 37" id="37"/>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38" id="38"/>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39" id="39"/>
          <p:cNvGrpSpPr/>
          <p:nvPr/>
        </p:nvGrpSpPr>
        <p:grpSpPr>
          <a:xfrm rot="0">
            <a:off x="1415065" y="5845351"/>
            <a:ext cx="3106972" cy="847868"/>
            <a:chOff x="0" y="0"/>
            <a:chExt cx="1229020" cy="335390"/>
          </a:xfrm>
        </p:grpSpPr>
        <p:sp>
          <p:nvSpPr>
            <p:cNvPr name="Freeform 40" id="40"/>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41" id="41"/>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Freeform 42" id="42"/>
          <p:cNvSpPr/>
          <p:nvPr/>
        </p:nvSpPr>
        <p:spPr>
          <a:xfrm flipH="true" flipV="true" rot="0">
            <a:off x="14487048" y="4364056"/>
            <a:ext cx="1664801" cy="584194"/>
          </a:xfrm>
          <a:custGeom>
            <a:avLst/>
            <a:gdLst/>
            <a:ahLst/>
            <a:cxnLst/>
            <a:rect r="r" b="b" t="t" l="l"/>
            <a:pathLst>
              <a:path h="584194" w="1664801">
                <a:moveTo>
                  <a:pt x="1664802" y="584194"/>
                </a:moveTo>
                <a:lnTo>
                  <a:pt x="0" y="584194"/>
                </a:lnTo>
                <a:lnTo>
                  <a:pt x="0" y="0"/>
                </a:lnTo>
                <a:lnTo>
                  <a:pt x="1664802" y="0"/>
                </a:lnTo>
                <a:lnTo>
                  <a:pt x="1664802" y="584194"/>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3" id="43"/>
          <p:cNvSpPr/>
          <p:nvPr/>
        </p:nvSpPr>
        <p:spPr>
          <a:xfrm flipH="true" flipV="true" rot="0">
            <a:off x="5296460" y="5571822"/>
            <a:ext cx="1664801" cy="584194"/>
          </a:xfrm>
          <a:custGeom>
            <a:avLst/>
            <a:gdLst/>
            <a:ahLst/>
            <a:cxnLst/>
            <a:rect r="r" b="b" t="t" l="l"/>
            <a:pathLst>
              <a:path h="584194" w="1664801">
                <a:moveTo>
                  <a:pt x="1664801" y="584194"/>
                </a:moveTo>
                <a:lnTo>
                  <a:pt x="0" y="584194"/>
                </a:lnTo>
                <a:lnTo>
                  <a:pt x="0" y="0"/>
                </a:lnTo>
                <a:lnTo>
                  <a:pt x="1664801" y="0"/>
                </a:lnTo>
                <a:lnTo>
                  <a:pt x="1664801" y="584194"/>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4" id="44"/>
          <p:cNvSpPr/>
          <p:nvPr/>
        </p:nvSpPr>
        <p:spPr>
          <a:xfrm flipH="false" flipV="false" rot="0">
            <a:off x="2622829" y="4973756"/>
            <a:ext cx="710495" cy="782914"/>
          </a:xfrm>
          <a:custGeom>
            <a:avLst/>
            <a:gdLst/>
            <a:ahLst/>
            <a:cxnLst/>
            <a:rect r="r" b="b" t="t" l="l"/>
            <a:pathLst>
              <a:path h="782914" w="710495">
                <a:moveTo>
                  <a:pt x="0" y="0"/>
                </a:moveTo>
                <a:lnTo>
                  <a:pt x="710495" y="0"/>
                </a:lnTo>
                <a:lnTo>
                  <a:pt x="710495" y="782914"/>
                </a:lnTo>
                <a:lnTo>
                  <a:pt x="0" y="78291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5" id="45"/>
          <p:cNvSpPr/>
          <p:nvPr/>
        </p:nvSpPr>
        <p:spPr>
          <a:xfrm flipH="false" flipV="false" rot="0">
            <a:off x="6747295" y="4957775"/>
            <a:ext cx="739639" cy="739639"/>
          </a:xfrm>
          <a:custGeom>
            <a:avLst/>
            <a:gdLst/>
            <a:ahLst/>
            <a:cxnLst/>
            <a:rect r="r" b="b" t="t" l="l"/>
            <a:pathLst>
              <a:path h="739639" w="739639">
                <a:moveTo>
                  <a:pt x="0" y="0"/>
                </a:moveTo>
                <a:lnTo>
                  <a:pt x="739639" y="0"/>
                </a:lnTo>
                <a:lnTo>
                  <a:pt x="739639" y="739639"/>
                </a:lnTo>
                <a:lnTo>
                  <a:pt x="0" y="73963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46" id="46"/>
          <p:cNvSpPr/>
          <p:nvPr/>
        </p:nvSpPr>
        <p:spPr>
          <a:xfrm flipH="false" flipV="false" rot="0">
            <a:off x="14975701" y="4983565"/>
            <a:ext cx="687495" cy="673745"/>
          </a:xfrm>
          <a:custGeom>
            <a:avLst/>
            <a:gdLst/>
            <a:ahLst/>
            <a:cxnLst/>
            <a:rect r="r" b="b" t="t" l="l"/>
            <a:pathLst>
              <a:path h="673745" w="687495">
                <a:moveTo>
                  <a:pt x="0" y="0"/>
                </a:moveTo>
                <a:lnTo>
                  <a:pt x="687495" y="0"/>
                </a:lnTo>
                <a:lnTo>
                  <a:pt x="687495" y="673745"/>
                </a:lnTo>
                <a:lnTo>
                  <a:pt x="0" y="67374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47" id="47"/>
          <p:cNvSpPr txBox="true"/>
          <p:nvPr/>
        </p:nvSpPr>
        <p:spPr>
          <a:xfrm rot="0">
            <a:off x="10147591" y="6097105"/>
            <a:ext cx="2134190" cy="325311"/>
          </a:xfrm>
          <a:prstGeom prst="rect">
            <a:avLst/>
          </a:prstGeom>
        </p:spPr>
        <p:txBody>
          <a:bodyPr anchor="t" rtlCol="false" tIns="0" lIns="0" bIns="0" rIns="0">
            <a:spAutoFit/>
          </a:bodyPr>
          <a:lstStyle/>
          <a:p>
            <a:pPr algn="ctr">
              <a:lnSpc>
                <a:spcPts val="2436"/>
              </a:lnSpc>
              <a:spcBef>
                <a:spcPct val="0"/>
              </a:spcBef>
            </a:pPr>
            <a:r>
              <a:rPr lang="en-US" b="true" sz="2030">
                <a:solidFill>
                  <a:srgbClr val="000000"/>
                </a:solidFill>
                <a:latin typeface="Poppins Bold"/>
                <a:ea typeface="Poppins Bold"/>
                <a:cs typeface="Poppins Bold"/>
                <a:sym typeface="Poppins Bold"/>
              </a:rPr>
              <a:t>Building Profiles</a:t>
            </a:r>
          </a:p>
        </p:txBody>
      </p:sp>
      <p:sp>
        <p:nvSpPr>
          <p:cNvPr name="TextBox 48" id="48"/>
          <p:cNvSpPr txBox="true"/>
          <p:nvPr/>
        </p:nvSpPr>
        <p:spPr>
          <a:xfrm rot="0">
            <a:off x="1773008" y="6097105"/>
            <a:ext cx="2391087" cy="325311"/>
          </a:xfrm>
          <a:prstGeom prst="rect">
            <a:avLst/>
          </a:prstGeom>
        </p:spPr>
        <p:txBody>
          <a:bodyPr anchor="t" rtlCol="false" tIns="0" lIns="0" bIns="0" rIns="0">
            <a:spAutoFit/>
          </a:bodyPr>
          <a:lstStyle/>
          <a:p>
            <a:pPr algn="ctr">
              <a:lnSpc>
                <a:spcPts val="2436"/>
              </a:lnSpc>
              <a:spcBef>
                <a:spcPct val="0"/>
              </a:spcBef>
            </a:pPr>
            <a:r>
              <a:rPr lang="en-US" b="true" sz="2030">
                <a:solidFill>
                  <a:srgbClr val="000000"/>
                </a:solidFill>
                <a:latin typeface="Poppins Bold"/>
                <a:ea typeface="Poppins Bold"/>
                <a:cs typeface="Poppins Bold"/>
                <a:sym typeface="Poppins Bold"/>
              </a:rPr>
              <a:t>Collecting Signals</a:t>
            </a:r>
          </a:p>
        </p:txBody>
      </p:sp>
      <p:sp>
        <p:nvSpPr>
          <p:cNvPr name="TextBox 49" id="49"/>
          <p:cNvSpPr txBox="true"/>
          <p:nvPr/>
        </p:nvSpPr>
        <p:spPr>
          <a:xfrm rot="0">
            <a:off x="1868076" y="2383791"/>
            <a:ext cx="8521570" cy="782319"/>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SIGNALS TH</a:t>
            </a:r>
            <a:r>
              <a:rPr lang="en-US" sz="2200" i="true" spc="528">
                <a:solidFill>
                  <a:srgbClr val="F6F6F6"/>
                </a:solidFill>
                <a:latin typeface="Poppins Italics"/>
                <a:ea typeface="Poppins Italics"/>
                <a:cs typeface="Poppins Italics"/>
                <a:sym typeface="Poppins Italics"/>
              </a:rPr>
              <a:t>AT REVEAL</a:t>
            </a:r>
            <a:r>
              <a:rPr lang="en-US" b="true" sz="2200" i="true" spc="528">
                <a:solidFill>
                  <a:srgbClr val="A0EEEB"/>
                </a:solidFill>
                <a:latin typeface="Poppins Ultra-Bold Italics"/>
                <a:ea typeface="Poppins Ultra-Bold Italics"/>
                <a:cs typeface="Poppins Ultra-Bold Italics"/>
                <a:sym typeface="Poppins Ultra-Bold Italics"/>
              </a:rPr>
              <a:t> WHEN CUSTOMERS ARE READY TO BUY.</a:t>
            </a:r>
          </a:p>
        </p:txBody>
      </p:sp>
      <p:sp>
        <p:nvSpPr>
          <p:cNvPr name="TextBox 50" id="50"/>
          <p:cNvSpPr txBox="true"/>
          <p:nvPr/>
        </p:nvSpPr>
        <p:spPr>
          <a:xfrm rot="0">
            <a:off x="1868076" y="1343025"/>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Wha</a:t>
            </a:r>
            <a:r>
              <a:rPr lang="en-US" b="true" sz="5253">
                <a:solidFill>
                  <a:srgbClr val="F6F6F6"/>
                </a:solidFill>
                <a:latin typeface="Poppins Semi-Bold"/>
                <a:ea typeface="Poppins Semi-Bold"/>
                <a:cs typeface="Poppins Semi-Bold"/>
                <a:sym typeface="Poppins Semi-Bold"/>
              </a:rPr>
              <a:t>t is Intent Data?</a:t>
            </a:r>
          </a:p>
        </p:txBody>
      </p:sp>
      <p:sp>
        <p:nvSpPr>
          <p:cNvPr name="TextBox 51" id="51"/>
          <p:cNvSpPr txBox="true"/>
          <p:nvPr/>
        </p:nvSpPr>
        <p:spPr>
          <a:xfrm rot="0">
            <a:off x="1415065" y="6941598"/>
            <a:ext cx="3106972" cy="781050"/>
          </a:xfrm>
          <a:prstGeom prst="rect">
            <a:avLst/>
          </a:prstGeom>
        </p:spPr>
        <p:txBody>
          <a:bodyPr anchor="t" rtlCol="false" tIns="0" lIns="0" bIns="0" rIns="0">
            <a:spAutoFit/>
          </a:bodyPr>
          <a:lstStyle/>
          <a:p>
            <a:pPr algn="ctr">
              <a:lnSpc>
                <a:spcPts val="2076"/>
              </a:lnSpc>
              <a:spcBef>
                <a:spcPct val="0"/>
              </a:spcBef>
            </a:pPr>
            <a:r>
              <a:rPr lang="en-US" b="true" sz="1730">
                <a:solidFill>
                  <a:srgbClr val="FFFFFF"/>
                </a:solidFill>
                <a:latin typeface="Poppins Medium"/>
                <a:ea typeface="Poppins Medium"/>
                <a:cs typeface="Poppins Medium"/>
                <a:sym typeface="Poppins Medium"/>
              </a:rPr>
              <a:t>Online</a:t>
            </a:r>
            <a:r>
              <a:rPr lang="en-US" b="true" sz="1730">
                <a:solidFill>
                  <a:srgbClr val="FFFFFF"/>
                </a:solidFill>
                <a:latin typeface="Poppins Medium"/>
                <a:ea typeface="Poppins Medium"/>
                <a:cs typeface="Poppins Medium"/>
                <a:sym typeface="Poppins Medium"/>
              </a:rPr>
              <a:t> activity, searches, and buying behaviors tracked daily.</a:t>
            </a:r>
          </a:p>
        </p:txBody>
      </p:sp>
      <p:sp>
        <p:nvSpPr>
          <p:cNvPr name="TextBox 52" id="52"/>
          <p:cNvSpPr txBox="true"/>
          <p:nvPr/>
        </p:nvSpPr>
        <p:spPr>
          <a:xfrm rot="0">
            <a:off x="5554104" y="6955592"/>
            <a:ext cx="3106972" cy="523875"/>
          </a:xfrm>
          <a:prstGeom prst="rect">
            <a:avLst/>
          </a:prstGeom>
        </p:spPr>
        <p:txBody>
          <a:bodyPr anchor="t" rtlCol="false" tIns="0" lIns="0" bIns="0" rIns="0">
            <a:spAutoFit/>
          </a:bodyPr>
          <a:lstStyle/>
          <a:p>
            <a:pPr algn="ctr">
              <a:lnSpc>
                <a:spcPts val="2076"/>
              </a:lnSpc>
              <a:spcBef>
                <a:spcPct val="0"/>
              </a:spcBef>
            </a:pPr>
            <a:r>
              <a:rPr lang="en-US" b="true" sz="1730">
                <a:solidFill>
                  <a:srgbClr val="FFFFFF"/>
                </a:solidFill>
                <a:latin typeface="Poppins Medium"/>
                <a:ea typeface="Poppins Medium"/>
                <a:cs typeface="Poppins Medium"/>
                <a:sym typeface="Poppins Medium"/>
              </a:rPr>
              <a:t>F</a:t>
            </a:r>
            <a:r>
              <a:rPr lang="en-US" b="true" sz="1730">
                <a:solidFill>
                  <a:srgbClr val="FFFFFF"/>
                </a:solidFill>
                <a:latin typeface="Poppins Medium"/>
                <a:ea typeface="Poppins Medium"/>
                <a:cs typeface="Poppins Medium"/>
                <a:sym typeface="Poppins Medium"/>
              </a:rPr>
              <a:t>ilters genuine purchase intent vs. casual browsing.</a:t>
            </a:r>
          </a:p>
        </p:txBody>
      </p:sp>
      <p:sp>
        <p:nvSpPr>
          <p:cNvPr name="TextBox 53" id="53"/>
          <p:cNvSpPr txBox="true"/>
          <p:nvPr/>
        </p:nvSpPr>
        <p:spPr>
          <a:xfrm rot="0">
            <a:off x="9661200" y="6941598"/>
            <a:ext cx="3106972" cy="781050"/>
          </a:xfrm>
          <a:prstGeom prst="rect">
            <a:avLst/>
          </a:prstGeom>
        </p:spPr>
        <p:txBody>
          <a:bodyPr anchor="t" rtlCol="false" tIns="0" lIns="0" bIns="0" rIns="0">
            <a:spAutoFit/>
          </a:bodyPr>
          <a:lstStyle/>
          <a:p>
            <a:pPr algn="ctr">
              <a:lnSpc>
                <a:spcPts val="2076"/>
              </a:lnSpc>
              <a:spcBef>
                <a:spcPct val="0"/>
              </a:spcBef>
            </a:pPr>
            <a:r>
              <a:rPr lang="en-US" b="true" sz="1730">
                <a:solidFill>
                  <a:srgbClr val="FFFFFF"/>
                </a:solidFill>
                <a:latin typeface="Poppins Medium"/>
                <a:ea typeface="Poppins Medium"/>
                <a:cs typeface="Poppins Medium"/>
                <a:sym typeface="Poppins Medium"/>
              </a:rPr>
              <a:t>C</a:t>
            </a:r>
            <a:r>
              <a:rPr lang="en-US" b="true" sz="1730">
                <a:solidFill>
                  <a:srgbClr val="FFFFFF"/>
                </a:solidFill>
                <a:latin typeface="Poppins Medium"/>
                <a:ea typeface="Poppins Medium"/>
                <a:cs typeface="Poppins Medium"/>
                <a:sym typeface="Poppins Medium"/>
              </a:rPr>
              <a:t>onnects data across platforms into actionable buyer insights.</a:t>
            </a:r>
          </a:p>
        </p:txBody>
      </p:sp>
      <p:sp>
        <p:nvSpPr>
          <p:cNvPr name="TextBox 54" id="54"/>
          <p:cNvSpPr txBox="true"/>
          <p:nvPr/>
        </p:nvSpPr>
        <p:spPr>
          <a:xfrm rot="0">
            <a:off x="14327156" y="6097105"/>
            <a:ext cx="1984586" cy="325311"/>
          </a:xfrm>
          <a:prstGeom prst="rect">
            <a:avLst/>
          </a:prstGeom>
        </p:spPr>
        <p:txBody>
          <a:bodyPr anchor="t" rtlCol="false" tIns="0" lIns="0" bIns="0" rIns="0">
            <a:spAutoFit/>
          </a:bodyPr>
          <a:lstStyle/>
          <a:p>
            <a:pPr algn="ctr">
              <a:lnSpc>
                <a:spcPts val="2436"/>
              </a:lnSpc>
              <a:spcBef>
                <a:spcPct val="0"/>
              </a:spcBef>
            </a:pPr>
            <a:r>
              <a:rPr lang="en-US" b="true" sz="2030">
                <a:solidFill>
                  <a:srgbClr val="000000"/>
                </a:solidFill>
                <a:latin typeface="Poppins Bold"/>
                <a:ea typeface="Poppins Bold"/>
                <a:cs typeface="Poppins Bold"/>
                <a:sym typeface="Poppins Bold"/>
              </a:rPr>
              <a:t>Driving R</a:t>
            </a:r>
            <a:r>
              <a:rPr lang="en-US" b="true" sz="2030">
                <a:solidFill>
                  <a:srgbClr val="000000"/>
                </a:solidFill>
                <a:latin typeface="Poppins Bold"/>
                <a:ea typeface="Poppins Bold"/>
                <a:cs typeface="Poppins Bold"/>
                <a:sym typeface="Poppins Bold"/>
              </a:rPr>
              <a:t>esults</a:t>
            </a:r>
          </a:p>
        </p:txBody>
      </p:sp>
      <p:sp>
        <p:nvSpPr>
          <p:cNvPr name="TextBox 55" id="55"/>
          <p:cNvSpPr txBox="true"/>
          <p:nvPr/>
        </p:nvSpPr>
        <p:spPr>
          <a:xfrm rot="0">
            <a:off x="13765963" y="6941598"/>
            <a:ext cx="3106972" cy="781050"/>
          </a:xfrm>
          <a:prstGeom prst="rect">
            <a:avLst/>
          </a:prstGeom>
        </p:spPr>
        <p:txBody>
          <a:bodyPr anchor="t" rtlCol="false" tIns="0" lIns="0" bIns="0" rIns="0">
            <a:spAutoFit/>
          </a:bodyPr>
          <a:lstStyle/>
          <a:p>
            <a:pPr algn="ctr">
              <a:lnSpc>
                <a:spcPts val="2076"/>
              </a:lnSpc>
              <a:spcBef>
                <a:spcPct val="0"/>
              </a:spcBef>
            </a:pPr>
            <a:r>
              <a:rPr lang="en-US" b="true" sz="1730">
                <a:solidFill>
                  <a:srgbClr val="FFFFFF"/>
                </a:solidFill>
                <a:latin typeface="Poppins Medium"/>
                <a:ea typeface="Poppins Medium"/>
                <a:cs typeface="Poppins Medium"/>
                <a:sym typeface="Poppins Medium"/>
              </a:rPr>
              <a:t>Use </a:t>
            </a:r>
            <a:r>
              <a:rPr lang="en-US" b="true" sz="1730">
                <a:solidFill>
                  <a:srgbClr val="FFFFFF"/>
                </a:solidFill>
                <a:latin typeface="Poppins Medium"/>
                <a:ea typeface="Poppins Medium"/>
                <a:cs typeface="Poppins Medium"/>
                <a:sym typeface="Poppins Medium"/>
              </a:rPr>
              <a:t>insights to target the right people at the right time.</a:t>
            </a:r>
          </a:p>
        </p:txBody>
      </p:sp>
      <p:sp>
        <p:nvSpPr>
          <p:cNvPr name="TextBox 56" id="56"/>
          <p:cNvSpPr txBox="true"/>
          <p:nvPr/>
        </p:nvSpPr>
        <p:spPr>
          <a:xfrm rot="0">
            <a:off x="5522162" y="6111099"/>
            <a:ext cx="3138913" cy="325311"/>
          </a:xfrm>
          <a:prstGeom prst="rect">
            <a:avLst/>
          </a:prstGeom>
        </p:spPr>
        <p:txBody>
          <a:bodyPr anchor="t" rtlCol="false" tIns="0" lIns="0" bIns="0" rIns="0">
            <a:spAutoFit/>
          </a:bodyPr>
          <a:lstStyle/>
          <a:p>
            <a:pPr algn="ctr">
              <a:lnSpc>
                <a:spcPts val="2436"/>
              </a:lnSpc>
              <a:spcBef>
                <a:spcPct val="0"/>
              </a:spcBef>
            </a:pPr>
            <a:r>
              <a:rPr lang="en-US" b="true" sz="2030">
                <a:solidFill>
                  <a:srgbClr val="000000"/>
                </a:solidFill>
                <a:latin typeface="Poppins Bold"/>
                <a:ea typeface="Poppins Bold"/>
                <a:cs typeface="Poppins Bold"/>
                <a:sym typeface="Poppins Bold"/>
              </a:rPr>
              <a:t>Scoring Intent</a:t>
            </a:r>
          </a:p>
        </p:txBody>
      </p:sp>
      <p:sp>
        <p:nvSpPr>
          <p:cNvPr name="TextBox 57" id="57"/>
          <p:cNvSpPr txBox="true"/>
          <p:nvPr/>
        </p:nvSpPr>
        <p:spPr>
          <a:xfrm rot="0">
            <a:off x="1872904" y="8604839"/>
            <a:ext cx="8136189" cy="354330"/>
          </a:xfrm>
          <a:prstGeom prst="rect">
            <a:avLst/>
          </a:prstGeom>
        </p:spPr>
        <p:txBody>
          <a:bodyPr anchor="t" rtlCol="false" tIns="0" lIns="0" bIns="0" rIns="0">
            <a:spAutoFit/>
          </a:bodyPr>
          <a:lstStyle/>
          <a:p>
            <a:pPr algn="l" marL="0" indent="0" lvl="0">
              <a:lnSpc>
                <a:spcPts val="2730"/>
              </a:lnSpc>
              <a:spcBef>
                <a:spcPct val="0"/>
              </a:spcBef>
            </a:pPr>
            <a:r>
              <a:rPr lang="en-US" b="true" sz="2100" spc="35">
                <a:solidFill>
                  <a:srgbClr val="D9D9D9"/>
                </a:solidFill>
                <a:latin typeface="Poppins Bold"/>
                <a:ea typeface="Poppins Bold"/>
                <a:cs typeface="Poppins Bold"/>
                <a:sym typeface="Poppins Bold"/>
              </a:rPr>
              <a:t>Ref</a:t>
            </a:r>
            <a:r>
              <a:rPr lang="en-US" b="true" sz="2100" spc="35">
                <a:solidFill>
                  <a:srgbClr val="D9D9D9"/>
                </a:solidFill>
                <a:latin typeface="Poppins Bold"/>
                <a:ea typeface="Poppins Bold"/>
                <a:cs typeface="Poppins Bold"/>
                <a:sym typeface="Poppins Bold"/>
              </a:rPr>
              <a:t>reshed daily within 1–10 days of behavior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sp>
        <p:nvSpPr>
          <p:cNvPr name="Freeform 3" id="3"/>
          <p:cNvSpPr/>
          <p:nvPr/>
        </p:nvSpPr>
        <p:spPr>
          <a:xfrm flipH="false" flipV="true" rot="0">
            <a:off x="10413368" y="4075865"/>
            <a:ext cx="1155653" cy="405529"/>
          </a:xfrm>
          <a:custGeom>
            <a:avLst/>
            <a:gdLst/>
            <a:ahLst/>
            <a:cxnLst/>
            <a:rect r="r" b="b" t="t" l="l"/>
            <a:pathLst>
              <a:path h="405529" w="1155653">
                <a:moveTo>
                  <a:pt x="0" y="405529"/>
                </a:moveTo>
                <a:lnTo>
                  <a:pt x="1155652" y="405529"/>
                </a:lnTo>
                <a:lnTo>
                  <a:pt x="1155652" y="0"/>
                </a:lnTo>
                <a:lnTo>
                  <a:pt x="0" y="0"/>
                </a:lnTo>
                <a:lnTo>
                  <a:pt x="0" y="40552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52500" y="3385185"/>
            <a:ext cx="12865394" cy="6062817"/>
          </a:xfrm>
          <a:custGeom>
            <a:avLst/>
            <a:gdLst/>
            <a:ahLst/>
            <a:cxnLst/>
            <a:rect r="r" b="b" t="t" l="l"/>
            <a:pathLst>
              <a:path h="6062817" w="12865394">
                <a:moveTo>
                  <a:pt x="0" y="0"/>
                </a:moveTo>
                <a:lnTo>
                  <a:pt x="12865394" y="0"/>
                </a:lnTo>
                <a:lnTo>
                  <a:pt x="12865394" y="6062817"/>
                </a:lnTo>
                <a:lnTo>
                  <a:pt x="0" y="60628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true" rot="0">
            <a:off x="1705457" y="4056152"/>
            <a:ext cx="1155653" cy="405529"/>
          </a:xfrm>
          <a:custGeom>
            <a:avLst/>
            <a:gdLst/>
            <a:ahLst/>
            <a:cxnLst/>
            <a:rect r="r" b="b" t="t" l="l"/>
            <a:pathLst>
              <a:path h="405529" w="1155653">
                <a:moveTo>
                  <a:pt x="0" y="405529"/>
                </a:moveTo>
                <a:lnTo>
                  <a:pt x="1155653" y="405529"/>
                </a:lnTo>
                <a:lnTo>
                  <a:pt x="1155653" y="0"/>
                </a:lnTo>
                <a:lnTo>
                  <a:pt x="0" y="0"/>
                </a:lnTo>
                <a:lnTo>
                  <a:pt x="0" y="405529"/>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828489" y="4266365"/>
            <a:ext cx="10000635" cy="1032621"/>
            <a:chOff x="0" y="0"/>
            <a:chExt cx="3248151" cy="335390"/>
          </a:xfrm>
        </p:grpSpPr>
        <p:sp>
          <p:nvSpPr>
            <p:cNvPr name="Freeform 7" id="7"/>
            <p:cNvSpPr/>
            <p:nvPr/>
          </p:nvSpPr>
          <p:spPr>
            <a:xfrm flipH="false" flipV="false" rot="0">
              <a:off x="0" y="0"/>
              <a:ext cx="3248151" cy="335390"/>
            </a:xfrm>
            <a:custGeom>
              <a:avLst/>
              <a:gdLst/>
              <a:ahLst/>
              <a:cxnLst/>
              <a:rect r="r" b="b" t="t" l="l"/>
              <a:pathLst>
                <a:path h="335390" w="3248151">
                  <a:moveTo>
                    <a:pt x="77414" y="0"/>
                  </a:moveTo>
                  <a:lnTo>
                    <a:pt x="3170737" y="0"/>
                  </a:lnTo>
                  <a:cubicBezTo>
                    <a:pt x="3191269" y="0"/>
                    <a:pt x="3210959" y="8156"/>
                    <a:pt x="3225477" y="22674"/>
                  </a:cubicBezTo>
                  <a:cubicBezTo>
                    <a:pt x="3239995" y="37192"/>
                    <a:pt x="3248151" y="56883"/>
                    <a:pt x="3248151" y="77414"/>
                  </a:cubicBezTo>
                  <a:lnTo>
                    <a:pt x="3248151" y="257975"/>
                  </a:lnTo>
                  <a:cubicBezTo>
                    <a:pt x="3248151" y="278507"/>
                    <a:pt x="3239995" y="298198"/>
                    <a:pt x="3225477" y="312716"/>
                  </a:cubicBezTo>
                  <a:cubicBezTo>
                    <a:pt x="3210959" y="327234"/>
                    <a:pt x="3191269" y="335390"/>
                    <a:pt x="3170737" y="335390"/>
                  </a:cubicBezTo>
                  <a:lnTo>
                    <a:pt x="77414" y="335390"/>
                  </a:lnTo>
                  <a:cubicBezTo>
                    <a:pt x="56883" y="335390"/>
                    <a:pt x="37192" y="327234"/>
                    <a:pt x="22674" y="312716"/>
                  </a:cubicBezTo>
                  <a:cubicBezTo>
                    <a:pt x="8156" y="298198"/>
                    <a:pt x="0" y="278507"/>
                    <a:pt x="0" y="257975"/>
                  </a:cubicBezTo>
                  <a:lnTo>
                    <a:pt x="0" y="77414"/>
                  </a:lnTo>
                  <a:cubicBezTo>
                    <a:pt x="0" y="56883"/>
                    <a:pt x="8156" y="37192"/>
                    <a:pt x="22674" y="22674"/>
                  </a:cubicBezTo>
                  <a:cubicBezTo>
                    <a:pt x="37192" y="8156"/>
                    <a:pt x="56883" y="0"/>
                    <a:pt x="77414" y="0"/>
                  </a:cubicBezTo>
                  <a:close/>
                </a:path>
              </a:pathLst>
            </a:custGeom>
            <a:solidFill>
              <a:srgbClr val="A0EEEB">
                <a:alpha val="40784"/>
              </a:srgbClr>
            </a:solidFill>
          </p:spPr>
        </p:sp>
        <p:sp>
          <p:nvSpPr>
            <p:cNvPr name="TextBox 8" id="8"/>
            <p:cNvSpPr txBox="true"/>
            <p:nvPr/>
          </p:nvSpPr>
          <p:spPr>
            <a:xfrm>
              <a:off x="0" y="-19050"/>
              <a:ext cx="3248151" cy="354440"/>
            </a:xfrm>
            <a:prstGeom prst="rect">
              <a:avLst/>
            </a:prstGeom>
          </p:spPr>
          <p:txBody>
            <a:bodyPr anchor="ctr" rtlCol="false" tIns="50800" lIns="50800" bIns="50800" rIns="50800"/>
            <a:lstStyle/>
            <a:p>
              <a:pPr algn="ctr">
                <a:lnSpc>
                  <a:spcPts val="2640"/>
                </a:lnSpc>
              </a:pPr>
            </a:p>
          </p:txBody>
        </p:sp>
      </p:grpSp>
      <p:grpSp>
        <p:nvGrpSpPr>
          <p:cNvPr name="Group 9" id="9"/>
          <p:cNvGrpSpPr/>
          <p:nvPr/>
        </p:nvGrpSpPr>
        <p:grpSpPr>
          <a:xfrm rot="0">
            <a:off x="1875455" y="4313331"/>
            <a:ext cx="938689" cy="938689"/>
            <a:chOff x="0" y="0"/>
            <a:chExt cx="534908" cy="534908"/>
          </a:xfrm>
        </p:grpSpPr>
        <p:sp>
          <p:nvSpPr>
            <p:cNvPr name="Freeform 10" id="10"/>
            <p:cNvSpPr/>
            <p:nvPr/>
          </p:nvSpPr>
          <p:spPr>
            <a:xfrm flipH="false" flipV="false" rot="0">
              <a:off x="0" y="0"/>
              <a:ext cx="534908" cy="534908"/>
            </a:xfrm>
            <a:custGeom>
              <a:avLst/>
              <a:gdLst/>
              <a:ahLst/>
              <a:cxnLst/>
              <a:rect r="r" b="b" t="t" l="l"/>
              <a:pathLst>
                <a:path h="534908" w="534908">
                  <a:moveTo>
                    <a:pt x="267454" y="0"/>
                  </a:moveTo>
                  <a:lnTo>
                    <a:pt x="267454" y="0"/>
                  </a:lnTo>
                  <a:cubicBezTo>
                    <a:pt x="338387" y="0"/>
                    <a:pt x="406415" y="28178"/>
                    <a:pt x="456572" y="78335"/>
                  </a:cubicBezTo>
                  <a:cubicBezTo>
                    <a:pt x="506729" y="128493"/>
                    <a:pt x="534908" y="196521"/>
                    <a:pt x="534908" y="267454"/>
                  </a:cubicBezTo>
                  <a:lnTo>
                    <a:pt x="534908" y="267454"/>
                  </a:lnTo>
                  <a:cubicBezTo>
                    <a:pt x="534908" y="338387"/>
                    <a:pt x="506729" y="406415"/>
                    <a:pt x="456572" y="456572"/>
                  </a:cubicBezTo>
                  <a:cubicBezTo>
                    <a:pt x="406415" y="506729"/>
                    <a:pt x="338387" y="534908"/>
                    <a:pt x="267454" y="534908"/>
                  </a:cubicBezTo>
                  <a:lnTo>
                    <a:pt x="267454" y="534908"/>
                  </a:lnTo>
                  <a:cubicBezTo>
                    <a:pt x="196521" y="534908"/>
                    <a:pt x="128493" y="506729"/>
                    <a:pt x="78335" y="456572"/>
                  </a:cubicBezTo>
                  <a:cubicBezTo>
                    <a:pt x="28178" y="406415"/>
                    <a:pt x="0" y="338387"/>
                    <a:pt x="0" y="267454"/>
                  </a:cubicBezTo>
                  <a:lnTo>
                    <a:pt x="0" y="267454"/>
                  </a:lnTo>
                  <a:cubicBezTo>
                    <a:pt x="0" y="196521"/>
                    <a:pt x="28178" y="128493"/>
                    <a:pt x="78335" y="78335"/>
                  </a:cubicBezTo>
                  <a:cubicBezTo>
                    <a:pt x="128493" y="28178"/>
                    <a:pt x="196521" y="0"/>
                    <a:pt x="267454" y="0"/>
                  </a:cubicBezTo>
                  <a:close/>
                </a:path>
              </a:pathLst>
            </a:custGeom>
            <a:solidFill>
              <a:srgbClr val="FFFFFF"/>
            </a:solidFill>
            <a:ln cap="rnd">
              <a:noFill/>
              <a:prstDash val="solid"/>
              <a:round/>
            </a:ln>
          </p:spPr>
        </p:sp>
        <p:sp>
          <p:nvSpPr>
            <p:cNvPr name="TextBox 11" id="11"/>
            <p:cNvSpPr txBox="true"/>
            <p:nvPr/>
          </p:nvSpPr>
          <p:spPr>
            <a:xfrm>
              <a:off x="0" y="-19050"/>
              <a:ext cx="534908" cy="553958"/>
            </a:xfrm>
            <a:prstGeom prst="rect">
              <a:avLst/>
            </a:prstGeom>
          </p:spPr>
          <p:txBody>
            <a:bodyPr anchor="ctr" rtlCol="false" tIns="50800" lIns="50800" bIns="50800" rIns="50800"/>
            <a:lstStyle/>
            <a:p>
              <a:pPr algn="ctr">
                <a:lnSpc>
                  <a:spcPts val="2640"/>
                </a:lnSpc>
              </a:pPr>
            </a:p>
          </p:txBody>
        </p:sp>
      </p:grpSp>
      <p:sp>
        <p:nvSpPr>
          <p:cNvPr name="Freeform 12" id="12"/>
          <p:cNvSpPr/>
          <p:nvPr/>
        </p:nvSpPr>
        <p:spPr>
          <a:xfrm flipH="false" flipV="false" rot="0">
            <a:off x="2136807" y="4574683"/>
            <a:ext cx="415986" cy="415986"/>
          </a:xfrm>
          <a:custGeom>
            <a:avLst/>
            <a:gdLst/>
            <a:ahLst/>
            <a:cxnLst/>
            <a:rect r="r" b="b" t="t" l="l"/>
            <a:pathLst>
              <a:path h="415986" w="415986">
                <a:moveTo>
                  <a:pt x="0" y="0"/>
                </a:moveTo>
                <a:lnTo>
                  <a:pt x="415985" y="0"/>
                </a:lnTo>
                <a:lnTo>
                  <a:pt x="415985" y="415986"/>
                </a:lnTo>
                <a:lnTo>
                  <a:pt x="0" y="415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12276670" y="1449807"/>
            <a:ext cx="7525898" cy="10284091"/>
            <a:chOff x="0" y="0"/>
            <a:chExt cx="4646930" cy="6350000"/>
          </a:xfrm>
        </p:grpSpPr>
        <p:sp>
          <p:nvSpPr>
            <p:cNvPr name="Freeform 14" id="14"/>
            <p:cNvSpPr/>
            <p:nvPr/>
          </p:nvSpPr>
          <p:spPr>
            <a:xfrm flipH="false" flipV="false" rot="0">
              <a:off x="0" y="-35560"/>
              <a:ext cx="4744720" cy="6487160"/>
            </a:xfrm>
            <a:custGeom>
              <a:avLst/>
              <a:gdLst/>
              <a:ahLst/>
              <a:cxnLst/>
              <a:rect r="r" b="b" t="t" l="l"/>
              <a:pathLst>
                <a:path h="6487160" w="4744720">
                  <a:moveTo>
                    <a:pt x="1388110" y="1718310"/>
                  </a:moveTo>
                  <a:cubicBezTo>
                    <a:pt x="1254760" y="1751330"/>
                    <a:pt x="1121410" y="1788160"/>
                    <a:pt x="990600" y="1830070"/>
                  </a:cubicBezTo>
                  <a:cubicBezTo>
                    <a:pt x="588010" y="1955800"/>
                    <a:pt x="160020" y="1731010"/>
                    <a:pt x="34290" y="1328420"/>
                  </a:cubicBezTo>
                  <a:cubicBezTo>
                    <a:pt x="11430" y="1253490"/>
                    <a:pt x="0" y="1177290"/>
                    <a:pt x="0" y="1099820"/>
                  </a:cubicBezTo>
                  <a:cubicBezTo>
                    <a:pt x="0" y="878840"/>
                    <a:pt x="130810" y="678180"/>
                    <a:pt x="334010" y="590550"/>
                  </a:cubicBezTo>
                  <a:cubicBezTo>
                    <a:pt x="1270000" y="181610"/>
                    <a:pt x="2259330" y="0"/>
                    <a:pt x="3302000" y="40640"/>
                  </a:cubicBezTo>
                  <a:cubicBezTo>
                    <a:pt x="3633470" y="53340"/>
                    <a:pt x="3923030" y="266700"/>
                    <a:pt x="4032250" y="579120"/>
                  </a:cubicBezTo>
                  <a:cubicBezTo>
                    <a:pt x="4164330" y="867410"/>
                    <a:pt x="4095750" y="1207770"/>
                    <a:pt x="3864610" y="1423670"/>
                  </a:cubicBezTo>
                  <a:lnTo>
                    <a:pt x="3619500" y="1652270"/>
                  </a:lnTo>
                  <a:cubicBezTo>
                    <a:pt x="3658870" y="1645920"/>
                    <a:pt x="3698240" y="1642110"/>
                    <a:pt x="3738880" y="1642110"/>
                  </a:cubicBezTo>
                  <a:lnTo>
                    <a:pt x="3741420" y="1642110"/>
                  </a:lnTo>
                  <a:cubicBezTo>
                    <a:pt x="3774440" y="1642110"/>
                    <a:pt x="3808730" y="1644650"/>
                    <a:pt x="3841750" y="1648460"/>
                  </a:cubicBezTo>
                  <a:lnTo>
                    <a:pt x="3844290" y="1648460"/>
                  </a:lnTo>
                  <a:cubicBezTo>
                    <a:pt x="4038600" y="1675130"/>
                    <a:pt x="4213860" y="1779270"/>
                    <a:pt x="4330700" y="1935480"/>
                  </a:cubicBezTo>
                  <a:cubicBezTo>
                    <a:pt x="4457700" y="2104390"/>
                    <a:pt x="4505960" y="2320290"/>
                    <a:pt x="4462780" y="2527300"/>
                  </a:cubicBezTo>
                  <a:lnTo>
                    <a:pt x="4462780" y="2529840"/>
                  </a:lnTo>
                  <a:cubicBezTo>
                    <a:pt x="4424680" y="2710180"/>
                    <a:pt x="4319270" y="2868930"/>
                    <a:pt x="4169410" y="2975610"/>
                  </a:cubicBezTo>
                  <a:lnTo>
                    <a:pt x="3902710" y="3175000"/>
                  </a:lnTo>
                  <a:cubicBezTo>
                    <a:pt x="4048760" y="3172460"/>
                    <a:pt x="4192270" y="3214370"/>
                    <a:pt x="4315460" y="3295650"/>
                  </a:cubicBezTo>
                  <a:cubicBezTo>
                    <a:pt x="4641850" y="3509010"/>
                    <a:pt x="4744720" y="3940810"/>
                    <a:pt x="4550410" y="4278630"/>
                  </a:cubicBezTo>
                  <a:cubicBezTo>
                    <a:pt x="4521200" y="4343400"/>
                    <a:pt x="4481830" y="4404360"/>
                    <a:pt x="4434840" y="4458970"/>
                  </a:cubicBezTo>
                  <a:lnTo>
                    <a:pt x="3392170" y="6051550"/>
                  </a:lnTo>
                  <a:cubicBezTo>
                    <a:pt x="3169920" y="6391910"/>
                    <a:pt x="2713990" y="6487160"/>
                    <a:pt x="2373630" y="6264910"/>
                  </a:cubicBezTo>
                  <a:cubicBezTo>
                    <a:pt x="2032000" y="6042660"/>
                    <a:pt x="1936750" y="5586730"/>
                    <a:pt x="2159000" y="5247640"/>
                  </a:cubicBezTo>
                  <a:lnTo>
                    <a:pt x="2325370" y="4993640"/>
                  </a:lnTo>
                  <a:lnTo>
                    <a:pt x="1177290" y="5195570"/>
                  </a:lnTo>
                  <a:cubicBezTo>
                    <a:pt x="1031240" y="5220970"/>
                    <a:pt x="880110" y="5201920"/>
                    <a:pt x="745490" y="5140960"/>
                  </a:cubicBezTo>
                  <a:cubicBezTo>
                    <a:pt x="607060" y="5092700"/>
                    <a:pt x="486410" y="5005070"/>
                    <a:pt x="398780" y="4888230"/>
                  </a:cubicBezTo>
                  <a:cubicBezTo>
                    <a:pt x="198120" y="4621530"/>
                    <a:pt x="203200" y="4253230"/>
                    <a:pt x="410210" y="3990340"/>
                  </a:cubicBezTo>
                  <a:cubicBezTo>
                    <a:pt x="330200" y="3950970"/>
                    <a:pt x="257810" y="3896360"/>
                    <a:pt x="196850" y="3831590"/>
                  </a:cubicBezTo>
                  <a:cubicBezTo>
                    <a:pt x="71120" y="3695700"/>
                    <a:pt x="0" y="3517900"/>
                    <a:pt x="0" y="3332480"/>
                  </a:cubicBezTo>
                  <a:lnTo>
                    <a:pt x="0" y="3328670"/>
                  </a:lnTo>
                  <a:cubicBezTo>
                    <a:pt x="0" y="3300730"/>
                    <a:pt x="1270" y="3274060"/>
                    <a:pt x="5080" y="3246120"/>
                  </a:cubicBezTo>
                  <a:cubicBezTo>
                    <a:pt x="25400" y="3065780"/>
                    <a:pt x="111760" y="2899410"/>
                    <a:pt x="247650" y="2778760"/>
                  </a:cubicBezTo>
                  <a:lnTo>
                    <a:pt x="1388110" y="1718310"/>
                  </a:lnTo>
                  <a:close/>
                </a:path>
              </a:pathLst>
            </a:custGeom>
            <a:blipFill>
              <a:blip r:embed="rId9"/>
              <a:stretch>
                <a:fillRect l="-74384" t="0" r="-155769" b="0"/>
              </a:stretch>
            </a:blipFill>
          </p:spPr>
        </p:sp>
      </p:grpSp>
      <p:sp>
        <p:nvSpPr>
          <p:cNvPr name="TextBox 15" id="15"/>
          <p:cNvSpPr txBox="true"/>
          <p:nvPr/>
        </p:nvSpPr>
        <p:spPr>
          <a:xfrm rot="0">
            <a:off x="1868076" y="2383791"/>
            <a:ext cx="8521570" cy="1172844"/>
          </a:xfrm>
          <a:prstGeom prst="rect">
            <a:avLst/>
          </a:prstGeom>
        </p:spPr>
        <p:txBody>
          <a:bodyPr anchor="t" rtlCol="false" tIns="0" lIns="0" bIns="0" rIns="0">
            <a:spAutoFit/>
          </a:bodyPr>
          <a:lstStyle/>
          <a:p>
            <a:pPr algn="l" marL="0" indent="0" lvl="0">
              <a:lnSpc>
                <a:spcPts val="3080"/>
              </a:lnSpc>
            </a:pPr>
            <a:r>
              <a:rPr lang="en-US" sz="2200" i="true" spc="528">
                <a:solidFill>
                  <a:srgbClr val="FEFDFD"/>
                </a:solidFill>
                <a:latin typeface="Poppins Italics"/>
                <a:ea typeface="Poppins Italics"/>
                <a:cs typeface="Poppins Italics"/>
                <a:sym typeface="Poppins Italics"/>
              </a:rPr>
              <a:t>TARGET CUSTOMERS WHERE THEY LIVE WITH </a:t>
            </a:r>
            <a:r>
              <a:rPr lang="en-US" b="true" sz="2200" i="true" spc="528">
                <a:solidFill>
                  <a:srgbClr val="FEFDFD"/>
                </a:solidFill>
                <a:latin typeface="Poppins Bold Italics"/>
                <a:ea typeface="Poppins Bold Italics"/>
                <a:cs typeface="Poppins Bold Italics"/>
                <a:sym typeface="Poppins Bold Italics"/>
              </a:rPr>
              <a:t>ACCURATE, AFFO</a:t>
            </a:r>
            <a:r>
              <a:rPr lang="en-US" b="true" sz="2200" i="true" spc="528">
                <a:solidFill>
                  <a:srgbClr val="FEFDFD"/>
                </a:solidFill>
                <a:latin typeface="Poppins Bold Italics"/>
                <a:ea typeface="Poppins Bold Italics"/>
                <a:cs typeface="Poppins Bold Italics"/>
                <a:sym typeface="Poppins Bold Italics"/>
              </a:rPr>
              <a:t>RDABLE DOOR-KNOCKING &amp; </a:t>
            </a:r>
            <a:r>
              <a:rPr lang="en-US" b="true" sz="2200" i="true" spc="528">
                <a:solidFill>
                  <a:srgbClr val="A0EEEB"/>
                </a:solidFill>
                <a:latin typeface="Poppins Bold Italics"/>
                <a:ea typeface="Poppins Bold Italics"/>
                <a:cs typeface="Poppins Bold Italics"/>
                <a:sym typeface="Poppins Bold Italics"/>
              </a:rPr>
              <a:t>MAILER-READY LISTS.</a:t>
            </a:r>
          </a:p>
        </p:txBody>
      </p:sp>
      <p:sp>
        <p:nvSpPr>
          <p:cNvPr name="TextBox 16" id="16"/>
          <p:cNvSpPr txBox="true"/>
          <p:nvPr/>
        </p:nvSpPr>
        <p:spPr>
          <a:xfrm rot="0">
            <a:off x="1868076" y="1343025"/>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Zip</a:t>
            </a:r>
            <a:r>
              <a:rPr lang="en-US" b="true" sz="5253">
                <a:solidFill>
                  <a:srgbClr val="F6F6F6"/>
                </a:solidFill>
                <a:latin typeface="Poppins Semi-Bold"/>
                <a:ea typeface="Poppins Semi-Bold"/>
                <a:cs typeface="Poppins Semi-Bold"/>
                <a:sym typeface="Poppins Semi-Bold"/>
              </a:rPr>
              <a:t> Code &amp; Map Pricing</a:t>
            </a:r>
          </a:p>
        </p:txBody>
      </p:sp>
      <p:sp>
        <p:nvSpPr>
          <p:cNvPr name="TextBox 17" id="17"/>
          <p:cNvSpPr txBox="true"/>
          <p:nvPr/>
        </p:nvSpPr>
        <p:spPr>
          <a:xfrm rot="0">
            <a:off x="3065451" y="4567603"/>
            <a:ext cx="2955748" cy="401571"/>
          </a:xfrm>
          <a:prstGeom prst="rect">
            <a:avLst/>
          </a:prstGeom>
        </p:spPr>
        <p:txBody>
          <a:bodyPr anchor="t" rtlCol="false" tIns="0" lIns="0" bIns="0" rIns="0">
            <a:spAutoFit/>
          </a:bodyPr>
          <a:lstStyle/>
          <a:p>
            <a:pPr algn="ctr">
              <a:lnSpc>
                <a:spcPts val="2967"/>
              </a:lnSpc>
              <a:spcBef>
                <a:spcPct val="0"/>
              </a:spcBef>
            </a:pPr>
            <a:r>
              <a:rPr lang="en-US" b="true" sz="2473">
                <a:solidFill>
                  <a:srgbClr val="FFFFFF"/>
                </a:solidFill>
                <a:latin typeface="Poppins Bold"/>
                <a:ea typeface="Poppins Bold"/>
                <a:cs typeface="Poppins Bold"/>
                <a:sym typeface="Poppins Bold"/>
              </a:rPr>
              <a:t>Standard Services</a:t>
            </a:r>
          </a:p>
        </p:txBody>
      </p:sp>
      <p:sp>
        <p:nvSpPr>
          <p:cNvPr name="TextBox 18" id="18"/>
          <p:cNvSpPr txBox="true"/>
          <p:nvPr/>
        </p:nvSpPr>
        <p:spPr>
          <a:xfrm rot="0">
            <a:off x="8022450" y="4300961"/>
            <a:ext cx="4178020" cy="887229"/>
          </a:xfrm>
          <a:prstGeom prst="rect">
            <a:avLst/>
          </a:prstGeom>
        </p:spPr>
        <p:txBody>
          <a:bodyPr anchor="t" rtlCol="false" tIns="0" lIns="0" bIns="0" rIns="0">
            <a:spAutoFit/>
          </a:bodyPr>
          <a:lstStyle/>
          <a:p>
            <a:pPr algn="ctr">
              <a:lnSpc>
                <a:spcPts val="4772"/>
              </a:lnSpc>
            </a:pPr>
            <a:r>
              <a:rPr lang="en-US" sz="3977" b="true">
                <a:solidFill>
                  <a:srgbClr val="FFFFFF"/>
                </a:solidFill>
                <a:latin typeface="Poppins Semi-Bold"/>
                <a:ea typeface="Poppins Semi-Bold"/>
                <a:cs typeface="Poppins Semi-Bold"/>
                <a:sym typeface="Poppins Semi-Bold"/>
              </a:rPr>
              <a:t>$360</a:t>
            </a:r>
          </a:p>
          <a:p>
            <a:pPr algn="ctr">
              <a:lnSpc>
                <a:spcPts val="1974"/>
              </a:lnSpc>
              <a:spcBef>
                <a:spcPct val="0"/>
              </a:spcBef>
            </a:pPr>
            <a:r>
              <a:rPr lang="en-US" b="true" sz="1645" i="true">
                <a:solidFill>
                  <a:srgbClr val="FFFFFF"/>
                </a:solidFill>
                <a:latin typeface="Poppins Medium Italics"/>
                <a:ea typeface="Poppins Medium Italics"/>
                <a:cs typeface="Poppins Medium Italics"/>
                <a:sym typeface="Poppins Medium Italics"/>
              </a:rPr>
              <a:t>minimum spend</a:t>
            </a:r>
          </a:p>
        </p:txBody>
      </p:sp>
      <p:sp>
        <p:nvSpPr>
          <p:cNvPr name="TextBox 19" id="19"/>
          <p:cNvSpPr txBox="true"/>
          <p:nvPr/>
        </p:nvSpPr>
        <p:spPr>
          <a:xfrm rot="0">
            <a:off x="5570206" y="4300961"/>
            <a:ext cx="4178020" cy="887229"/>
          </a:xfrm>
          <a:prstGeom prst="rect">
            <a:avLst/>
          </a:prstGeom>
        </p:spPr>
        <p:txBody>
          <a:bodyPr anchor="t" rtlCol="false" tIns="0" lIns="0" bIns="0" rIns="0">
            <a:spAutoFit/>
          </a:bodyPr>
          <a:lstStyle/>
          <a:p>
            <a:pPr algn="ctr">
              <a:lnSpc>
                <a:spcPts val="4772"/>
              </a:lnSpc>
            </a:pPr>
            <a:r>
              <a:rPr lang="en-US" sz="3977" b="true">
                <a:solidFill>
                  <a:srgbClr val="FFFFFF"/>
                </a:solidFill>
                <a:latin typeface="Poppins Semi-Bold"/>
                <a:ea typeface="Poppins Semi-Bold"/>
                <a:cs typeface="Poppins Semi-Bold"/>
                <a:sym typeface="Poppins Semi-Bold"/>
              </a:rPr>
              <a:t>$30</a:t>
            </a:r>
          </a:p>
          <a:p>
            <a:pPr algn="ctr">
              <a:lnSpc>
                <a:spcPts val="1974"/>
              </a:lnSpc>
              <a:spcBef>
                <a:spcPct val="0"/>
              </a:spcBef>
            </a:pPr>
            <a:r>
              <a:rPr lang="en-US" b="true" sz="1645" i="true">
                <a:solidFill>
                  <a:srgbClr val="FFFFFF"/>
                </a:solidFill>
                <a:latin typeface="Poppins Medium Italics"/>
                <a:ea typeface="Poppins Medium Italics"/>
                <a:cs typeface="Poppins Medium Italics"/>
                <a:sym typeface="Poppins Medium Italics"/>
              </a:rPr>
              <a:t>per zip code</a:t>
            </a:r>
          </a:p>
        </p:txBody>
      </p:sp>
      <p:sp>
        <p:nvSpPr>
          <p:cNvPr name="Freeform 20" id="20"/>
          <p:cNvSpPr/>
          <p:nvPr/>
        </p:nvSpPr>
        <p:spPr>
          <a:xfrm flipH="false" flipV="true" rot="0">
            <a:off x="1705457" y="6203861"/>
            <a:ext cx="1155653" cy="405529"/>
          </a:xfrm>
          <a:custGeom>
            <a:avLst/>
            <a:gdLst/>
            <a:ahLst/>
            <a:cxnLst/>
            <a:rect r="r" b="b" t="t" l="l"/>
            <a:pathLst>
              <a:path h="405529" w="1155653">
                <a:moveTo>
                  <a:pt x="0" y="405529"/>
                </a:moveTo>
                <a:lnTo>
                  <a:pt x="1155653" y="405529"/>
                </a:lnTo>
                <a:lnTo>
                  <a:pt x="1155653" y="0"/>
                </a:lnTo>
                <a:lnTo>
                  <a:pt x="0" y="0"/>
                </a:lnTo>
                <a:lnTo>
                  <a:pt x="0" y="405529"/>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1" id="21"/>
          <p:cNvGrpSpPr/>
          <p:nvPr/>
        </p:nvGrpSpPr>
        <p:grpSpPr>
          <a:xfrm rot="0">
            <a:off x="1828489" y="6406626"/>
            <a:ext cx="10000635" cy="1032621"/>
            <a:chOff x="0" y="0"/>
            <a:chExt cx="3248151" cy="335390"/>
          </a:xfrm>
        </p:grpSpPr>
        <p:sp>
          <p:nvSpPr>
            <p:cNvPr name="Freeform 22" id="22"/>
            <p:cNvSpPr/>
            <p:nvPr/>
          </p:nvSpPr>
          <p:spPr>
            <a:xfrm flipH="false" flipV="false" rot="0">
              <a:off x="0" y="0"/>
              <a:ext cx="3248151" cy="335390"/>
            </a:xfrm>
            <a:custGeom>
              <a:avLst/>
              <a:gdLst/>
              <a:ahLst/>
              <a:cxnLst/>
              <a:rect r="r" b="b" t="t" l="l"/>
              <a:pathLst>
                <a:path h="335390" w="3248151">
                  <a:moveTo>
                    <a:pt x="77414" y="0"/>
                  </a:moveTo>
                  <a:lnTo>
                    <a:pt x="3170737" y="0"/>
                  </a:lnTo>
                  <a:cubicBezTo>
                    <a:pt x="3191269" y="0"/>
                    <a:pt x="3210959" y="8156"/>
                    <a:pt x="3225477" y="22674"/>
                  </a:cubicBezTo>
                  <a:cubicBezTo>
                    <a:pt x="3239995" y="37192"/>
                    <a:pt x="3248151" y="56883"/>
                    <a:pt x="3248151" y="77414"/>
                  </a:cubicBezTo>
                  <a:lnTo>
                    <a:pt x="3248151" y="257975"/>
                  </a:lnTo>
                  <a:cubicBezTo>
                    <a:pt x="3248151" y="278507"/>
                    <a:pt x="3239995" y="298198"/>
                    <a:pt x="3225477" y="312716"/>
                  </a:cubicBezTo>
                  <a:cubicBezTo>
                    <a:pt x="3210959" y="327234"/>
                    <a:pt x="3191269" y="335390"/>
                    <a:pt x="3170737" y="335390"/>
                  </a:cubicBezTo>
                  <a:lnTo>
                    <a:pt x="77414" y="335390"/>
                  </a:lnTo>
                  <a:cubicBezTo>
                    <a:pt x="56883" y="335390"/>
                    <a:pt x="37192" y="327234"/>
                    <a:pt x="22674" y="312716"/>
                  </a:cubicBezTo>
                  <a:cubicBezTo>
                    <a:pt x="8156" y="298198"/>
                    <a:pt x="0" y="278507"/>
                    <a:pt x="0" y="257975"/>
                  </a:cubicBezTo>
                  <a:lnTo>
                    <a:pt x="0" y="77414"/>
                  </a:lnTo>
                  <a:cubicBezTo>
                    <a:pt x="0" y="56883"/>
                    <a:pt x="8156" y="37192"/>
                    <a:pt x="22674" y="22674"/>
                  </a:cubicBezTo>
                  <a:cubicBezTo>
                    <a:pt x="37192" y="8156"/>
                    <a:pt x="56883" y="0"/>
                    <a:pt x="77414" y="0"/>
                  </a:cubicBezTo>
                  <a:close/>
                </a:path>
              </a:pathLst>
            </a:custGeom>
            <a:solidFill>
              <a:srgbClr val="2F8586">
                <a:alpha val="40784"/>
              </a:srgbClr>
            </a:solidFill>
          </p:spPr>
        </p:sp>
        <p:sp>
          <p:nvSpPr>
            <p:cNvPr name="TextBox 23" id="23"/>
            <p:cNvSpPr txBox="true"/>
            <p:nvPr/>
          </p:nvSpPr>
          <p:spPr>
            <a:xfrm>
              <a:off x="0" y="-19050"/>
              <a:ext cx="3248151" cy="354440"/>
            </a:xfrm>
            <a:prstGeom prst="rect">
              <a:avLst/>
            </a:prstGeom>
          </p:spPr>
          <p:txBody>
            <a:bodyPr anchor="ctr" rtlCol="false" tIns="50800" lIns="50800" bIns="50800" rIns="50800"/>
            <a:lstStyle/>
            <a:p>
              <a:pPr algn="ctr">
                <a:lnSpc>
                  <a:spcPts val="2640"/>
                </a:lnSpc>
              </a:pPr>
            </a:p>
          </p:txBody>
        </p:sp>
      </p:grpSp>
      <p:grpSp>
        <p:nvGrpSpPr>
          <p:cNvPr name="Group 24" id="24"/>
          <p:cNvGrpSpPr/>
          <p:nvPr/>
        </p:nvGrpSpPr>
        <p:grpSpPr>
          <a:xfrm rot="0">
            <a:off x="1875455" y="6453592"/>
            <a:ext cx="938689" cy="938689"/>
            <a:chOff x="0" y="0"/>
            <a:chExt cx="534908" cy="534908"/>
          </a:xfrm>
        </p:grpSpPr>
        <p:sp>
          <p:nvSpPr>
            <p:cNvPr name="Freeform 25" id="25"/>
            <p:cNvSpPr/>
            <p:nvPr/>
          </p:nvSpPr>
          <p:spPr>
            <a:xfrm flipH="false" flipV="false" rot="0">
              <a:off x="0" y="0"/>
              <a:ext cx="534908" cy="534908"/>
            </a:xfrm>
            <a:custGeom>
              <a:avLst/>
              <a:gdLst/>
              <a:ahLst/>
              <a:cxnLst/>
              <a:rect r="r" b="b" t="t" l="l"/>
              <a:pathLst>
                <a:path h="534908" w="534908">
                  <a:moveTo>
                    <a:pt x="267454" y="0"/>
                  </a:moveTo>
                  <a:lnTo>
                    <a:pt x="267454" y="0"/>
                  </a:lnTo>
                  <a:cubicBezTo>
                    <a:pt x="338387" y="0"/>
                    <a:pt x="406415" y="28178"/>
                    <a:pt x="456572" y="78335"/>
                  </a:cubicBezTo>
                  <a:cubicBezTo>
                    <a:pt x="506729" y="128493"/>
                    <a:pt x="534908" y="196521"/>
                    <a:pt x="534908" y="267454"/>
                  </a:cubicBezTo>
                  <a:lnTo>
                    <a:pt x="534908" y="267454"/>
                  </a:lnTo>
                  <a:cubicBezTo>
                    <a:pt x="534908" y="338387"/>
                    <a:pt x="506729" y="406415"/>
                    <a:pt x="456572" y="456572"/>
                  </a:cubicBezTo>
                  <a:cubicBezTo>
                    <a:pt x="406415" y="506729"/>
                    <a:pt x="338387" y="534908"/>
                    <a:pt x="267454" y="534908"/>
                  </a:cubicBezTo>
                  <a:lnTo>
                    <a:pt x="267454" y="534908"/>
                  </a:lnTo>
                  <a:cubicBezTo>
                    <a:pt x="196521" y="534908"/>
                    <a:pt x="128493" y="506729"/>
                    <a:pt x="78335" y="456572"/>
                  </a:cubicBezTo>
                  <a:cubicBezTo>
                    <a:pt x="28178" y="406415"/>
                    <a:pt x="0" y="338387"/>
                    <a:pt x="0" y="267454"/>
                  </a:cubicBezTo>
                  <a:lnTo>
                    <a:pt x="0" y="267454"/>
                  </a:lnTo>
                  <a:cubicBezTo>
                    <a:pt x="0" y="196521"/>
                    <a:pt x="28178" y="128493"/>
                    <a:pt x="78335" y="78335"/>
                  </a:cubicBezTo>
                  <a:cubicBezTo>
                    <a:pt x="128493" y="28178"/>
                    <a:pt x="196521" y="0"/>
                    <a:pt x="267454" y="0"/>
                  </a:cubicBezTo>
                  <a:close/>
                </a:path>
              </a:pathLst>
            </a:custGeom>
            <a:solidFill>
              <a:srgbClr val="FFFFFF"/>
            </a:solidFill>
            <a:ln cap="rnd">
              <a:noFill/>
              <a:prstDash val="solid"/>
              <a:round/>
            </a:ln>
          </p:spPr>
        </p:sp>
        <p:sp>
          <p:nvSpPr>
            <p:cNvPr name="TextBox 26" id="26"/>
            <p:cNvSpPr txBox="true"/>
            <p:nvPr/>
          </p:nvSpPr>
          <p:spPr>
            <a:xfrm>
              <a:off x="0" y="-19050"/>
              <a:ext cx="534908" cy="553958"/>
            </a:xfrm>
            <a:prstGeom prst="rect">
              <a:avLst/>
            </a:prstGeom>
          </p:spPr>
          <p:txBody>
            <a:bodyPr anchor="ctr" rtlCol="false" tIns="50800" lIns="50800" bIns="50800" rIns="50800"/>
            <a:lstStyle/>
            <a:p>
              <a:pPr algn="ctr">
                <a:lnSpc>
                  <a:spcPts val="2640"/>
                </a:lnSpc>
              </a:pPr>
            </a:p>
          </p:txBody>
        </p:sp>
      </p:grpSp>
      <p:sp>
        <p:nvSpPr>
          <p:cNvPr name="TextBox 27" id="27"/>
          <p:cNvSpPr txBox="true"/>
          <p:nvPr/>
        </p:nvSpPr>
        <p:spPr>
          <a:xfrm rot="0">
            <a:off x="3065451" y="6707864"/>
            <a:ext cx="3213639" cy="401571"/>
          </a:xfrm>
          <a:prstGeom prst="rect">
            <a:avLst/>
          </a:prstGeom>
        </p:spPr>
        <p:txBody>
          <a:bodyPr anchor="t" rtlCol="false" tIns="0" lIns="0" bIns="0" rIns="0">
            <a:spAutoFit/>
          </a:bodyPr>
          <a:lstStyle/>
          <a:p>
            <a:pPr algn="ctr">
              <a:lnSpc>
                <a:spcPts val="2967"/>
              </a:lnSpc>
              <a:spcBef>
                <a:spcPct val="0"/>
              </a:spcBef>
            </a:pPr>
            <a:r>
              <a:rPr lang="en-US" b="true" sz="2473">
                <a:solidFill>
                  <a:srgbClr val="FFFFFF"/>
                </a:solidFill>
                <a:latin typeface="Poppins Bold"/>
                <a:ea typeface="Poppins Bold"/>
                <a:cs typeface="Poppins Bold"/>
                <a:sym typeface="Poppins Bold"/>
              </a:rPr>
              <a:t>Real</a:t>
            </a:r>
            <a:r>
              <a:rPr lang="en-US" b="true" sz="2473">
                <a:solidFill>
                  <a:srgbClr val="FFFFFF"/>
                </a:solidFill>
                <a:latin typeface="Poppins Bold"/>
                <a:ea typeface="Poppins Bold"/>
                <a:cs typeface="Poppins Bold"/>
                <a:sym typeface="Poppins Bold"/>
              </a:rPr>
              <a:t> Estate Services</a:t>
            </a:r>
          </a:p>
        </p:txBody>
      </p:sp>
      <p:sp>
        <p:nvSpPr>
          <p:cNvPr name="TextBox 28" id="28"/>
          <p:cNvSpPr txBox="true"/>
          <p:nvPr/>
        </p:nvSpPr>
        <p:spPr>
          <a:xfrm rot="0">
            <a:off x="8022450" y="6441222"/>
            <a:ext cx="4178020" cy="887229"/>
          </a:xfrm>
          <a:prstGeom prst="rect">
            <a:avLst/>
          </a:prstGeom>
        </p:spPr>
        <p:txBody>
          <a:bodyPr anchor="t" rtlCol="false" tIns="0" lIns="0" bIns="0" rIns="0">
            <a:spAutoFit/>
          </a:bodyPr>
          <a:lstStyle/>
          <a:p>
            <a:pPr algn="ctr">
              <a:lnSpc>
                <a:spcPts val="4772"/>
              </a:lnSpc>
            </a:pPr>
            <a:r>
              <a:rPr lang="en-US" sz="3977" b="true">
                <a:solidFill>
                  <a:srgbClr val="FFFFFF"/>
                </a:solidFill>
                <a:latin typeface="Poppins Semi-Bold"/>
                <a:ea typeface="Poppins Semi-Bold"/>
                <a:cs typeface="Poppins Semi-Bold"/>
                <a:sym typeface="Poppins Semi-Bold"/>
              </a:rPr>
              <a:t>$350</a:t>
            </a:r>
          </a:p>
          <a:p>
            <a:pPr algn="ctr">
              <a:lnSpc>
                <a:spcPts val="1974"/>
              </a:lnSpc>
              <a:spcBef>
                <a:spcPct val="0"/>
              </a:spcBef>
            </a:pPr>
            <a:r>
              <a:rPr lang="en-US" b="true" sz="1645" i="true">
                <a:solidFill>
                  <a:srgbClr val="FFFFFF"/>
                </a:solidFill>
                <a:latin typeface="Poppins Medium Italics"/>
                <a:ea typeface="Poppins Medium Italics"/>
                <a:cs typeface="Poppins Medium Italics"/>
                <a:sym typeface="Poppins Medium Italics"/>
              </a:rPr>
              <a:t>minimum spend</a:t>
            </a:r>
          </a:p>
        </p:txBody>
      </p:sp>
      <p:sp>
        <p:nvSpPr>
          <p:cNvPr name="TextBox 29" id="29"/>
          <p:cNvSpPr txBox="true"/>
          <p:nvPr/>
        </p:nvSpPr>
        <p:spPr>
          <a:xfrm rot="0">
            <a:off x="5570206" y="6441222"/>
            <a:ext cx="4178020" cy="887229"/>
          </a:xfrm>
          <a:prstGeom prst="rect">
            <a:avLst/>
          </a:prstGeom>
        </p:spPr>
        <p:txBody>
          <a:bodyPr anchor="t" rtlCol="false" tIns="0" lIns="0" bIns="0" rIns="0">
            <a:spAutoFit/>
          </a:bodyPr>
          <a:lstStyle/>
          <a:p>
            <a:pPr algn="ctr">
              <a:lnSpc>
                <a:spcPts val="4772"/>
              </a:lnSpc>
            </a:pPr>
            <a:r>
              <a:rPr lang="en-US" sz="3977" b="true">
                <a:solidFill>
                  <a:srgbClr val="FFFFFF"/>
                </a:solidFill>
                <a:latin typeface="Poppins Semi-Bold"/>
                <a:ea typeface="Poppins Semi-Bold"/>
                <a:cs typeface="Poppins Semi-Bold"/>
                <a:sym typeface="Poppins Semi-Bold"/>
              </a:rPr>
              <a:t>$50</a:t>
            </a:r>
          </a:p>
          <a:p>
            <a:pPr algn="ctr">
              <a:lnSpc>
                <a:spcPts val="1974"/>
              </a:lnSpc>
              <a:spcBef>
                <a:spcPct val="0"/>
              </a:spcBef>
            </a:pPr>
            <a:r>
              <a:rPr lang="en-US" b="true" sz="1645" i="true">
                <a:solidFill>
                  <a:srgbClr val="FFFFFF"/>
                </a:solidFill>
                <a:latin typeface="Poppins Medium Italics"/>
                <a:ea typeface="Poppins Medium Italics"/>
                <a:cs typeface="Poppins Medium Italics"/>
                <a:sym typeface="Poppins Medium Italics"/>
              </a:rPr>
              <a:t>per zip code</a:t>
            </a:r>
          </a:p>
        </p:txBody>
      </p:sp>
      <p:sp>
        <p:nvSpPr>
          <p:cNvPr name="Freeform 30" id="30"/>
          <p:cNvSpPr/>
          <p:nvPr/>
        </p:nvSpPr>
        <p:spPr>
          <a:xfrm flipH="false" flipV="false" rot="0">
            <a:off x="2097989" y="6680411"/>
            <a:ext cx="493620" cy="446950"/>
          </a:xfrm>
          <a:custGeom>
            <a:avLst/>
            <a:gdLst/>
            <a:ahLst/>
            <a:cxnLst/>
            <a:rect r="r" b="b" t="t" l="l"/>
            <a:pathLst>
              <a:path h="446950" w="493620">
                <a:moveTo>
                  <a:pt x="0" y="0"/>
                </a:moveTo>
                <a:lnTo>
                  <a:pt x="493620" y="0"/>
                </a:lnTo>
                <a:lnTo>
                  <a:pt x="493620" y="446951"/>
                </a:lnTo>
                <a:lnTo>
                  <a:pt x="0" y="4469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1" id="31"/>
          <p:cNvSpPr txBox="true"/>
          <p:nvPr/>
        </p:nvSpPr>
        <p:spPr>
          <a:xfrm rot="0">
            <a:off x="3065451" y="5508536"/>
            <a:ext cx="9343491" cy="266700"/>
          </a:xfrm>
          <a:prstGeom prst="rect">
            <a:avLst/>
          </a:prstGeom>
        </p:spPr>
        <p:txBody>
          <a:bodyPr anchor="t" rtlCol="false" tIns="0" lIns="0" bIns="0" rIns="0">
            <a:spAutoFit/>
          </a:bodyPr>
          <a:lstStyle/>
          <a:p>
            <a:pPr algn="l">
              <a:lnSpc>
                <a:spcPts val="2076"/>
              </a:lnSpc>
              <a:spcBef>
                <a:spcPct val="0"/>
              </a:spcBef>
            </a:pPr>
            <a:r>
              <a:rPr lang="en-US" sz="1730" b="true">
                <a:solidFill>
                  <a:srgbClr val="FFFFFF"/>
                </a:solidFill>
                <a:latin typeface="Poppins Medium"/>
                <a:ea typeface="Poppins Medium"/>
                <a:cs typeface="Poppins Medium"/>
                <a:sym typeface="Poppins Medium"/>
              </a:rPr>
              <a:t>Perfe</a:t>
            </a:r>
            <a:r>
              <a:rPr lang="en-US" b="true" sz="1730">
                <a:solidFill>
                  <a:srgbClr val="FFFFFF"/>
                </a:solidFill>
                <a:latin typeface="Poppins Medium"/>
                <a:ea typeface="Poppins Medium"/>
                <a:cs typeface="Poppins Medium"/>
                <a:sym typeface="Poppins Medium"/>
              </a:rPr>
              <a:t>ct for door-knocking, flyers, and mail campaigns.</a:t>
            </a:r>
          </a:p>
        </p:txBody>
      </p:sp>
      <p:sp>
        <p:nvSpPr>
          <p:cNvPr name="TextBox 32" id="32"/>
          <p:cNvSpPr txBox="true"/>
          <p:nvPr/>
        </p:nvSpPr>
        <p:spPr>
          <a:xfrm rot="0">
            <a:off x="3065451" y="7648797"/>
            <a:ext cx="9343491" cy="266700"/>
          </a:xfrm>
          <a:prstGeom prst="rect">
            <a:avLst/>
          </a:prstGeom>
        </p:spPr>
        <p:txBody>
          <a:bodyPr anchor="t" rtlCol="false" tIns="0" lIns="0" bIns="0" rIns="0">
            <a:spAutoFit/>
          </a:bodyPr>
          <a:lstStyle/>
          <a:p>
            <a:pPr algn="l">
              <a:lnSpc>
                <a:spcPts val="2076"/>
              </a:lnSpc>
              <a:spcBef>
                <a:spcPct val="0"/>
              </a:spcBef>
            </a:pPr>
            <a:r>
              <a:rPr lang="en-US" sz="1730" b="true">
                <a:solidFill>
                  <a:srgbClr val="FFFFFF"/>
                </a:solidFill>
                <a:latin typeface="Poppins Medium"/>
                <a:ea typeface="Poppins Medium"/>
                <a:cs typeface="Poppins Medium"/>
                <a:sym typeface="Poppins Medium"/>
              </a:rPr>
              <a:t>Hyper-local</a:t>
            </a:r>
            <a:r>
              <a:rPr lang="en-US" b="true" sz="1730">
                <a:solidFill>
                  <a:srgbClr val="FFFFFF"/>
                </a:solidFill>
                <a:latin typeface="Poppins Medium"/>
                <a:ea typeface="Poppins Medium"/>
                <a:cs typeface="Poppins Medium"/>
                <a:sym typeface="Poppins Medium"/>
              </a:rPr>
              <a:t> targeting for realtors &amp; investors.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86893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5961540"/>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292222" y="3414881"/>
            <a:ext cx="7244088" cy="3413777"/>
          </a:xfrm>
          <a:custGeom>
            <a:avLst/>
            <a:gdLst/>
            <a:ahLst/>
            <a:cxnLst/>
            <a:rect r="r" b="b" t="t" l="l"/>
            <a:pathLst>
              <a:path h="3413777" w="7244088">
                <a:moveTo>
                  <a:pt x="0" y="0"/>
                </a:moveTo>
                <a:lnTo>
                  <a:pt x="7244088" y="0"/>
                </a:lnTo>
                <a:lnTo>
                  <a:pt x="7244088" y="3413776"/>
                </a:lnTo>
                <a:lnTo>
                  <a:pt x="0" y="34137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true" rot="0">
            <a:off x="1434513" y="4337466"/>
            <a:ext cx="1459161" cy="512033"/>
          </a:xfrm>
          <a:custGeom>
            <a:avLst/>
            <a:gdLst/>
            <a:ahLst/>
            <a:cxnLst/>
            <a:rect r="r" b="b" t="t" l="l"/>
            <a:pathLst>
              <a:path h="512033" w="1459161">
                <a:moveTo>
                  <a:pt x="0" y="512033"/>
                </a:moveTo>
                <a:lnTo>
                  <a:pt x="1459162" y="512033"/>
                </a:lnTo>
                <a:lnTo>
                  <a:pt x="1459162" y="0"/>
                </a:lnTo>
                <a:lnTo>
                  <a:pt x="0" y="0"/>
                </a:lnTo>
                <a:lnTo>
                  <a:pt x="0" y="512033"/>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2689095" y="4413339"/>
            <a:ext cx="5599251" cy="1541331"/>
            <a:chOff x="0" y="0"/>
            <a:chExt cx="2527032" cy="695627"/>
          </a:xfrm>
        </p:grpSpPr>
        <p:sp>
          <p:nvSpPr>
            <p:cNvPr name="Freeform 9" id="9"/>
            <p:cNvSpPr/>
            <p:nvPr/>
          </p:nvSpPr>
          <p:spPr>
            <a:xfrm flipH="false" flipV="false" rot="0">
              <a:off x="0" y="0"/>
              <a:ext cx="2527032" cy="695627"/>
            </a:xfrm>
            <a:custGeom>
              <a:avLst/>
              <a:gdLst/>
              <a:ahLst/>
              <a:cxnLst/>
              <a:rect r="r" b="b" t="t" l="l"/>
              <a:pathLst>
                <a:path h="695627" w="2527032">
                  <a:moveTo>
                    <a:pt x="31801" y="0"/>
                  </a:moveTo>
                  <a:lnTo>
                    <a:pt x="2495230" y="0"/>
                  </a:lnTo>
                  <a:cubicBezTo>
                    <a:pt x="2503665" y="0"/>
                    <a:pt x="2511753" y="3350"/>
                    <a:pt x="2517717" y="9314"/>
                  </a:cubicBezTo>
                  <a:cubicBezTo>
                    <a:pt x="2523681" y="15278"/>
                    <a:pt x="2527032" y="23367"/>
                    <a:pt x="2527032" y="31801"/>
                  </a:cubicBezTo>
                  <a:lnTo>
                    <a:pt x="2527032" y="663826"/>
                  </a:lnTo>
                  <a:cubicBezTo>
                    <a:pt x="2527032" y="681389"/>
                    <a:pt x="2512794" y="695627"/>
                    <a:pt x="2495230" y="695627"/>
                  </a:cubicBezTo>
                  <a:lnTo>
                    <a:pt x="31801" y="695627"/>
                  </a:lnTo>
                  <a:cubicBezTo>
                    <a:pt x="14238" y="695627"/>
                    <a:pt x="0" y="681389"/>
                    <a:pt x="0" y="663826"/>
                  </a:cubicBezTo>
                  <a:lnTo>
                    <a:pt x="0" y="31801"/>
                  </a:lnTo>
                  <a:cubicBezTo>
                    <a:pt x="0" y="14238"/>
                    <a:pt x="14238" y="0"/>
                    <a:pt x="31801" y="0"/>
                  </a:cubicBezTo>
                  <a:close/>
                </a:path>
              </a:pathLst>
            </a:custGeom>
            <a:solidFill>
              <a:srgbClr val="A0EEEB">
                <a:alpha val="40784"/>
              </a:srgbClr>
            </a:solidFill>
            <a:ln w="85725" cap="rnd">
              <a:solidFill>
                <a:srgbClr val="A0EEEB">
                  <a:alpha val="40784"/>
                </a:srgbClr>
              </a:solidFill>
              <a:prstDash val="solid"/>
              <a:round/>
            </a:ln>
          </p:spPr>
        </p:sp>
        <p:sp>
          <p:nvSpPr>
            <p:cNvPr name="TextBox 10" id="10"/>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11" id="11"/>
          <p:cNvGrpSpPr/>
          <p:nvPr/>
        </p:nvGrpSpPr>
        <p:grpSpPr>
          <a:xfrm rot="0">
            <a:off x="1604855" y="4548966"/>
            <a:ext cx="1303818" cy="1303818"/>
            <a:chOff x="0" y="0"/>
            <a:chExt cx="588434" cy="588434"/>
          </a:xfrm>
        </p:grpSpPr>
        <p:sp>
          <p:nvSpPr>
            <p:cNvPr name="Freeform 12" id="12"/>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3" id="13"/>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14" id="14"/>
          <p:cNvSpPr/>
          <p:nvPr/>
        </p:nvSpPr>
        <p:spPr>
          <a:xfrm flipH="false" flipV="false" rot="0">
            <a:off x="1292222" y="5355140"/>
            <a:ext cx="7244088" cy="3413777"/>
          </a:xfrm>
          <a:custGeom>
            <a:avLst/>
            <a:gdLst/>
            <a:ahLst/>
            <a:cxnLst/>
            <a:rect r="r" b="b" t="t" l="l"/>
            <a:pathLst>
              <a:path h="3413777" w="7244088">
                <a:moveTo>
                  <a:pt x="0" y="0"/>
                </a:moveTo>
                <a:lnTo>
                  <a:pt x="7244088" y="0"/>
                </a:lnTo>
                <a:lnTo>
                  <a:pt x="7244088" y="3413777"/>
                </a:lnTo>
                <a:lnTo>
                  <a:pt x="0" y="34137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true" rot="0">
            <a:off x="1434513" y="6224999"/>
            <a:ext cx="1459161" cy="512033"/>
          </a:xfrm>
          <a:custGeom>
            <a:avLst/>
            <a:gdLst/>
            <a:ahLst/>
            <a:cxnLst/>
            <a:rect r="r" b="b" t="t" l="l"/>
            <a:pathLst>
              <a:path h="512033" w="1459161">
                <a:moveTo>
                  <a:pt x="0" y="512033"/>
                </a:moveTo>
                <a:lnTo>
                  <a:pt x="1459162" y="512033"/>
                </a:lnTo>
                <a:lnTo>
                  <a:pt x="1459162" y="0"/>
                </a:lnTo>
                <a:lnTo>
                  <a:pt x="0" y="0"/>
                </a:lnTo>
                <a:lnTo>
                  <a:pt x="0" y="512033"/>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6" id="16"/>
          <p:cNvGrpSpPr/>
          <p:nvPr/>
        </p:nvGrpSpPr>
        <p:grpSpPr>
          <a:xfrm rot="0">
            <a:off x="2689095" y="6353599"/>
            <a:ext cx="5599251" cy="1541331"/>
            <a:chOff x="0" y="0"/>
            <a:chExt cx="2527032" cy="695627"/>
          </a:xfrm>
        </p:grpSpPr>
        <p:sp>
          <p:nvSpPr>
            <p:cNvPr name="Freeform 17" id="17"/>
            <p:cNvSpPr/>
            <p:nvPr/>
          </p:nvSpPr>
          <p:spPr>
            <a:xfrm flipH="false" flipV="false" rot="0">
              <a:off x="0" y="0"/>
              <a:ext cx="2527032" cy="695627"/>
            </a:xfrm>
            <a:custGeom>
              <a:avLst/>
              <a:gdLst/>
              <a:ahLst/>
              <a:cxnLst/>
              <a:rect r="r" b="b" t="t" l="l"/>
              <a:pathLst>
                <a:path h="695627" w="2527032">
                  <a:moveTo>
                    <a:pt x="31801" y="0"/>
                  </a:moveTo>
                  <a:lnTo>
                    <a:pt x="2495230" y="0"/>
                  </a:lnTo>
                  <a:cubicBezTo>
                    <a:pt x="2503665" y="0"/>
                    <a:pt x="2511753" y="3350"/>
                    <a:pt x="2517717" y="9314"/>
                  </a:cubicBezTo>
                  <a:cubicBezTo>
                    <a:pt x="2523681" y="15278"/>
                    <a:pt x="2527032" y="23367"/>
                    <a:pt x="2527032" y="31801"/>
                  </a:cubicBezTo>
                  <a:lnTo>
                    <a:pt x="2527032" y="663826"/>
                  </a:lnTo>
                  <a:cubicBezTo>
                    <a:pt x="2527032" y="681389"/>
                    <a:pt x="2512794" y="695627"/>
                    <a:pt x="2495230" y="695627"/>
                  </a:cubicBezTo>
                  <a:lnTo>
                    <a:pt x="31801" y="695627"/>
                  </a:lnTo>
                  <a:cubicBezTo>
                    <a:pt x="14238" y="695627"/>
                    <a:pt x="0" y="681389"/>
                    <a:pt x="0" y="663826"/>
                  </a:cubicBezTo>
                  <a:lnTo>
                    <a:pt x="0" y="31801"/>
                  </a:lnTo>
                  <a:cubicBezTo>
                    <a:pt x="0" y="14238"/>
                    <a:pt x="14238" y="0"/>
                    <a:pt x="31801" y="0"/>
                  </a:cubicBezTo>
                  <a:close/>
                </a:path>
              </a:pathLst>
            </a:custGeom>
            <a:solidFill>
              <a:srgbClr val="A0EEEB">
                <a:alpha val="40784"/>
              </a:srgbClr>
            </a:solidFill>
            <a:ln w="85725" cap="rnd">
              <a:solidFill>
                <a:srgbClr val="A0EEEB">
                  <a:alpha val="40784"/>
                </a:srgbClr>
              </a:solidFill>
              <a:prstDash val="solid"/>
              <a:round/>
            </a:ln>
          </p:spPr>
        </p:sp>
        <p:sp>
          <p:nvSpPr>
            <p:cNvPr name="TextBox 18" id="18"/>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19" id="19"/>
          <p:cNvGrpSpPr/>
          <p:nvPr/>
        </p:nvGrpSpPr>
        <p:grpSpPr>
          <a:xfrm rot="0">
            <a:off x="1604855" y="6489226"/>
            <a:ext cx="1303818" cy="1303818"/>
            <a:chOff x="0" y="0"/>
            <a:chExt cx="588434" cy="588434"/>
          </a:xfrm>
        </p:grpSpPr>
        <p:sp>
          <p:nvSpPr>
            <p:cNvPr name="Freeform 20" id="20"/>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1" id="21"/>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22" id="22"/>
          <p:cNvSpPr/>
          <p:nvPr/>
        </p:nvSpPr>
        <p:spPr>
          <a:xfrm flipH="false" flipV="false" rot="0">
            <a:off x="1967236" y="4896648"/>
            <a:ext cx="579057" cy="574714"/>
          </a:xfrm>
          <a:custGeom>
            <a:avLst/>
            <a:gdLst/>
            <a:ahLst/>
            <a:cxnLst/>
            <a:rect r="r" b="b" t="t" l="l"/>
            <a:pathLst>
              <a:path h="574714" w="579057">
                <a:moveTo>
                  <a:pt x="0" y="0"/>
                </a:moveTo>
                <a:lnTo>
                  <a:pt x="579057" y="0"/>
                </a:lnTo>
                <a:lnTo>
                  <a:pt x="579057" y="574713"/>
                </a:lnTo>
                <a:lnTo>
                  <a:pt x="0" y="57471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1911121" y="6789758"/>
            <a:ext cx="680150" cy="680150"/>
          </a:xfrm>
          <a:custGeom>
            <a:avLst/>
            <a:gdLst/>
            <a:ahLst/>
            <a:cxnLst/>
            <a:rect r="r" b="b" t="t" l="l"/>
            <a:pathLst>
              <a:path h="680150" w="680150">
                <a:moveTo>
                  <a:pt x="0" y="0"/>
                </a:moveTo>
                <a:lnTo>
                  <a:pt x="680149" y="0"/>
                </a:lnTo>
                <a:lnTo>
                  <a:pt x="680149" y="680150"/>
                </a:lnTo>
                <a:lnTo>
                  <a:pt x="0" y="680150"/>
                </a:lnTo>
                <a:lnTo>
                  <a:pt x="0" y="0"/>
                </a:lnTo>
                <a:close/>
              </a:path>
            </a:pathLst>
          </a:custGeom>
          <a:blipFill>
            <a:blip r:embed="rId9"/>
            <a:stretch>
              <a:fillRect l="0" t="0" r="0" b="0"/>
            </a:stretch>
          </a:blipFill>
        </p:spPr>
      </p:sp>
      <p:sp>
        <p:nvSpPr>
          <p:cNvPr name="Freeform 24" id="24"/>
          <p:cNvSpPr/>
          <p:nvPr/>
        </p:nvSpPr>
        <p:spPr>
          <a:xfrm flipH="false" flipV="false" rot="0">
            <a:off x="6128861" y="-3373476"/>
            <a:ext cx="17985179" cy="17962698"/>
          </a:xfrm>
          <a:custGeom>
            <a:avLst/>
            <a:gdLst/>
            <a:ahLst/>
            <a:cxnLst/>
            <a:rect r="r" b="b" t="t" l="l"/>
            <a:pathLst>
              <a:path h="17962698" w="17985179">
                <a:moveTo>
                  <a:pt x="0" y="0"/>
                </a:moveTo>
                <a:lnTo>
                  <a:pt x="17985179" y="0"/>
                </a:lnTo>
                <a:lnTo>
                  <a:pt x="17985179" y="17962698"/>
                </a:lnTo>
                <a:lnTo>
                  <a:pt x="0" y="17962698"/>
                </a:lnTo>
                <a:lnTo>
                  <a:pt x="0" y="0"/>
                </a:lnTo>
                <a:close/>
              </a:path>
            </a:pathLst>
          </a:custGeom>
          <a:blipFill>
            <a:blip r:embed="rId10">
              <a:alphaModFix amt="51000"/>
            </a:blip>
            <a:stretch>
              <a:fillRect l="0" t="0" r="0" b="0"/>
            </a:stretch>
          </a:blipFill>
        </p:spPr>
      </p:sp>
      <p:sp>
        <p:nvSpPr>
          <p:cNvPr name="Freeform 25" id="25"/>
          <p:cNvSpPr/>
          <p:nvPr/>
        </p:nvSpPr>
        <p:spPr>
          <a:xfrm flipH="false" flipV="false" rot="215446">
            <a:off x="10348128" y="6051708"/>
            <a:ext cx="9277470" cy="4372008"/>
          </a:xfrm>
          <a:custGeom>
            <a:avLst/>
            <a:gdLst/>
            <a:ahLst/>
            <a:cxnLst/>
            <a:rect r="r" b="b" t="t" l="l"/>
            <a:pathLst>
              <a:path h="4372008" w="9277470">
                <a:moveTo>
                  <a:pt x="0" y="0"/>
                </a:moveTo>
                <a:lnTo>
                  <a:pt x="9277470" y="0"/>
                </a:lnTo>
                <a:lnTo>
                  <a:pt x="9277470" y="4372007"/>
                </a:lnTo>
                <a:lnTo>
                  <a:pt x="0" y="43720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26" id="26"/>
          <p:cNvPicPr>
            <a:picLocks noChangeAspect="true"/>
          </p:cNvPicPr>
          <p:nvPr/>
        </p:nvPicPr>
        <p:blipFill>
          <a:blip r:embed="rId11"/>
          <a:stretch>
            <a:fillRect/>
          </a:stretch>
        </p:blipFill>
        <p:spPr>
          <a:xfrm rot="0">
            <a:off x="10481058" y="659888"/>
            <a:ext cx="11818950" cy="8863118"/>
          </a:xfrm>
          <a:prstGeom prst="rect">
            <a:avLst/>
          </a:prstGeom>
        </p:spPr>
      </p:pic>
      <p:sp>
        <p:nvSpPr>
          <p:cNvPr name="TextBox 27" id="27"/>
          <p:cNvSpPr txBox="true"/>
          <p:nvPr/>
        </p:nvSpPr>
        <p:spPr>
          <a:xfrm rot="0">
            <a:off x="3362783" y="6598865"/>
            <a:ext cx="4719419" cy="359379"/>
          </a:xfrm>
          <a:prstGeom prst="rect">
            <a:avLst/>
          </a:prstGeom>
        </p:spPr>
        <p:txBody>
          <a:bodyPr anchor="t" rtlCol="false" tIns="0" lIns="0" bIns="0" rIns="0">
            <a:spAutoFit/>
          </a:bodyPr>
          <a:lstStyle/>
          <a:p>
            <a:pPr algn="l">
              <a:lnSpc>
                <a:spcPts val="2788"/>
              </a:lnSpc>
              <a:spcBef>
                <a:spcPct val="0"/>
              </a:spcBef>
            </a:pPr>
            <a:r>
              <a:rPr lang="en-US" sz="2323" b="true">
                <a:solidFill>
                  <a:srgbClr val="FFFFFF"/>
                </a:solidFill>
                <a:latin typeface="Poppins Bold"/>
                <a:ea typeface="Poppins Bold"/>
                <a:cs typeface="Poppins Bold"/>
                <a:sym typeface="Poppins Bold"/>
              </a:rPr>
              <a:t>Always Current</a:t>
            </a:r>
          </a:p>
        </p:txBody>
      </p:sp>
      <p:sp>
        <p:nvSpPr>
          <p:cNvPr name="TextBox 28" id="28"/>
          <p:cNvSpPr txBox="true"/>
          <p:nvPr/>
        </p:nvSpPr>
        <p:spPr>
          <a:xfrm rot="0">
            <a:off x="3362783" y="7029819"/>
            <a:ext cx="4239048" cy="621458"/>
          </a:xfrm>
          <a:prstGeom prst="rect">
            <a:avLst/>
          </a:prstGeom>
        </p:spPr>
        <p:txBody>
          <a:bodyPr anchor="t" rtlCol="false" tIns="0" lIns="0" bIns="0" rIns="0">
            <a:spAutoFit/>
          </a:bodyPr>
          <a:lstStyle/>
          <a:p>
            <a:pPr algn="l">
              <a:lnSpc>
                <a:spcPts val="2421"/>
              </a:lnSpc>
              <a:spcBef>
                <a:spcPct val="0"/>
              </a:spcBef>
            </a:pPr>
            <a:r>
              <a:rPr lang="en-US" sz="2018" b="true">
                <a:solidFill>
                  <a:srgbClr val="FFFFFF"/>
                </a:solidFill>
                <a:latin typeface="Poppins Medium"/>
                <a:ea typeface="Poppins Medium"/>
                <a:cs typeface="Poppins Medium"/>
                <a:sym typeface="Poppins Medium"/>
              </a:rPr>
              <a:t>Updated continuously for relevance.</a:t>
            </a:r>
          </a:p>
        </p:txBody>
      </p:sp>
      <p:sp>
        <p:nvSpPr>
          <p:cNvPr name="TextBox 29" id="29"/>
          <p:cNvSpPr txBox="true"/>
          <p:nvPr/>
        </p:nvSpPr>
        <p:spPr>
          <a:xfrm rot="0">
            <a:off x="1868076" y="2383791"/>
            <a:ext cx="8521570" cy="1563369"/>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UNLOCK </a:t>
            </a:r>
            <a:r>
              <a:rPr lang="en-US" b="true" sz="2200" i="true" spc="528">
                <a:solidFill>
                  <a:srgbClr val="A0EEEB"/>
                </a:solidFill>
                <a:latin typeface="Poppins Ultra-Bold Italics"/>
                <a:ea typeface="Poppins Ultra-Bold Italics"/>
                <a:cs typeface="Poppins Ultra-Bold Italics"/>
                <a:sym typeface="Poppins Ultra-Bold Italics"/>
              </a:rPr>
              <a:t>VALUABLE INSIGHTS</a:t>
            </a:r>
            <a:r>
              <a:rPr lang="en-US" sz="2200" i="true" spc="528">
                <a:solidFill>
                  <a:srgbClr val="F6F6F6"/>
                </a:solidFill>
                <a:latin typeface="Poppins Italics"/>
                <a:ea typeface="Poppins Italics"/>
                <a:cs typeface="Poppins Italics"/>
                <a:sym typeface="Poppins Italics"/>
              </a:rPr>
              <a:t> </a:t>
            </a:r>
            <a:r>
              <a:rPr lang="en-US" sz="2200" i="true" spc="528">
                <a:solidFill>
                  <a:srgbClr val="F6F6F6"/>
                </a:solidFill>
                <a:latin typeface="Poppins Italics"/>
                <a:ea typeface="Poppins Italics"/>
                <a:cs typeface="Poppins Italics"/>
                <a:sym typeface="Poppins Italics"/>
              </a:rPr>
              <a:t>WITH OUR BULK INTENT DATA, ENSURING MORE EFFECTIVE TARGETING AND INCREASED CONVERSION RATES.</a:t>
            </a:r>
          </a:p>
        </p:txBody>
      </p:sp>
      <p:sp>
        <p:nvSpPr>
          <p:cNvPr name="TextBox 30" id="30"/>
          <p:cNvSpPr txBox="true"/>
          <p:nvPr/>
        </p:nvSpPr>
        <p:spPr>
          <a:xfrm rot="0">
            <a:off x="1868076" y="1343025"/>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Bulk</a:t>
            </a:r>
            <a:r>
              <a:rPr lang="en-US" b="true" sz="5253">
                <a:solidFill>
                  <a:srgbClr val="F6F6F6"/>
                </a:solidFill>
                <a:latin typeface="Poppins Semi-Bold"/>
                <a:ea typeface="Poppins Semi-Bold"/>
                <a:cs typeface="Poppins Semi-Bold"/>
                <a:sym typeface="Poppins Semi-Bold"/>
              </a:rPr>
              <a:t> Intent Data</a:t>
            </a:r>
          </a:p>
        </p:txBody>
      </p:sp>
      <p:sp>
        <p:nvSpPr>
          <p:cNvPr name="TextBox 31" id="31"/>
          <p:cNvSpPr txBox="true"/>
          <p:nvPr/>
        </p:nvSpPr>
        <p:spPr>
          <a:xfrm rot="0">
            <a:off x="3362783" y="4653036"/>
            <a:ext cx="4719419" cy="359379"/>
          </a:xfrm>
          <a:prstGeom prst="rect">
            <a:avLst/>
          </a:prstGeom>
        </p:spPr>
        <p:txBody>
          <a:bodyPr anchor="t" rtlCol="false" tIns="0" lIns="0" bIns="0" rIns="0">
            <a:spAutoFit/>
          </a:bodyPr>
          <a:lstStyle/>
          <a:p>
            <a:pPr algn="l">
              <a:lnSpc>
                <a:spcPts val="2788"/>
              </a:lnSpc>
              <a:spcBef>
                <a:spcPct val="0"/>
              </a:spcBef>
            </a:pPr>
            <a:r>
              <a:rPr lang="en-US" sz="2323" b="true">
                <a:solidFill>
                  <a:srgbClr val="FFFFFF"/>
                </a:solidFill>
                <a:latin typeface="Poppins Bold"/>
                <a:ea typeface="Poppins Bold"/>
                <a:cs typeface="Poppins Bold"/>
                <a:sym typeface="Poppins Bold"/>
              </a:rPr>
              <a:t>Direct Integration</a:t>
            </a:r>
          </a:p>
        </p:txBody>
      </p:sp>
      <p:sp>
        <p:nvSpPr>
          <p:cNvPr name="TextBox 32" id="32"/>
          <p:cNvSpPr txBox="true"/>
          <p:nvPr/>
        </p:nvSpPr>
        <p:spPr>
          <a:xfrm rot="0">
            <a:off x="3362783" y="5083990"/>
            <a:ext cx="4239048" cy="621458"/>
          </a:xfrm>
          <a:prstGeom prst="rect">
            <a:avLst/>
          </a:prstGeom>
        </p:spPr>
        <p:txBody>
          <a:bodyPr anchor="t" rtlCol="false" tIns="0" lIns="0" bIns="0" rIns="0">
            <a:spAutoFit/>
          </a:bodyPr>
          <a:lstStyle/>
          <a:p>
            <a:pPr algn="l">
              <a:lnSpc>
                <a:spcPts val="2421"/>
              </a:lnSpc>
              <a:spcBef>
                <a:spcPct val="0"/>
              </a:spcBef>
            </a:pPr>
            <a:r>
              <a:rPr lang="en-US" sz="2018" b="true">
                <a:solidFill>
                  <a:srgbClr val="FFFFFF"/>
                </a:solidFill>
                <a:latin typeface="Poppins Medium"/>
                <a:ea typeface="Poppins Medium"/>
                <a:cs typeface="Poppins Medium"/>
                <a:sym typeface="Poppins Medium"/>
              </a:rPr>
              <a:t>Plug directly into ad platforms &amp; outreach systems.</a:t>
            </a:r>
          </a:p>
        </p:txBody>
      </p:sp>
      <p:sp>
        <p:nvSpPr>
          <p:cNvPr name="TextBox 33" id="33"/>
          <p:cNvSpPr txBox="true"/>
          <p:nvPr/>
        </p:nvSpPr>
        <p:spPr>
          <a:xfrm rot="0">
            <a:off x="1872904" y="8903970"/>
            <a:ext cx="15108623" cy="354330"/>
          </a:xfrm>
          <a:prstGeom prst="rect">
            <a:avLst/>
          </a:prstGeom>
        </p:spPr>
        <p:txBody>
          <a:bodyPr anchor="t" rtlCol="false" tIns="0" lIns="0" bIns="0" rIns="0">
            <a:spAutoFit/>
          </a:bodyPr>
          <a:lstStyle/>
          <a:p>
            <a:pPr algn="l" marL="0" indent="0" lvl="0">
              <a:lnSpc>
                <a:spcPts val="2730"/>
              </a:lnSpc>
              <a:spcBef>
                <a:spcPct val="0"/>
              </a:spcBef>
            </a:pPr>
            <a:r>
              <a:rPr lang="en-US" b="true" sz="2100" spc="35">
                <a:solidFill>
                  <a:srgbClr val="D9D9D9"/>
                </a:solidFill>
                <a:latin typeface="Poppins Bold"/>
                <a:ea typeface="Poppins Bold"/>
                <a:cs typeface="Poppins Bold"/>
                <a:sym typeface="Poppins Bold"/>
              </a:rPr>
              <a:t>Bulk Intent Data access starting at $2,000/month — scale smarter with always-current insights.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6878393"/>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3">
              <a:alphaModFix amt="21999"/>
            </a:blip>
            <a:stretch>
              <a:fillRect l="0" t="0" r="0" b="0"/>
            </a:stretch>
          </a:blipFill>
        </p:spPr>
      </p:sp>
      <p:sp>
        <p:nvSpPr>
          <p:cNvPr name="Freeform 7" id="7"/>
          <p:cNvSpPr/>
          <p:nvPr/>
        </p:nvSpPr>
        <p:spPr>
          <a:xfrm flipH="false" flipV="false" rot="0">
            <a:off x="10711224" y="3000932"/>
            <a:ext cx="8064458" cy="8054378"/>
          </a:xfrm>
          <a:custGeom>
            <a:avLst/>
            <a:gdLst/>
            <a:ahLst/>
            <a:cxnLst/>
            <a:rect r="r" b="b" t="t" l="l"/>
            <a:pathLst>
              <a:path h="8054378" w="8064458">
                <a:moveTo>
                  <a:pt x="0" y="0"/>
                </a:moveTo>
                <a:lnTo>
                  <a:pt x="8064458" y="0"/>
                </a:lnTo>
                <a:lnTo>
                  <a:pt x="8064458" y="8054377"/>
                </a:lnTo>
                <a:lnTo>
                  <a:pt x="0" y="8054377"/>
                </a:lnTo>
                <a:lnTo>
                  <a:pt x="0" y="0"/>
                </a:lnTo>
                <a:close/>
              </a:path>
            </a:pathLst>
          </a:custGeom>
          <a:blipFill>
            <a:blip r:embed="rId4">
              <a:alphaModFix amt="51000"/>
            </a:blip>
            <a:stretch>
              <a:fillRect l="0" t="0" r="0" b="0"/>
            </a:stretch>
          </a:blipFill>
        </p:spPr>
      </p:sp>
      <p:sp>
        <p:nvSpPr>
          <p:cNvPr name="Freeform 8" id="8"/>
          <p:cNvSpPr/>
          <p:nvPr/>
        </p:nvSpPr>
        <p:spPr>
          <a:xfrm flipH="false" flipV="false" rot="0">
            <a:off x="-487682" y="2968023"/>
            <a:ext cx="8064458" cy="8054378"/>
          </a:xfrm>
          <a:custGeom>
            <a:avLst/>
            <a:gdLst/>
            <a:ahLst/>
            <a:cxnLst/>
            <a:rect r="r" b="b" t="t" l="l"/>
            <a:pathLst>
              <a:path h="8054378" w="8064458">
                <a:moveTo>
                  <a:pt x="0" y="0"/>
                </a:moveTo>
                <a:lnTo>
                  <a:pt x="8064458" y="0"/>
                </a:lnTo>
                <a:lnTo>
                  <a:pt x="8064458" y="8054377"/>
                </a:lnTo>
                <a:lnTo>
                  <a:pt x="0" y="8054377"/>
                </a:lnTo>
                <a:lnTo>
                  <a:pt x="0" y="0"/>
                </a:lnTo>
                <a:close/>
              </a:path>
            </a:pathLst>
          </a:custGeom>
          <a:blipFill>
            <a:blip r:embed="rId4">
              <a:alphaModFix amt="51000"/>
            </a:blip>
            <a:stretch>
              <a:fillRect l="0" t="0" r="0" b="0"/>
            </a:stretch>
          </a:blipFill>
        </p:spPr>
      </p:sp>
      <p:sp>
        <p:nvSpPr>
          <p:cNvPr name="Freeform 9" id="9"/>
          <p:cNvSpPr/>
          <p:nvPr/>
        </p:nvSpPr>
        <p:spPr>
          <a:xfrm flipH="false" flipV="false" rot="0">
            <a:off x="5060092" y="3149476"/>
            <a:ext cx="8064458" cy="8054378"/>
          </a:xfrm>
          <a:custGeom>
            <a:avLst/>
            <a:gdLst/>
            <a:ahLst/>
            <a:cxnLst/>
            <a:rect r="r" b="b" t="t" l="l"/>
            <a:pathLst>
              <a:path h="8054378" w="8064458">
                <a:moveTo>
                  <a:pt x="0" y="0"/>
                </a:moveTo>
                <a:lnTo>
                  <a:pt x="8064458" y="0"/>
                </a:lnTo>
                <a:lnTo>
                  <a:pt x="8064458" y="8054377"/>
                </a:lnTo>
                <a:lnTo>
                  <a:pt x="0" y="8054377"/>
                </a:lnTo>
                <a:lnTo>
                  <a:pt x="0" y="0"/>
                </a:lnTo>
                <a:close/>
              </a:path>
            </a:pathLst>
          </a:custGeom>
          <a:blipFill>
            <a:blip r:embed="rId4">
              <a:alphaModFix amt="51000"/>
            </a:blip>
            <a:stretch>
              <a:fillRect l="0" t="0" r="0" b="0"/>
            </a:stretch>
          </a:blipFill>
        </p:spPr>
      </p:sp>
      <p:sp>
        <p:nvSpPr>
          <p:cNvPr name="Freeform 10" id="10"/>
          <p:cNvSpPr/>
          <p:nvPr/>
        </p:nvSpPr>
        <p:spPr>
          <a:xfrm flipH="false" flipV="false" rot="0">
            <a:off x="51915" y="6091051"/>
            <a:ext cx="6435316" cy="3032643"/>
          </a:xfrm>
          <a:custGeom>
            <a:avLst/>
            <a:gdLst/>
            <a:ahLst/>
            <a:cxnLst/>
            <a:rect r="r" b="b" t="t" l="l"/>
            <a:pathLst>
              <a:path h="3032643" w="6435316">
                <a:moveTo>
                  <a:pt x="0" y="0"/>
                </a:moveTo>
                <a:lnTo>
                  <a:pt x="6435316" y="0"/>
                </a:lnTo>
                <a:lnTo>
                  <a:pt x="6435316" y="3032643"/>
                </a:lnTo>
                <a:lnTo>
                  <a:pt x="0" y="30326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5874663" y="6105376"/>
            <a:ext cx="6435316" cy="3032643"/>
          </a:xfrm>
          <a:custGeom>
            <a:avLst/>
            <a:gdLst/>
            <a:ahLst/>
            <a:cxnLst/>
            <a:rect r="r" b="b" t="t" l="l"/>
            <a:pathLst>
              <a:path h="3032643" w="6435316">
                <a:moveTo>
                  <a:pt x="0" y="0"/>
                </a:moveTo>
                <a:lnTo>
                  <a:pt x="6435316" y="0"/>
                </a:lnTo>
                <a:lnTo>
                  <a:pt x="6435316" y="3032643"/>
                </a:lnTo>
                <a:lnTo>
                  <a:pt x="0" y="30326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1525795" y="6107378"/>
            <a:ext cx="6435316" cy="3032643"/>
          </a:xfrm>
          <a:custGeom>
            <a:avLst/>
            <a:gdLst/>
            <a:ahLst/>
            <a:cxnLst/>
            <a:rect r="r" b="b" t="t" l="l"/>
            <a:pathLst>
              <a:path h="3032643" w="6435316">
                <a:moveTo>
                  <a:pt x="0" y="0"/>
                </a:moveTo>
                <a:lnTo>
                  <a:pt x="6435316" y="0"/>
                </a:lnTo>
                <a:lnTo>
                  <a:pt x="6435316" y="3032642"/>
                </a:lnTo>
                <a:lnTo>
                  <a:pt x="0" y="30326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2561614" y="5249089"/>
            <a:ext cx="1762704" cy="1762704"/>
            <a:chOff x="0" y="0"/>
            <a:chExt cx="588434" cy="588434"/>
          </a:xfrm>
        </p:grpSpPr>
        <p:sp>
          <p:nvSpPr>
            <p:cNvPr name="Freeform 14" id="14"/>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5" id="15"/>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16" id="16"/>
          <p:cNvGrpSpPr/>
          <p:nvPr/>
        </p:nvGrpSpPr>
        <p:grpSpPr>
          <a:xfrm rot="0">
            <a:off x="1602149" y="6676577"/>
            <a:ext cx="3681633" cy="1004688"/>
            <a:chOff x="0" y="0"/>
            <a:chExt cx="1229020" cy="335390"/>
          </a:xfrm>
        </p:grpSpPr>
        <p:sp>
          <p:nvSpPr>
            <p:cNvPr name="Freeform 17" id="17"/>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18" id="18"/>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grpSp>
        <p:nvGrpSpPr>
          <p:cNvPr name="Group 19" id="19"/>
          <p:cNvGrpSpPr/>
          <p:nvPr/>
        </p:nvGrpSpPr>
        <p:grpSpPr>
          <a:xfrm rot="0">
            <a:off x="13862101" y="5248834"/>
            <a:ext cx="1762704" cy="1762704"/>
            <a:chOff x="0" y="0"/>
            <a:chExt cx="588434" cy="588434"/>
          </a:xfrm>
        </p:grpSpPr>
        <p:sp>
          <p:nvSpPr>
            <p:cNvPr name="Freeform 20" id="20"/>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1" id="21"/>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2" id="22"/>
          <p:cNvGrpSpPr/>
          <p:nvPr/>
        </p:nvGrpSpPr>
        <p:grpSpPr>
          <a:xfrm rot="0">
            <a:off x="12902637" y="6676322"/>
            <a:ext cx="3681633" cy="1004688"/>
            <a:chOff x="0" y="0"/>
            <a:chExt cx="1229020" cy="335390"/>
          </a:xfrm>
        </p:grpSpPr>
        <p:sp>
          <p:nvSpPr>
            <p:cNvPr name="Freeform 23" id="23"/>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24" id="24"/>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Freeform 25" id="25"/>
          <p:cNvSpPr/>
          <p:nvPr/>
        </p:nvSpPr>
        <p:spPr>
          <a:xfrm flipH="true" flipV="false" rot="0">
            <a:off x="9251074" y="6105376"/>
            <a:ext cx="1972721" cy="692246"/>
          </a:xfrm>
          <a:custGeom>
            <a:avLst/>
            <a:gdLst/>
            <a:ahLst/>
            <a:cxnLst/>
            <a:rect r="r" b="b" t="t" l="l"/>
            <a:pathLst>
              <a:path h="692246" w="1972721">
                <a:moveTo>
                  <a:pt x="1972721" y="0"/>
                </a:moveTo>
                <a:lnTo>
                  <a:pt x="0" y="0"/>
                </a:lnTo>
                <a:lnTo>
                  <a:pt x="0" y="692246"/>
                </a:lnTo>
                <a:lnTo>
                  <a:pt x="1972721" y="692246"/>
                </a:lnTo>
                <a:lnTo>
                  <a:pt x="1972721"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6" id="26"/>
          <p:cNvGrpSpPr/>
          <p:nvPr/>
        </p:nvGrpSpPr>
        <p:grpSpPr>
          <a:xfrm rot="0">
            <a:off x="8210969" y="5246832"/>
            <a:ext cx="1762704" cy="1762704"/>
            <a:chOff x="0" y="0"/>
            <a:chExt cx="588434" cy="588434"/>
          </a:xfrm>
        </p:grpSpPr>
        <p:sp>
          <p:nvSpPr>
            <p:cNvPr name="Freeform 27" id="27"/>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8" id="28"/>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9" id="29"/>
          <p:cNvGrpSpPr/>
          <p:nvPr/>
        </p:nvGrpSpPr>
        <p:grpSpPr>
          <a:xfrm rot="0">
            <a:off x="7251504" y="6674320"/>
            <a:ext cx="3681633" cy="1004688"/>
            <a:chOff x="0" y="0"/>
            <a:chExt cx="1229020" cy="335390"/>
          </a:xfrm>
        </p:grpSpPr>
        <p:sp>
          <p:nvSpPr>
            <p:cNvPr name="Freeform 30" id="30"/>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31" id="31"/>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Freeform 32" id="32"/>
          <p:cNvSpPr/>
          <p:nvPr/>
        </p:nvSpPr>
        <p:spPr>
          <a:xfrm flipH="true" flipV="true" rot="0">
            <a:off x="13757093" y="4888277"/>
            <a:ext cx="1972721" cy="692246"/>
          </a:xfrm>
          <a:custGeom>
            <a:avLst/>
            <a:gdLst/>
            <a:ahLst/>
            <a:cxnLst/>
            <a:rect r="r" b="b" t="t" l="l"/>
            <a:pathLst>
              <a:path h="692246" w="1972721">
                <a:moveTo>
                  <a:pt x="1972721" y="692246"/>
                </a:moveTo>
                <a:lnTo>
                  <a:pt x="0" y="692246"/>
                </a:lnTo>
                <a:lnTo>
                  <a:pt x="0" y="0"/>
                </a:lnTo>
                <a:lnTo>
                  <a:pt x="1972721" y="0"/>
                </a:lnTo>
                <a:lnTo>
                  <a:pt x="1972721" y="69224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3" id="33"/>
          <p:cNvSpPr/>
          <p:nvPr/>
        </p:nvSpPr>
        <p:spPr>
          <a:xfrm flipH="true" flipV="true" rot="0">
            <a:off x="1296852" y="6335875"/>
            <a:ext cx="1972721" cy="692246"/>
          </a:xfrm>
          <a:custGeom>
            <a:avLst/>
            <a:gdLst/>
            <a:ahLst/>
            <a:cxnLst/>
            <a:rect r="r" b="b" t="t" l="l"/>
            <a:pathLst>
              <a:path h="692246" w="1972721">
                <a:moveTo>
                  <a:pt x="1972721" y="692245"/>
                </a:moveTo>
                <a:lnTo>
                  <a:pt x="0" y="692245"/>
                </a:lnTo>
                <a:lnTo>
                  <a:pt x="0" y="0"/>
                </a:lnTo>
                <a:lnTo>
                  <a:pt x="1972721" y="0"/>
                </a:lnTo>
                <a:lnTo>
                  <a:pt x="1972721" y="6922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0">
            <a:off x="2939584" y="5640489"/>
            <a:ext cx="1006764" cy="762623"/>
          </a:xfrm>
          <a:custGeom>
            <a:avLst/>
            <a:gdLst/>
            <a:ahLst/>
            <a:cxnLst/>
            <a:rect r="r" b="b" t="t" l="l"/>
            <a:pathLst>
              <a:path h="762623" w="1006764">
                <a:moveTo>
                  <a:pt x="0" y="0"/>
                </a:moveTo>
                <a:lnTo>
                  <a:pt x="1006764" y="0"/>
                </a:lnTo>
                <a:lnTo>
                  <a:pt x="1006764" y="762624"/>
                </a:lnTo>
                <a:lnTo>
                  <a:pt x="0" y="7626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8688902" y="5659057"/>
            <a:ext cx="806838" cy="806838"/>
          </a:xfrm>
          <a:custGeom>
            <a:avLst/>
            <a:gdLst/>
            <a:ahLst/>
            <a:cxnLst/>
            <a:rect r="r" b="b" t="t" l="l"/>
            <a:pathLst>
              <a:path h="806838" w="806838">
                <a:moveTo>
                  <a:pt x="0" y="0"/>
                </a:moveTo>
                <a:lnTo>
                  <a:pt x="806838" y="0"/>
                </a:lnTo>
                <a:lnTo>
                  <a:pt x="806838" y="806838"/>
                </a:lnTo>
                <a:lnTo>
                  <a:pt x="0" y="80683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6" id="36"/>
          <p:cNvSpPr/>
          <p:nvPr/>
        </p:nvSpPr>
        <p:spPr>
          <a:xfrm flipH="false" flipV="false" rot="0">
            <a:off x="14344163" y="5609098"/>
            <a:ext cx="798580" cy="825406"/>
          </a:xfrm>
          <a:custGeom>
            <a:avLst/>
            <a:gdLst/>
            <a:ahLst/>
            <a:cxnLst/>
            <a:rect r="r" b="b" t="t" l="l"/>
            <a:pathLst>
              <a:path h="825406" w="798580">
                <a:moveTo>
                  <a:pt x="0" y="0"/>
                </a:moveTo>
                <a:lnTo>
                  <a:pt x="798580" y="0"/>
                </a:lnTo>
                <a:lnTo>
                  <a:pt x="798580" y="825406"/>
                </a:lnTo>
                <a:lnTo>
                  <a:pt x="0" y="8254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7" id="37"/>
          <p:cNvSpPr txBox="true"/>
          <p:nvPr/>
        </p:nvSpPr>
        <p:spPr>
          <a:xfrm rot="0">
            <a:off x="8487676" y="6961836"/>
            <a:ext cx="1209289" cy="381956"/>
          </a:xfrm>
          <a:prstGeom prst="rect">
            <a:avLst/>
          </a:prstGeom>
        </p:spPr>
        <p:txBody>
          <a:bodyPr anchor="t" rtlCol="false" tIns="0" lIns="0" bIns="0" rIns="0">
            <a:spAutoFit/>
          </a:bodyPr>
          <a:lstStyle/>
          <a:p>
            <a:pPr algn="ctr">
              <a:lnSpc>
                <a:spcPts val="2887"/>
              </a:lnSpc>
              <a:spcBef>
                <a:spcPct val="0"/>
              </a:spcBef>
            </a:pPr>
            <a:r>
              <a:rPr lang="en-US" b="true" sz="2406">
                <a:solidFill>
                  <a:srgbClr val="000000"/>
                </a:solidFill>
                <a:latin typeface="Poppins Bold"/>
                <a:ea typeface="Poppins Bold"/>
                <a:cs typeface="Poppins Bold"/>
                <a:sym typeface="Poppins Bold"/>
              </a:rPr>
              <a:t>Identify</a:t>
            </a:r>
          </a:p>
        </p:txBody>
      </p:sp>
      <p:sp>
        <p:nvSpPr>
          <p:cNvPr name="TextBox 38" id="38"/>
          <p:cNvSpPr txBox="true"/>
          <p:nvPr/>
        </p:nvSpPr>
        <p:spPr>
          <a:xfrm rot="0">
            <a:off x="937754" y="7965564"/>
            <a:ext cx="5010425" cy="628534"/>
          </a:xfrm>
          <a:prstGeom prst="rect">
            <a:avLst/>
          </a:prstGeom>
        </p:spPr>
        <p:txBody>
          <a:bodyPr anchor="t" rtlCol="false" tIns="0" lIns="0" bIns="0" rIns="0">
            <a:spAutoFit/>
          </a:bodyPr>
          <a:lstStyle/>
          <a:p>
            <a:pPr algn="ctr">
              <a:lnSpc>
                <a:spcPts val="2461"/>
              </a:lnSpc>
              <a:spcBef>
                <a:spcPct val="0"/>
              </a:spcBef>
            </a:pPr>
            <a:r>
              <a:rPr lang="en-US" sz="2050">
                <a:solidFill>
                  <a:srgbClr val="FFFFFF"/>
                </a:solidFill>
                <a:latin typeface="Poppins"/>
                <a:ea typeface="Poppins"/>
                <a:cs typeface="Poppins"/>
                <a:sym typeface="Poppins"/>
              </a:rPr>
              <a:t>Simply install one line of code onto your website.</a:t>
            </a:r>
          </a:p>
        </p:txBody>
      </p:sp>
      <p:sp>
        <p:nvSpPr>
          <p:cNvPr name="TextBox 39" id="39"/>
          <p:cNvSpPr txBox="true"/>
          <p:nvPr/>
        </p:nvSpPr>
        <p:spPr>
          <a:xfrm rot="0">
            <a:off x="6637000" y="7965564"/>
            <a:ext cx="5009457" cy="628534"/>
          </a:xfrm>
          <a:prstGeom prst="rect">
            <a:avLst/>
          </a:prstGeom>
        </p:spPr>
        <p:txBody>
          <a:bodyPr anchor="t" rtlCol="false" tIns="0" lIns="0" bIns="0" rIns="0">
            <a:spAutoFit/>
          </a:bodyPr>
          <a:lstStyle/>
          <a:p>
            <a:pPr algn="ctr">
              <a:lnSpc>
                <a:spcPts val="2461"/>
              </a:lnSpc>
              <a:spcBef>
                <a:spcPct val="0"/>
              </a:spcBef>
            </a:pPr>
            <a:r>
              <a:rPr lang="en-US" b="true" sz="2050">
                <a:solidFill>
                  <a:srgbClr val="FFFFFF"/>
                </a:solidFill>
                <a:latin typeface="Poppins Medium"/>
                <a:ea typeface="Poppins Medium"/>
                <a:cs typeface="Poppins Medium"/>
                <a:sym typeface="Poppins Medium"/>
              </a:rPr>
              <a:t>Identify 30-40% of anonymous visitors.</a:t>
            </a:r>
          </a:p>
        </p:txBody>
      </p:sp>
      <p:sp>
        <p:nvSpPr>
          <p:cNvPr name="TextBox 40" id="40"/>
          <p:cNvSpPr txBox="true"/>
          <p:nvPr/>
        </p:nvSpPr>
        <p:spPr>
          <a:xfrm rot="0">
            <a:off x="14104712" y="6961836"/>
            <a:ext cx="1277483" cy="381956"/>
          </a:xfrm>
          <a:prstGeom prst="rect">
            <a:avLst/>
          </a:prstGeom>
        </p:spPr>
        <p:txBody>
          <a:bodyPr anchor="t" rtlCol="false" tIns="0" lIns="0" bIns="0" rIns="0">
            <a:spAutoFit/>
          </a:bodyPr>
          <a:lstStyle/>
          <a:p>
            <a:pPr algn="ctr">
              <a:lnSpc>
                <a:spcPts val="2887"/>
              </a:lnSpc>
              <a:spcBef>
                <a:spcPct val="0"/>
              </a:spcBef>
            </a:pPr>
            <a:r>
              <a:rPr lang="en-US" b="true" sz="2406">
                <a:solidFill>
                  <a:srgbClr val="000000"/>
                </a:solidFill>
                <a:latin typeface="Poppins Bold"/>
                <a:ea typeface="Poppins Bold"/>
                <a:cs typeface="Poppins Bold"/>
                <a:sym typeface="Poppins Bold"/>
              </a:rPr>
              <a:t>Recover</a:t>
            </a:r>
          </a:p>
        </p:txBody>
      </p:sp>
      <p:sp>
        <p:nvSpPr>
          <p:cNvPr name="TextBox 41" id="41"/>
          <p:cNvSpPr txBox="true"/>
          <p:nvPr/>
        </p:nvSpPr>
        <p:spPr>
          <a:xfrm rot="0">
            <a:off x="12240151" y="7965564"/>
            <a:ext cx="5006604" cy="628534"/>
          </a:xfrm>
          <a:prstGeom prst="rect">
            <a:avLst/>
          </a:prstGeom>
        </p:spPr>
        <p:txBody>
          <a:bodyPr anchor="t" rtlCol="false" tIns="0" lIns="0" bIns="0" rIns="0">
            <a:spAutoFit/>
          </a:bodyPr>
          <a:lstStyle/>
          <a:p>
            <a:pPr algn="ctr">
              <a:lnSpc>
                <a:spcPts val="2461"/>
              </a:lnSpc>
              <a:spcBef>
                <a:spcPct val="0"/>
              </a:spcBef>
            </a:pPr>
            <a:r>
              <a:rPr lang="en-US" b="true" sz="2050">
                <a:solidFill>
                  <a:srgbClr val="FFFFFF"/>
                </a:solidFill>
                <a:latin typeface="Poppins Medium"/>
                <a:ea typeface="Poppins Medium"/>
                <a:cs typeface="Poppins Medium"/>
                <a:sym typeface="Poppins Medium"/>
              </a:rPr>
              <a:t>Recover past traffic for 2-3x more leads.</a:t>
            </a:r>
          </a:p>
        </p:txBody>
      </p:sp>
      <p:sp>
        <p:nvSpPr>
          <p:cNvPr name="TextBox 42" id="42"/>
          <p:cNvSpPr txBox="true"/>
          <p:nvPr/>
        </p:nvSpPr>
        <p:spPr>
          <a:xfrm rot="0">
            <a:off x="1583225" y="6961836"/>
            <a:ext cx="3719483" cy="381956"/>
          </a:xfrm>
          <a:prstGeom prst="rect">
            <a:avLst/>
          </a:prstGeom>
        </p:spPr>
        <p:txBody>
          <a:bodyPr anchor="t" rtlCol="false" tIns="0" lIns="0" bIns="0" rIns="0">
            <a:spAutoFit/>
          </a:bodyPr>
          <a:lstStyle/>
          <a:p>
            <a:pPr algn="ctr">
              <a:lnSpc>
                <a:spcPts val="2887"/>
              </a:lnSpc>
              <a:spcBef>
                <a:spcPct val="0"/>
              </a:spcBef>
            </a:pPr>
            <a:r>
              <a:rPr lang="en-US" b="true" sz="2406">
                <a:solidFill>
                  <a:srgbClr val="000000"/>
                </a:solidFill>
                <a:latin typeface="Poppins Bold"/>
                <a:ea typeface="Poppins Bold"/>
                <a:cs typeface="Poppins Bold"/>
                <a:sym typeface="Poppins Bold"/>
              </a:rPr>
              <a:t>Install</a:t>
            </a:r>
          </a:p>
        </p:txBody>
      </p:sp>
      <p:sp>
        <p:nvSpPr>
          <p:cNvPr name="TextBox 43" id="43"/>
          <p:cNvSpPr txBox="true"/>
          <p:nvPr/>
        </p:nvSpPr>
        <p:spPr>
          <a:xfrm rot="0">
            <a:off x="1868076" y="3108960"/>
            <a:ext cx="8521570" cy="1563369"/>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UNLOCK </a:t>
            </a:r>
            <a:r>
              <a:rPr lang="en-US" b="true" sz="2200" i="true" spc="528">
                <a:solidFill>
                  <a:srgbClr val="A0EEEB"/>
                </a:solidFill>
                <a:latin typeface="Poppins Bold Italics"/>
                <a:ea typeface="Poppins Bold Italics"/>
                <a:cs typeface="Poppins Bold Italics"/>
                <a:sym typeface="Poppins Bold Italics"/>
              </a:rPr>
              <a:t>VALUABLE INSIGHTS</a:t>
            </a:r>
            <a:r>
              <a:rPr lang="en-US" sz="2200" i="true" spc="528">
                <a:solidFill>
                  <a:srgbClr val="F6F6F6"/>
                </a:solidFill>
                <a:latin typeface="Poppins Italics"/>
                <a:ea typeface="Poppins Italics"/>
                <a:cs typeface="Poppins Italics"/>
                <a:sym typeface="Poppins Italics"/>
              </a:rPr>
              <a:t> BY</a:t>
            </a:r>
            <a:r>
              <a:rPr lang="en-US" sz="2200" i="true" spc="528">
                <a:solidFill>
                  <a:srgbClr val="F6F6F6"/>
                </a:solidFill>
                <a:latin typeface="Poppins Italics"/>
                <a:ea typeface="Poppins Italics"/>
                <a:cs typeface="Poppins Italics"/>
                <a:sym typeface="Poppins Italics"/>
              </a:rPr>
              <a:t> </a:t>
            </a:r>
            <a:r>
              <a:rPr lang="en-US" b="true" sz="2200" i="true" spc="528">
                <a:solidFill>
                  <a:srgbClr val="F6F6F6"/>
                </a:solidFill>
                <a:latin typeface="Poppins Bold Italics"/>
                <a:ea typeface="Poppins Bold Italics"/>
                <a:cs typeface="Poppins Bold Italics"/>
                <a:sym typeface="Poppins Bold Italics"/>
              </a:rPr>
              <a:t>REVEALING ANONYMOUS VISITORS</a:t>
            </a:r>
            <a:r>
              <a:rPr lang="en-US" sz="2200" i="true" spc="528">
                <a:solidFill>
                  <a:srgbClr val="F6F6F6"/>
                </a:solidFill>
                <a:latin typeface="Poppins Italics"/>
                <a:ea typeface="Poppins Italics"/>
                <a:cs typeface="Poppins Italics"/>
                <a:sym typeface="Poppins Italics"/>
              </a:rPr>
              <a:t>, ENSURING MORE </a:t>
            </a:r>
            <a:r>
              <a:rPr lang="en-US" b="true" sz="2200" i="true" spc="528">
                <a:solidFill>
                  <a:srgbClr val="F6F6F6"/>
                </a:solidFill>
                <a:latin typeface="Poppins Bold Italics"/>
                <a:ea typeface="Poppins Bold Italics"/>
                <a:cs typeface="Poppins Bold Italics"/>
                <a:sym typeface="Poppins Bold Italics"/>
              </a:rPr>
              <a:t>EFFECTIVE MARKETING STRATEGIES</a:t>
            </a:r>
            <a:r>
              <a:rPr lang="en-US" sz="2200" i="true" spc="528">
                <a:solidFill>
                  <a:srgbClr val="F6F6F6"/>
                </a:solidFill>
                <a:latin typeface="Poppins Italics"/>
                <a:ea typeface="Poppins Italics"/>
                <a:cs typeface="Poppins Italics"/>
                <a:sym typeface="Poppins Italics"/>
              </a:rPr>
              <a:t> AND </a:t>
            </a:r>
            <a:r>
              <a:rPr lang="en-US" b="true" sz="2200" i="true" spc="528">
                <a:solidFill>
                  <a:srgbClr val="F6F6F6"/>
                </a:solidFill>
                <a:latin typeface="Poppins Bold Italics"/>
                <a:ea typeface="Poppins Bold Italics"/>
                <a:cs typeface="Poppins Bold Italics"/>
                <a:sym typeface="Poppins Bold Italics"/>
              </a:rPr>
              <a:t>ENHANCED ENGAGEMENT.</a:t>
            </a:r>
          </a:p>
        </p:txBody>
      </p:sp>
      <p:sp>
        <p:nvSpPr>
          <p:cNvPr name="TextBox 44" id="44"/>
          <p:cNvSpPr txBox="true"/>
          <p:nvPr/>
        </p:nvSpPr>
        <p:spPr>
          <a:xfrm rot="0">
            <a:off x="1868076" y="1428750"/>
            <a:ext cx="9355720" cy="1539273"/>
          </a:xfrm>
          <a:prstGeom prst="rect">
            <a:avLst/>
          </a:prstGeom>
        </p:spPr>
        <p:txBody>
          <a:bodyPr anchor="t" rtlCol="false" tIns="0" lIns="0" bIns="0" rIns="0">
            <a:spAutoFit/>
          </a:bodyPr>
          <a:lstStyle/>
          <a:p>
            <a:pPr algn="l" marL="0" indent="0" lvl="0">
              <a:lnSpc>
                <a:spcPts val="5883"/>
              </a:lnSpc>
            </a:pPr>
            <a:r>
              <a:rPr lang="en-US" b="true" sz="5253">
                <a:solidFill>
                  <a:srgbClr val="F6F6F6"/>
                </a:solidFill>
                <a:latin typeface="Poppins Semi-Bold"/>
                <a:ea typeface="Poppins Semi-Bold"/>
                <a:cs typeface="Poppins Semi-Bold"/>
                <a:sym typeface="Poppins Semi-Bold"/>
              </a:rPr>
              <a:t>W</a:t>
            </a:r>
            <a:r>
              <a:rPr lang="en-US" b="true" sz="5253">
                <a:solidFill>
                  <a:srgbClr val="F6F6F6"/>
                </a:solidFill>
                <a:latin typeface="Poppins Semi-Bold"/>
                <a:ea typeface="Poppins Semi-Bold"/>
                <a:cs typeface="Poppins Semi-Bold"/>
                <a:sym typeface="Poppins Semi-Bold"/>
              </a:rPr>
              <a:t>ebsite Deanonymization Services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a:ln w="85725" cap="sq">
            <a:solidFill>
              <a:srgbClr val="000000">
                <a:alpha val="43922"/>
              </a:srgbClr>
            </a:solidFill>
            <a:prstDash val="solid"/>
            <a:miter/>
          </a:ln>
        </p:spPr>
      </p:sp>
      <p:sp>
        <p:nvSpPr>
          <p:cNvPr name="Freeform 3" id="3"/>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3">
              <a:alphaModFix amt="21999"/>
            </a:blip>
            <a:stretch>
              <a:fillRect l="0" t="0" r="0" b="0"/>
            </a:stretch>
          </a:blipFill>
        </p:spPr>
      </p:sp>
      <p:grpSp>
        <p:nvGrpSpPr>
          <p:cNvPr name="Group 4" id="4"/>
          <p:cNvGrpSpPr/>
          <p:nvPr/>
        </p:nvGrpSpPr>
        <p:grpSpPr>
          <a:xfrm rot="0">
            <a:off x="1858551" y="4240016"/>
            <a:ext cx="14515294" cy="1263456"/>
            <a:chOff x="0" y="0"/>
            <a:chExt cx="4829549" cy="420379"/>
          </a:xfrm>
        </p:grpSpPr>
        <p:sp>
          <p:nvSpPr>
            <p:cNvPr name="Freeform 5" id="5"/>
            <p:cNvSpPr/>
            <p:nvPr/>
          </p:nvSpPr>
          <p:spPr>
            <a:xfrm flipH="false" flipV="false" rot="0">
              <a:off x="0" y="0"/>
              <a:ext cx="4829549" cy="420379"/>
            </a:xfrm>
            <a:custGeom>
              <a:avLst/>
              <a:gdLst/>
              <a:ahLst/>
              <a:cxnLst/>
              <a:rect r="r" b="b" t="t" l="l"/>
              <a:pathLst>
                <a:path h="420379" w="4829549">
                  <a:moveTo>
                    <a:pt x="53336" y="0"/>
                  </a:moveTo>
                  <a:lnTo>
                    <a:pt x="4776212" y="0"/>
                  </a:lnTo>
                  <a:cubicBezTo>
                    <a:pt x="4790358" y="0"/>
                    <a:pt x="4803924" y="5619"/>
                    <a:pt x="4813927" y="15622"/>
                  </a:cubicBezTo>
                  <a:cubicBezTo>
                    <a:pt x="4823929" y="25624"/>
                    <a:pt x="4829549" y="39191"/>
                    <a:pt x="4829549" y="53336"/>
                  </a:cubicBezTo>
                  <a:lnTo>
                    <a:pt x="4829549" y="367042"/>
                  </a:lnTo>
                  <a:cubicBezTo>
                    <a:pt x="4829549" y="381188"/>
                    <a:pt x="4823929" y="394754"/>
                    <a:pt x="4813927" y="404757"/>
                  </a:cubicBezTo>
                  <a:cubicBezTo>
                    <a:pt x="4803924" y="414759"/>
                    <a:pt x="4790358" y="420379"/>
                    <a:pt x="4776212" y="420379"/>
                  </a:cubicBezTo>
                  <a:lnTo>
                    <a:pt x="53336" y="420379"/>
                  </a:lnTo>
                  <a:cubicBezTo>
                    <a:pt x="39191" y="420379"/>
                    <a:pt x="25624" y="414759"/>
                    <a:pt x="15622" y="404757"/>
                  </a:cubicBezTo>
                  <a:cubicBezTo>
                    <a:pt x="5619" y="394754"/>
                    <a:pt x="0" y="381188"/>
                    <a:pt x="0" y="367042"/>
                  </a:cubicBezTo>
                  <a:lnTo>
                    <a:pt x="0" y="53336"/>
                  </a:lnTo>
                  <a:cubicBezTo>
                    <a:pt x="0" y="39191"/>
                    <a:pt x="5619" y="25624"/>
                    <a:pt x="15622" y="15622"/>
                  </a:cubicBezTo>
                  <a:cubicBezTo>
                    <a:pt x="25624" y="5619"/>
                    <a:pt x="39191" y="0"/>
                    <a:pt x="53336" y="0"/>
                  </a:cubicBezTo>
                  <a:close/>
                </a:path>
              </a:pathLst>
            </a:custGeom>
            <a:solidFill>
              <a:srgbClr val="A0EEEB">
                <a:alpha val="40784"/>
              </a:srgbClr>
            </a:solidFill>
          </p:spPr>
        </p:sp>
        <p:sp>
          <p:nvSpPr>
            <p:cNvPr name="TextBox 6" id="6"/>
            <p:cNvSpPr txBox="true"/>
            <p:nvPr/>
          </p:nvSpPr>
          <p:spPr>
            <a:xfrm>
              <a:off x="0" y="-19050"/>
              <a:ext cx="4829549" cy="439429"/>
            </a:xfrm>
            <a:prstGeom prst="rect">
              <a:avLst/>
            </a:prstGeom>
          </p:spPr>
          <p:txBody>
            <a:bodyPr anchor="ctr" rtlCol="false" tIns="50800" lIns="50800" bIns="50800" rIns="50800"/>
            <a:lstStyle/>
            <a:p>
              <a:pPr algn="ctr">
                <a:lnSpc>
                  <a:spcPts val="2640"/>
                </a:lnSpc>
              </a:pPr>
            </a:p>
          </p:txBody>
        </p:sp>
      </p:grpSp>
      <p:grpSp>
        <p:nvGrpSpPr>
          <p:cNvPr name="Group 7" id="7"/>
          <p:cNvGrpSpPr/>
          <p:nvPr/>
        </p:nvGrpSpPr>
        <p:grpSpPr>
          <a:xfrm rot="0">
            <a:off x="1858551" y="6767281"/>
            <a:ext cx="14515294" cy="1263456"/>
            <a:chOff x="0" y="0"/>
            <a:chExt cx="4829549" cy="420379"/>
          </a:xfrm>
        </p:grpSpPr>
        <p:sp>
          <p:nvSpPr>
            <p:cNvPr name="Freeform 8" id="8"/>
            <p:cNvSpPr/>
            <p:nvPr/>
          </p:nvSpPr>
          <p:spPr>
            <a:xfrm flipH="false" flipV="false" rot="0">
              <a:off x="0" y="0"/>
              <a:ext cx="4829549" cy="420379"/>
            </a:xfrm>
            <a:custGeom>
              <a:avLst/>
              <a:gdLst/>
              <a:ahLst/>
              <a:cxnLst/>
              <a:rect r="r" b="b" t="t" l="l"/>
              <a:pathLst>
                <a:path h="420379" w="4829549">
                  <a:moveTo>
                    <a:pt x="53336" y="0"/>
                  </a:moveTo>
                  <a:lnTo>
                    <a:pt x="4776212" y="0"/>
                  </a:lnTo>
                  <a:cubicBezTo>
                    <a:pt x="4790358" y="0"/>
                    <a:pt x="4803924" y="5619"/>
                    <a:pt x="4813927" y="15622"/>
                  </a:cubicBezTo>
                  <a:cubicBezTo>
                    <a:pt x="4823929" y="25624"/>
                    <a:pt x="4829549" y="39191"/>
                    <a:pt x="4829549" y="53336"/>
                  </a:cubicBezTo>
                  <a:lnTo>
                    <a:pt x="4829549" y="367042"/>
                  </a:lnTo>
                  <a:cubicBezTo>
                    <a:pt x="4829549" y="381188"/>
                    <a:pt x="4823929" y="394754"/>
                    <a:pt x="4813927" y="404757"/>
                  </a:cubicBezTo>
                  <a:cubicBezTo>
                    <a:pt x="4803924" y="414759"/>
                    <a:pt x="4790358" y="420379"/>
                    <a:pt x="4776212" y="420379"/>
                  </a:cubicBezTo>
                  <a:lnTo>
                    <a:pt x="53336" y="420379"/>
                  </a:lnTo>
                  <a:cubicBezTo>
                    <a:pt x="39191" y="420379"/>
                    <a:pt x="25624" y="414759"/>
                    <a:pt x="15622" y="404757"/>
                  </a:cubicBezTo>
                  <a:cubicBezTo>
                    <a:pt x="5619" y="394754"/>
                    <a:pt x="0" y="381188"/>
                    <a:pt x="0" y="367042"/>
                  </a:cubicBezTo>
                  <a:lnTo>
                    <a:pt x="0" y="53336"/>
                  </a:lnTo>
                  <a:cubicBezTo>
                    <a:pt x="0" y="39191"/>
                    <a:pt x="5619" y="25624"/>
                    <a:pt x="15622" y="15622"/>
                  </a:cubicBezTo>
                  <a:cubicBezTo>
                    <a:pt x="25624" y="5619"/>
                    <a:pt x="39191" y="0"/>
                    <a:pt x="53336" y="0"/>
                  </a:cubicBezTo>
                  <a:close/>
                </a:path>
              </a:pathLst>
            </a:custGeom>
            <a:solidFill>
              <a:srgbClr val="398085">
                <a:alpha val="40784"/>
              </a:srgbClr>
            </a:solidFill>
          </p:spPr>
        </p:sp>
        <p:sp>
          <p:nvSpPr>
            <p:cNvPr name="TextBox 9" id="9"/>
            <p:cNvSpPr txBox="true"/>
            <p:nvPr/>
          </p:nvSpPr>
          <p:spPr>
            <a:xfrm>
              <a:off x="0" y="-19050"/>
              <a:ext cx="4829549" cy="439429"/>
            </a:xfrm>
            <a:prstGeom prst="rect">
              <a:avLst/>
            </a:prstGeom>
          </p:spPr>
          <p:txBody>
            <a:bodyPr anchor="ctr" rtlCol="false" tIns="50800" lIns="50800" bIns="50800" rIns="50800"/>
            <a:lstStyle/>
            <a:p>
              <a:pPr algn="ctr">
                <a:lnSpc>
                  <a:spcPts val="2640"/>
                </a:lnSpc>
              </a:pPr>
            </a:p>
          </p:txBody>
        </p:sp>
      </p:grpSp>
      <p:sp>
        <p:nvSpPr>
          <p:cNvPr name="Freeform 10" id="10"/>
          <p:cNvSpPr/>
          <p:nvPr/>
        </p:nvSpPr>
        <p:spPr>
          <a:xfrm flipH="false" flipV="false" rot="0">
            <a:off x="4637394" y="3389313"/>
            <a:ext cx="2959264" cy="2955565"/>
          </a:xfrm>
          <a:custGeom>
            <a:avLst/>
            <a:gdLst/>
            <a:ahLst/>
            <a:cxnLst/>
            <a:rect r="r" b="b" t="t" l="l"/>
            <a:pathLst>
              <a:path h="2955565" w="2959264">
                <a:moveTo>
                  <a:pt x="0" y="0"/>
                </a:moveTo>
                <a:lnTo>
                  <a:pt x="2959264" y="0"/>
                </a:lnTo>
                <a:lnTo>
                  <a:pt x="2959264" y="2955564"/>
                </a:lnTo>
                <a:lnTo>
                  <a:pt x="0" y="2955564"/>
                </a:lnTo>
                <a:lnTo>
                  <a:pt x="0" y="0"/>
                </a:lnTo>
                <a:close/>
              </a:path>
            </a:pathLst>
          </a:custGeom>
          <a:blipFill>
            <a:blip r:embed="rId4">
              <a:alphaModFix amt="51000"/>
            </a:blip>
            <a:stretch>
              <a:fillRect l="0" t="0" r="0" b="0"/>
            </a:stretch>
          </a:blipFill>
        </p:spPr>
      </p:sp>
      <p:sp>
        <p:nvSpPr>
          <p:cNvPr name="Freeform 11" id="11"/>
          <p:cNvSpPr/>
          <p:nvPr/>
        </p:nvSpPr>
        <p:spPr>
          <a:xfrm flipH="false" flipV="false" rot="0">
            <a:off x="7871910" y="3389313"/>
            <a:ext cx="2959264" cy="2955565"/>
          </a:xfrm>
          <a:custGeom>
            <a:avLst/>
            <a:gdLst/>
            <a:ahLst/>
            <a:cxnLst/>
            <a:rect r="r" b="b" t="t" l="l"/>
            <a:pathLst>
              <a:path h="2955565" w="2959264">
                <a:moveTo>
                  <a:pt x="0" y="0"/>
                </a:moveTo>
                <a:lnTo>
                  <a:pt x="2959264" y="0"/>
                </a:lnTo>
                <a:lnTo>
                  <a:pt x="2959264" y="2955564"/>
                </a:lnTo>
                <a:lnTo>
                  <a:pt x="0" y="2955564"/>
                </a:lnTo>
                <a:lnTo>
                  <a:pt x="0" y="0"/>
                </a:lnTo>
                <a:close/>
              </a:path>
            </a:pathLst>
          </a:custGeom>
          <a:blipFill>
            <a:blip r:embed="rId4">
              <a:alphaModFix amt="51000"/>
            </a:blip>
            <a:stretch>
              <a:fillRect l="0" t="0" r="0" b="0"/>
            </a:stretch>
          </a:blipFill>
        </p:spPr>
      </p:sp>
      <p:sp>
        <p:nvSpPr>
          <p:cNvPr name="Freeform 12" id="12"/>
          <p:cNvSpPr/>
          <p:nvPr/>
        </p:nvSpPr>
        <p:spPr>
          <a:xfrm flipH="false" flipV="false" rot="0">
            <a:off x="11109031" y="3389313"/>
            <a:ext cx="2959264" cy="2955565"/>
          </a:xfrm>
          <a:custGeom>
            <a:avLst/>
            <a:gdLst/>
            <a:ahLst/>
            <a:cxnLst/>
            <a:rect r="r" b="b" t="t" l="l"/>
            <a:pathLst>
              <a:path h="2955565" w="2959264">
                <a:moveTo>
                  <a:pt x="0" y="0"/>
                </a:moveTo>
                <a:lnTo>
                  <a:pt x="2959264" y="0"/>
                </a:lnTo>
                <a:lnTo>
                  <a:pt x="2959264" y="2955564"/>
                </a:lnTo>
                <a:lnTo>
                  <a:pt x="0" y="2955564"/>
                </a:lnTo>
                <a:lnTo>
                  <a:pt x="0" y="0"/>
                </a:lnTo>
                <a:close/>
              </a:path>
            </a:pathLst>
          </a:custGeom>
          <a:blipFill>
            <a:blip r:embed="rId4">
              <a:alphaModFix amt="51000"/>
            </a:blip>
            <a:stretch>
              <a:fillRect l="0" t="0" r="0" b="0"/>
            </a:stretch>
          </a:blipFill>
        </p:spPr>
      </p:sp>
      <p:sp>
        <p:nvSpPr>
          <p:cNvPr name="Freeform 13" id="13"/>
          <p:cNvSpPr/>
          <p:nvPr/>
        </p:nvSpPr>
        <p:spPr>
          <a:xfrm flipH="false" flipV="false" rot="0">
            <a:off x="7810253" y="6103628"/>
            <a:ext cx="2959264" cy="2955565"/>
          </a:xfrm>
          <a:custGeom>
            <a:avLst/>
            <a:gdLst/>
            <a:ahLst/>
            <a:cxnLst/>
            <a:rect r="r" b="b" t="t" l="l"/>
            <a:pathLst>
              <a:path h="2955565" w="2959264">
                <a:moveTo>
                  <a:pt x="0" y="0"/>
                </a:moveTo>
                <a:lnTo>
                  <a:pt x="2959263" y="0"/>
                </a:lnTo>
                <a:lnTo>
                  <a:pt x="2959263" y="2955565"/>
                </a:lnTo>
                <a:lnTo>
                  <a:pt x="0" y="2955565"/>
                </a:lnTo>
                <a:lnTo>
                  <a:pt x="0" y="0"/>
                </a:lnTo>
                <a:close/>
              </a:path>
            </a:pathLst>
          </a:custGeom>
          <a:blipFill>
            <a:blip r:embed="rId4">
              <a:alphaModFix amt="51000"/>
            </a:blip>
            <a:stretch>
              <a:fillRect l="0" t="0" r="0" b="0"/>
            </a:stretch>
          </a:blipFill>
        </p:spPr>
      </p:sp>
      <p:sp>
        <p:nvSpPr>
          <p:cNvPr name="Freeform 14" id="14"/>
          <p:cNvSpPr/>
          <p:nvPr/>
        </p:nvSpPr>
        <p:spPr>
          <a:xfrm flipH="false" flipV="false" rot="0">
            <a:off x="11054066" y="5949779"/>
            <a:ext cx="2959264" cy="2955565"/>
          </a:xfrm>
          <a:custGeom>
            <a:avLst/>
            <a:gdLst/>
            <a:ahLst/>
            <a:cxnLst/>
            <a:rect r="r" b="b" t="t" l="l"/>
            <a:pathLst>
              <a:path h="2955565" w="2959264">
                <a:moveTo>
                  <a:pt x="0" y="0"/>
                </a:moveTo>
                <a:lnTo>
                  <a:pt x="2959264" y="0"/>
                </a:lnTo>
                <a:lnTo>
                  <a:pt x="2959264" y="2955565"/>
                </a:lnTo>
                <a:lnTo>
                  <a:pt x="0" y="2955565"/>
                </a:lnTo>
                <a:lnTo>
                  <a:pt x="0" y="0"/>
                </a:lnTo>
                <a:close/>
              </a:path>
            </a:pathLst>
          </a:custGeom>
          <a:blipFill>
            <a:blip r:embed="rId4">
              <a:alphaModFix amt="51000"/>
            </a:blip>
            <a:stretch>
              <a:fillRect l="0" t="0" r="0" b="0"/>
            </a:stretch>
          </a:blipFill>
        </p:spPr>
      </p:sp>
      <p:sp>
        <p:nvSpPr>
          <p:cNvPr name="Freeform 15" id="15"/>
          <p:cNvSpPr/>
          <p:nvPr/>
        </p:nvSpPr>
        <p:spPr>
          <a:xfrm flipH="false" flipV="false" rot="0">
            <a:off x="14288582" y="5819606"/>
            <a:ext cx="2959264" cy="2955565"/>
          </a:xfrm>
          <a:custGeom>
            <a:avLst/>
            <a:gdLst/>
            <a:ahLst/>
            <a:cxnLst/>
            <a:rect r="r" b="b" t="t" l="l"/>
            <a:pathLst>
              <a:path h="2955565" w="2959264">
                <a:moveTo>
                  <a:pt x="0" y="0"/>
                </a:moveTo>
                <a:lnTo>
                  <a:pt x="2959264" y="0"/>
                </a:lnTo>
                <a:lnTo>
                  <a:pt x="2959264" y="2955565"/>
                </a:lnTo>
                <a:lnTo>
                  <a:pt x="0" y="2955565"/>
                </a:lnTo>
                <a:lnTo>
                  <a:pt x="0" y="0"/>
                </a:lnTo>
                <a:close/>
              </a:path>
            </a:pathLst>
          </a:custGeom>
          <a:blipFill>
            <a:blip r:embed="rId4">
              <a:alphaModFix amt="51000"/>
            </a:blip>
            <a:stretch>
              <a:fillRect l="0" t="0" r="0" b="0"/>
            </a:stretch>
          </a:blipFill>
        </p:spPr>
      </p:sp>
      <p:grpSp>
        <p:nvGrpSpPr>
          <p:cNvPr name="Group 16" id="16"/>
          <p:cNvGrpSpPr/>
          <p:nvPr/>
        </p:nvGrpSpPr>
        <p:grpSpPr>
          <a:xfrm rot="0">
            <a:off x="5489948" y="4240016"/>
            <a:ext cx="1254157" cy="1254157"/>
            <a:chOff x="0" y="0"/>
            <a:chExt cx="588434" cy="588434"/>
          </a:xfrm>
        </p:grpSpPr>
        <p:sp>
          <p:nvSpPr>
            <p:cNvPr name="Freeform 17" id="17"/>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8" id="18"/>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19" id="19"/>
          <p:cNvGrpSpPr/>
          <p:nvPr/>
        </p:nvGrpSpPr>
        <p:grpSpPr>
          <a:xfrm rot="0">
            <a:off x="8724463" y="4240016"/>
            <a:ext cx="1254157" cy="1254157"/>
            <a:chOff x="0" y="0"/>
            <a:chExt cx="588434" cy="588434"/>
          </a:xfrm>
        </p:grpSpPr>
        <p:sp>
          <p:nvSpPr>
            <p:cNvPr name="Freeform 20" id="20"/>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1" id="21"/>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2" id="22"/>
          <p:cNvGrpSpPr/>
          <p:nvPr/>
        </p:nvGrpSpPr>
        <p:grpSpPr>
          <a:xfrm rot="0">
            <a:off x="11958979" y="4240016"/>
            <a:ext cx="1254157" cy="1254157"/>
            <a:chOff x="0" y="0"/>
            <a:chExt cx="588434" cy="588434"/>
          </a:xfrm>
        </p:grpSpPr>
        <p:sp>
          <p:nvSpPr>
            <p:cNvPr name="Freeform 23" id="23"/>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4" id="24"/>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5" id="25"/>
          <p:cNvGrpSpPr/>
          <p:nvPr/>
        </p:nvGrpSpPr>
        <p:grpSpPr>
          <a:xfrm rot="0">
            <a:off x="8662806" y="6767281"/>
            <a:ext cx="1254157" cy="1254157"/>
            <a:chOff x="0" y="0"/>
            <a:chExt cx="588434" cy="588434"/>
          </a:xfrm>
        </p:grpSpPr>
        <p:sp>
          <p:nvSpPr>
            <p:cNvPr name="Freeform 26" id="26"/>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42A6A3"/>
              </a:solidFill>
              <a:prstDash val="solid"/>
              <a:round/>
            </a:ln>
          </p:spPr>
        </p:sp>
        <p:sp>
          <p:nvSpPr>
            <p:cNvPr name="TextBox 27" id="27"/>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8" id="28"/>
          <p:cNvGrpSpPr/>
          <p:nvPr/>
        </p:nvGrpSpPr>
        <p:grpSpPr>
          <a:xfrm rot="0">
            <a:off x="11929690" y="6767281"/>
            <a:ext cx="1254157" cy="1254157"/>
            <a:chOff x="0" y="0"/>
            <a:chExt cx="588434" cy="588434"/>
          </a:xfrm>
        </p:grpSpPr>
        <p:sp>
          <p:nvSpPr>
            <p:cNvPr name="Freeform 29" id="29"/>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42A6A3"/>
              </a:solidFill>
              <a:prstDash val="solid"/>
              <a:round/>
            </a:ln>
          </p:spPr>
        </p:sp>
        <p:sp>
          <p:nvSpPr>
            <p:cNvPr name="TextBox 30" id="30"/>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31" id="31"/>
          <p:cNvGrpSpPr/>
          <p:nvPr/>
        </p:nvGrpSpPr>
        <p:grpSpPr>
          <a:xfrm rot="0">
            <a:off x="15143740" y="6767281"/>
            <a:ext cx="1254157" cy="1254157"/>
            <a:chOff x="0" y="0"/>
            <a:chExt cx="588434" cy="588434"/>
          </a:xfrm>
        </p:grpSpPr>
        <p:sp>
          <p:nvSpPr>
            <p:cNvPr name="Freeform 32" id="32"/>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42A6A3"/>
              </a:solidFill>
              <a:prstDash val="solid"/>
              <a:round/>
            </a:ln>
          </p:spPr>
        </p:sp>
        <p:sp>
          <p:nvSpPr>
            <p:cNvPr name="TextBox 33" id="33"/>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34" id="34"/>
          <p:cNvSpPr/>
          <p:nvPr/>
        </p:nvSpPr>
        <p:spPr>
          <a:xfrm flipH="false" flipV="false" rot="0">
            <a:off x="9068492" y="4559321"/>
            <a:ext cx="512308" cy="510387"/>
          </a:xfrm>
          <a:custGeom>
            <a:avLst/>
            <a:gdLst/>
            <a:ahLst/>
            <a:cxnLst/>
            <a:rect r="r" b="b" t="t" l="l"/>
            <a:pathLst>
              <a:path h="510387" w="512308">
                <a:moveTo>
                  <a:pt x="0" y="0"/>
                </a:moveTo>
                <a:lnTo>
                  <a:pt x="512308" y="0"/>
                </a:lnTo>
                <a:lnTo>
                  <a:pt x="512308" y="510386"/>
                </a:lnTo>
                <a:lnTo>
                  <a:pt x="0" y="5103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5" id="35"/>
          <p:cNvSpPr/>
          <p:nvPr/>
        </p:nvSpPr>
        <p:spPr>
          <a:xfrm flipH="false" flipV="false" rot="0">
            <a:off x="12025153" y="4311186"/>
            <a:ext cx="1121810" cy="1121810"/>
          </a:xfrm>
          <a:custGeom>
            <a:avLst/>
            <a:gdLst/>
            <a:ahLst/>
            <a:cxnLst/>
            <a:rect r="r" b="b" t="t" l="l"/>
            <a:pathLst>
              <a:path h="1121810" w="1121810">
                <a:moveTo>
                  <a:pt x="0" y="0"/>
                </a:moveTo>
                <a:lnTo>
                  <a:pt x="1121809" y="0"/>
                </a:lnTo>
                <a:lnTo>
                  <a:pt x="1121809" y="1121810"/>
                </a:lnTo>
                <a:lnTo>
                  <a:pt x="0" y="11218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6" id="36"/>
          <p:cNvSpPr/>
          <p:nvPr/>
        </p:nvSpPr>
        <p:spPr>
          <a:xfrm flipH="false" flipV="false" rot="0">
            <a:off x="11995864" y="6842753"/>
            <a:ext cx="1121810" cy="1121810"/>
          </a:xfrm>
          <a:custGeom>
            <a:avLst/>
            <a:gdLst/>
            <a:ahLst/>
            <a:cxnLst/>
            <a:rect r="r" b="b" t="t" l="l"/>
            <a:pathLst>
              <a:path h="1121810" w="1121810">
                <a:moveTo>
                  <a:pt x="0" y="0"/>
                </a:moveTo>
                <a:lnTo>
                  <a:pt x="1121810" y="0"/>
                </a:lnTo>
                <a:lnTo>
                  <a:pt x="1121810" y="1121809"/>
                </a:lnTo>
                <a:lnTo>
                  <a:pt x="0" y="11218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7" id="37"/>
          <p:cNvSpPr/>
          <p:nvPr/>
        </p:nvSpPr>
        <p:spPr>
          <a:xfrm flipH="false" flipV="false" rot="0">
            <a:off x="15411126" y="7009474"/>
            <a:ext cx="719387" cy="769772"/>
          </a:xfrm>
          <a:custGeom>
            <a:avLst/>
            <a:gdLst/>
            <a:ahLst/>
            <a:cxnLst/>
            <a:rect r="r" b="b" t="t" l="l"/>
            <a:pathLst>
              <a:path h="769772" w="719387">
                <a:moveTo>
                  <a:pt x="0" y="0"/>
                </a:moveTo>
                <a:lnTo>
                  <a:pt x="719387" y="0"/>
                </a:lnTo>
                <a:lnTo>
                  <a:pt x="719387" y="769772"/>
                </a:lnTo>
                <a:lnTo>
                  <a:pt x="0" y="76977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8" id="38"/>
          <p:cNvSpPr/>
          <p:nvPr/>
        </p:nvSpPr>
        <p:spPr>
          <a:xfrm flipH="false" flipV="false" rot="0">
            <a:off x="9006835" y="7081589"/>
            <a:ext cx="512308" cy="510387"/>
          </a:xfrm>
          <a:custGeom>
            <a:avLst/>
            <a:gdLst/>
            <a:ahLst/>
            <a:cxnLst/>
            <a:rect r="r" b="b" t="t" l="l"/>
            <a:pathLst>
              <a:path h="510387" w="512308">
                <a:moveTo>
                  <a:pt x="0" y="0"/>
                </a:moveTo>
                <a:lnTo>
                  <a:pt x="512307" y="0"/>
                </a:lnTo>
                <a:lnTo>
                  <a:pt x="512307" y="510387"/>
                </a:lnTo>
                <a:lnTo>
                  <a:pt x="0" y="510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9" id="39"/>
          <p:cNvSpPr/>
          <p:nvPr/>
        </p:nvSpPr>
        <p:spPr>
          <a:xfrm flipH="false" flipV="false" rot="0">
            <a:off x="5705545" y="4570485"/>
            <a:ext cx="804367" cy="593221"/>
          </a:xfrm>
          <a:custGeom>
            <a:avLst/>
            <a:gdLst/>
            <a:ahLst/>
            <a:cxnLst/>
            <a:rect r="r" b="b" t="t" l="l"/>
            <a:pathLst>
              <a:path h="593221" w="804367">
                <a:moveTo>
                  <a:pt x="0" y="0"/>
                </a:moveTo>
                <a:lnTo>
                  <a:pt x="804367" y="0"/>
                </a:lnTo>
                <a:lnTo>
                  <a:pt x="804367" y="593220"/>
                </a:lnTo>
                <a:lnTo>
                  <a:pt x="0" y="59322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0" id="40"/>
          <p:cNvSpPr/>
          <p:nvPr/>
        </p:nvSpPr>
        <p:spPr>
          <a:xfrm flipH="false" flipV="false" rot="0">
            <a:off x="6783458" y="4356760"/>
            <a:ext cx="1894514" cy="1020670"/>
          </a:xfrm>
          <a:custGeom>
            <a:avLst/>
            <a:gdLst/>
            <a:ahLst/>
            <a:cxnLst/>
            <a:rect r="r" b="b" t="t" l="l"/>
            <a:pathLst>
              <a:path h="1020670" w="1894514">
                <a:moveTo>
                  <a:pt x="0" y="0"/>
                </a:moveTo>
                <a:lnTo>
                  <a:pt x="1894515" y="0"/>
                </a:lnTo>
                <a:lnTo>
                  <a:pt x="1894515" y="1020670"/>
                </a:lnTo>
                <a:lnTo>
                  <a:pt x="0" y="1020670"/>
                </a:lnTo>
                <a:lnTo>
                  <a:pt x="0" y="0"/>
                </a:lnTo>
                <a:close/>
              </a:path>
            </a:pathLst>
          </a:custGeom>
          <a:blipFill>
            <a:blip r:embed="rId13"/>
            <a:stretch>
              <a:fillRect l="0" t="0" r="0" b="0"/>
            </a:stretch>
          </a:blipFill>
        </p:spPr>
      </p:sp>
      <p:sp>
        <p:nvSpPr>
          <p:cNvPr name="TextBox 41" id="41"/>
          <p:cNvSpPr txBox="true"/>
          <p:nvPr/>
        </p:nvSpPr>
        <p:spPr>
          <a:xfrm rot="0">
            <a:off x="2975838" y="7198251"/>
            <a:ext cx="1696583" cy="383160"/>
          </a:xfrm>
          <a:prstGeom prst="rect">
            <a:avLst/>
          </a:prstGeom>
        </p:spPr>
        <p:txBody>
          <a:bodyPr anchor="t" rtlCol="false" tIns="0" lIns="0" bIns="0" rIns="0">
            <a:spAutoFit/>
          </a:bodyPr>
          <a:lstStyle/>
          <a:p>
            <a:pPr algn="ctr">
              <a:lnSpc>
                <a:spcPts val="2897"/>
              </a:lnSpc>
              <a:spcBef>
                <a:spcPct val="0"/>
              </a:spcBef>
            </a:pPr>
            <a:r>
              <a:rPr lang="en-US" b="true" sz="2414">
                <a:solidFill>
                  <a:srgbClr val="FFFFFF"/>
                </a:solidFill>
                <a:latin typeface="Poppins Bold"/>
                <a:ea typeface="Poppins Bold"/>
                <a:cs typeface="Poppins Bold"/>
                <a:sym typeface="Poppins Bold"/>
              </a:rPr>
              <a:t>WITH PIXEL</a:t>
            </a:r>
          </a:p>
        </p:txBody>
      </p:sp>
      <p:sp>
        <p:nvSpPr>
          <p:cNvPr name="TextBox 42" id="42"/>
          <p:cNvSpPr txBox="true"/>
          <p:nvPr/>
        </p:nvSpPr>
        <p:spPr>
          <a:xfrm rot="0">
            <a:off x="4334577" y="5670383"/>
            <a:ext cx="3564898" cy="279396"/>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10K Visitors</a:t>
            </a:r>
          </a:p>
        </p:txBody>
      </p:sp>
      <p:sp>
        <p:nvSpPr>
          <p:cNvPr name="TextBox 43" id="43"/>
          <p:cNvSpPr txBox="true"/>
          <p:nvPr/>
        </p:nvSpPr>
        <p:spPr>
          <a:xfrm rot="0">
            <a:off x="10774680" y="5670383"/>
            <a:ext cx="3564898" cy="279396"/>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500 Anonymous Leads</a:t>
            </a:r>
          </a:p>
        </p:txBody>
      </p:sp>
      <p:sp>
        <p:nvSpPr>
          <p:cNvPr name="TextBox 44" id="44"/>
          <p:cNvSpPr txBox="true"/>
          <p:nvPr/>
        </p:nvSpPr>
        <p:spPr>
          <a:xfrm rot="0">
            <a:off x="7569093" y="5670383"/>
            <a:ext cx="3564898" cy="279396"/>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5% CTR</a:t>
            </a:r>
          </a:p>
        </p:txBody>
      </p:sp>
      <p:sp>
        <p:nvSpPr>
          <p:cNvPr name="TextBox 45" id="45"/>
          <p:cNvSpPr txBox="true"/>
          <p:nvPr/>
        </p:nvSpPr>
        <p:spPr>
          <a:xfrm rot="0">
            <a:off x="7516734" y="8197648"/>
            <a:ext cx="3564898" cy="279396"/>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30% CTR</a:t>
            </a:r>
          </a:p>
        </p:txBody>
      </p:sp>
      <p:sp>
        <p:nvSpPr>
          <p:cNvPr name="Freeform 46" id="46"/>
          <p:cNvSpPr/>
          <p:nvPr/>
        </p:nvSpPr>
        <p:spPr>
          <a:xfrm flipH="false" flipV="false" rot="0">
            <a:off x="10021543" y="4356760"/>
            <a:ext cx="1894514" cy="1020670"/>
          </a:xfrm>
          <a:custGeom>
            <a:avLst/>
            <a:gdLst/>
            <a:ahLst/>
            <a:cxnLst/>
            <a:rect r="r" b="b" t="t" l="l"/>
            <a:pathLst>
              <a:path h="1020670" w="1894514">
                <a:moveTo>
                  <a:pt x="0" y="0"/>
                </a:moveTo>
                <a:lnTo>
                  <a:pt x="1894514" y="0"/>
                </a:lnTo>
                <a:lnTo>
                  <a:pt x="1894514" y="1020670"/>
                </a:lnTo>
                <a:lnTo>
                  <a:pt x="0" y="1020670"/>
                </a:lnTo>
                <a:lnTo>
                  <a:pt x="0" y="0"/>
                </a:lnTo>
                <a:close/>
              </a:path>
            </a:pathLst>
          </a:custGeom>
          <a:blipFill>
            <a:blip r:embed="rId13"/>
            <a:stretch>
              <a:fillRect l="0" t="0" r="0" b="0"/>
            </a:stretch>
          </a:blipFill>
        </p:spPr>
      </p:sp>
      <p:sp>
        <p:nvSpPr>
          <p:cNvPr name="Freeform 47" id="47"/>
          <p:cNvSpPr/>
          <p:nvPr/>
        </p:nvSpPr>
        <p:spPr>
          <a:xfrm flipH="false" flipV="false" rot="0">
            <a:off x="9976070" y="6917227"/>
            <a:ext cx="1894514" cy="1020670"/>
          </a:xfrm>
          <a:custGeom>
            <a:avLst/>
            <a:gdLst/>
            <a:ahLst/>
            <a:cxnLst/>
            <a:rect r="r" b="b" t="t" l="l"/>
            <a:pathLst>
              <a:path h="1020670" w="1894514">
                <a:moveTo>
                  <a:pt x="0" y="0"/>
                </a:moveTo>
                <a:lnTo>
                  <a:pt x="1894514" y="0"/>
                </a:lnTo>
                <a:lnTo>
                  <a:pt x="1894514" y="1020670"/>
                </a:lnTo>
                <a:lnTo>
                  <a:pt x="0" y="1020670"/>
                </a:lnTo>
                <a:lnTo>
                  <a:pt x="0" y="0"/>
                </a:lnTo>
                <a:close/>
              </a:path>
            </a:pathLst>
          </a:custGeom>
          <a:blipFill>
            <a:blip r:embed="rId14"/>
            <a:stretch>
              <a:fillRect l="0" t="0" r="0" b="0"/>
            </a:stretch>
          </a:blipFill>
        </p:spPr>
      </p:sp>
      <p:sp>
        <p:nvSpPr>
          <p:cNvPr name="Freeform 48" id="48"/>
          <p:cNvSpPr/>
          <p:nvPr/>
        </p:nvSpPr>
        <p:spPr>
          <a:xfrm flipH="false" flipV="false" rot="0">
            <a:off x="13183450" y="6917227"/>
            <a:ext cx="1894514" cy="1020670"/>
          </a:xfrm>
          <a:custGeom>
            <a:avLst/>
            <a:gdLst/>
            <a:ahLst/>
            <a:cxnLst/>
            <a:rect r="r" b="b" t="t" l="l"/>
            <a:pathLst>
              <a:path h="1020670" w="1894514">
                <a:moveTo>
                  <a:pt x="0" y="0"/>
                </a:moveTo>
                <a:lnTo>
                  <a:pt x="1894514" y="0"/>
                </a:lnTo>
                <a:lnTo>
                  <a:pt x="1894514" y="1020670"/>
                </a:lnTo>
                <a:lnTo>
                  <a:pt x="0" y="1020670"/>
                </a:lnTo>
                <a:lnTo>
                  <a:pt x="0" y="0"/>
                </a:lnTo>
                <a:close/>
              </a:path>
            </a:pathLst>
          </a:custGeom>
          <a:blipFill>
            <a:blip r:embed="rId14"/>
            <a:stretch>
              <a:fillRect l="0" t="0" r="0" b="0"/>
            </a:stretch>
          </a:blipFill>
        </p:spPr>
      </p:sp>
      <p:sp>
        <p:nvSpPr>
          <p:cNvPr name="Freeform 49" id="49"/>
          <p:cNvSpPr/>
          <p:nvPr/>
        </p:nvSpPr>
        <p:spPr>
          <a:xfrm flipH="false" flipV="false" rot="0">
            <a:off x="14269739" y="3415779"/>
            <a:ext cx="2959264" cy="2955565"/>
          </a:xfrm>
          <a:custGeom>
            <a:avLst/>
            <a:gdLst/>
            <a:ahLst/>
            <a:cxnLst/>
            <a:rect r="r" b="b" t="t" l="l"/>
            <a:pathLst>
              <a:path h="2955565" w="2959264">
                <a:moveTo>
                  <a:pt x="0" y="0"/>
                </a:moveTo>
                <a:lnTo>
                  <a:pt x="2959264" y="0"/>
                </a:lnTo>
                <a:lnTo>
                  <a:pt x="2959264" y="2955565"/>
                </a:lnTo>
                <a:lnTo>
                  <a:pt x="0" y="2955565"/>
                </a:lnTo>
                <a:lnTo>
                  <a:pt x="0" y="0"/>
                </a:lnTo>
                <a:close/>
              </a:path>
            </a:pathLst>
          </a:custGeom>
          <a:blipFill>
            <a:blip r:embed="rId4">
              <a:alphaModFix amt="51000"/>
            </a:blip>
            <a:stretch>
              <a:fillRect l="0" t="0" r="0" b="0"/>
            </a:stretch>
          </a:blipFill>
        </p:spPr>
      </p:sp>
      <p:grpSp>
        <p:nvGrpSpPr>
          <p:cNvPr name="Group 50" id="50"/>
          <p:cNvGrpSpPr/>
          <p:nvPr/>
        </p:nvGrpSpPr>
        <p:grpSpPr>
          <a:xfrm rot="0">
            <a:off x="15119687" y="4266483"/>
            <a:ext cx="1254157" cy="1254157"/>
            <a:chOff x="0" y="0"/>
            <a:chExt cx="588434" cy="588434"/>
          </a:xfrm>
        </p:grpSpPr>
        <p:sp>
          <p:nvSpPr>
            <p:cNvPr name="Freeform 51" id="51"/>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52" id="52"/>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53" id="53"/>
          <p:cNvSpPr/>
          <p:nvPr/>
        </p:nvSpPr>
        <p:spPr>
          <a:xfrm flipH="false" flipV="false" rot="0">
            <a:off x="13182251" y="4383227"/>
            <a:ext cx="1894514" cy="1020670"/>
          </a:xfrm>
          <a:custGeom>
            <a:avLst/>
            <a:gdLst/>
            <a:ahLst/>
            <a:cxnLst/>
            <a:rect r="r" b="b" t="t" l="l"/>
            <a:pathLst>
              <a:path h="1020670" w="1894514">
                <a:moveTo>
                  <a:pt x="0" y="0"/>
                </a:moveTo>
                <a:lnTo>
                  <a:pt x="1894515" y="0"/>
                </a:lnTo>
                <a:lnTo>
                  <a:pt x="1894515" y="1020670"/>
                </a:lnTo>
                <a:lnTo>
                  <a:pt x="0" y="1020670"/>
                </a:lnTo>
                <a:lnTo>
                  <a:pt x="0" y="0"/>
                </a:lnTo>
                <a:close/>
              </a:path>
            </a:pathLst>
          </a:custGeom>
          <a:blipFill>
            <a:blip r:embed="rId13"/>
            <a:stretch>
              <a:fillRect l="0" t="0" r="0" b="0"/>
            </a:stretch>
          </a:blipFill>
        </p:spPr>
      </p:sp>
      <p:sp>
        <p:nvSpPr>
          <p:cNvPr name="Freeform 54" id="54"/>
          <p:cNvSpPr/>
          <p:nvPr/>
        </p:nvSpPr>
        <p:spPr>
          <a:xfrm flipH="false" flipV="false" rot="0">
            <a:off x="4650837" y="5916577"/>
            <a:ext cx="2959264" cy="2955565"/>
          </a:xfrm>
          <a:custGeom>
            <a:avLst/>
            <a:gdLst/>
            <a:ahLst/>
            <a:cxnLst/>
            <a:rect r="r" b="b" t="t" l="l"/>
            <a:pathLst>
              <a:path h="2955565" w="2959264">
                <a:moveTo>
                  <a:pt x="0" y="0"/>
                </a:moveTo>
                <a:lnTo>
                  <a:pt x="2959264" y="0"/>
                </a:lnTo>
                <a:lnTo>
                  <a:pt x="2959264" y="2955565"/>
                </a:lnTo>
                <a:lnTo>
                  <a:pt x="0" y="2955565"/>
                </a:lnTo>
                <a:lnTo>
                  <a:pt x="0" y="0"/>
                </a:lnTo>
                <a:close/>
              </a:path>
            </a:pathLst>
          </a:custGeom>
          <a:blipFill>
            <a:blip r:embed="rId4">
              <a:alphaModFix amt="51000"/>
            </a:blip>
            <a:stretch>
              <a:fillRect l="0" t="0" r="0" b="0"/>
            </a:stretch>
          </a:blipFill>
        </p:spPr>
      </p:sp>
      <p:grpSp>
        <p:nvGrpSpPr>
          <p:cNvPr name="Group 55" id="55"/>
          <p:cNvGrpSpPr/>
          <p:nvPr/>
        </p:nvGrpSpPr>
        <p:grpSpPr>
          <a:xfrm rot="0">
            <a:off x="5503390" y="6767281"/>
            <a:ext cx="1254157" cy="1254157"/>
            <a:chOff x="0" y="0"/>
            <a:chExt cx="588434" cy="588434"/>
          </a:xfrm>
        </p:grpSpPr>
        <p:sp>
          <p:nvSpPr>
            <p:cNvPr name="Freeform 56" id="56"/>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57" id="57"/>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58" id="58"/>
          <p:cNvSpPr/>
          <p:nvPr/>
        </p:nvSpPr>
        <p:spPr>
          <a:xfrm flipH="false" flipV="false" rot="0">
            <a:off x="5718987" y="7097749"/>
            <a:ext cx="804367" cy="593221"/>
          </a:xfrm>
          <a:custGeom>
            <a:avLst/>
            <a:gdLst/>
            <a:ahLst/>
            <a:cxnLst/>
            <a:rect r="r" b="b" t="t" l="l"/>
            <a:pathLst>
              <a:path h="593221" w="804367">
                <a:moveTo>
                  <a:pt x="0" y="0"/>
                </a:moveTo>
                <a:lnTo>
                  <a:pt x="804367" y="0"/>
                </a:lnTo>
                <a:lnTo>
                  <a:pt x="804367" y="593221"/>
                </a:lnTo>
                <a:lnTo>
                  <a:pt x="0" y="59322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9" id="59"/>
          <p:cNvSpPr/>
          <p:nvPr/>
        </p:nvSpPr>
        <p:spPr>
          <a:xfrm flipH="false" flipV="false" rot="0">
            <a:off x="6783458" y="6888674"/>
            <a:ext cx="1894514" cy="1020670"/>
          </a:xfrm>
          <a:custGeom>
            <a:avLst/>
            <a:gdLst/>
            <a:ahLst/>
            <a:cxnLst/>
            <a:rect r="r" b="b" t="t" l="l"/>
            <a:pathLst>
              <a:path h="1020670" w="1894514">
                <a:moveTo>
                  <a:pt x="0" y="0"/>
                </a:moveTo>
                <a:lnTo>
                  <a:pt x="1894515" y="0"/>
                </a:lnTo>
                <a:lnTo>
                  <a:pt x="1894515" y="1020669"/>
                </a:lnTo>
                <a:lnTo>
                  <a:pt x="0" y="1020669"/>
                </a:lnTo>
                <a:lnTo>
                  <a:pt x="0" y="0"/>
                </a:lnTo>
                <a:close/>
              </a:path>
            </a:pathLst>
          </a:custGeom>
          <a:blipFill>
            <a:blip r:embed="rId14"/>
            <a:stretch>
              <a:fillRect l="0" t="0" r="0" b="0"/>
            </a:stretch>
          </a:blipFill>
        </p:spPr>
      </p:sp>
      <p:sp>
        <p:nvSpPr>
          <p:cNvPr name="Freeform 60" id="60"/>
          <p:cNvSpPr/>
          <p:nvPr/>
        </p:nvSpPr>
        <p:spPr>
          <a:xfrm flipH="false" flipV="false" rot="0">
            <a:off x="15419948" y="4532155"/>
            <a:ext cx="687541" cy="705170"/>
          </a:xfrm>
          <a:custGeom>
            <a:avLst/>
            <a:gdLst/>
            <a:ahLst/>
            <a:cxnLst/>
            <a:rect r="r" b="b" t="t" l="l"/>
            <a:pathLst>
              <a:path h="705170" w="687541">
                <a:moveTo>
                  <a:pt x="0" y="0"/>
                </a:moveTo>
                <a:lnTo>
                  <a:pt x="687540" y="0"/>
                </a:lnTo>
                <a:lnTo>
                  <a:pt x="687540" y="705169"/>
                </a:lnTo>
                <a:lnTo>
                  <a:pt x="0" y="70516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61" id="61"/>
          <p:cNvSpPr txBox="true"/>
          <p:nvPr/>
        </p:nvSpPr>
        <p:spPr>
          <a:xfrm rot="0">
            <a:off x="1868076" y="2383791"/>
            <a:ext cx="8521570" cy="1953894"/>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T</a:t>
            </a:r>
            <a:r>
              <a:rPr lang="en-US" sz="2200" i="true" spc="528">
                <a:solidFill>
                  <a:srgbClr val="F6F6F6"/>
                </a:solidFill>
                <a:latin typeface="Poppins Italics"/>
                <a:ea typeface="Poppins Italics"/>
                <a:cs typeface="Poppins Italics"/>
                <a:sym typeface="Poppins Italics"/>
              </a:rPr>
              <a:t>U</a:t>
            </a:r>
            <a:r>
              <a:rPr lang="en-US" sz="2200" i="true" spc="528">
                <a:solidFill>
                  <a:srgbClr val="F6F6F6"/>
                </a:solidFill>
                <a:latin typeface="Poppins Italics"/>
                <a:ea typeface="Poppins Italics"/>
                <a:cs typeface="Poppins Italics"/>
                <a:sym typeface="Poppins Italics"/>
              </a:rPr>
              <a:t>RN ANONYMOUS VISITORS</a:t>
            </a:r>
            <a:r>
              <a:rPr lang="en-US" sz="2200" i="true" spc="528">
                <a:solidFill>
                  <a:srgbClr val="F6F6F6"/>
                </a:solidFill>
                <a:latin typeface="Poppins Italics"/>
                <a:ea typeface="Poppins Italics"/>
                <a:cs typeface="Poppins Italics"/>
                <a:sym typeface="Poppins Italics"/>
              </a:rPr>
              <a:t> INTO </a:t>
            </a:r>
            <a:r>
              <a:rPr lang="en-US" b="true" sz="2200" i="true" spc="528">
                <a:solidFill>
                  <a:srgbClr val="F6F6F6"/>
                </a:solidFill>
                <a:latin typeface="Poppins Bold Italics"/>
                <a:ea typeface="Poppins Bold Italics"/>
                <a:cs typeface="Poppins Bold Italics"/>
                <a:sym typeface="Poppins Bold Italics"/>
              </a:rPr>
              <a:t>QUALIFIED LEADS</a:t>
            </a:r>
            <a:r>
              <a:rPr lang="en-US" sz="2200" i="true" spc="528">
                <a:solidFill>
                  <a:srgbClr val="F6F6F6"/>
                </a:solidFill>
                <a:latin typeface="Poppins Italics"/>
                <a:ea typeface="Poppins Italics"/>
                <a:cs typeface="Poppins Italics"/>
                <a:sym typeface="Poppins Italics"/>
              </a:rPr>
              <a:t> WI</a:t>
            </a:r>
            <a:r>
              <a:rPr lang="en-US" sz="2200" i="true" spc="528">
                <a:solidFill>
                  <a:srgbClr val="F6F6F6"/>
                </a:solidFill>
                <a:latin typeface="Poppins Italics"/>
                <a:ea typeface="Poppins Italics"/>
                <a:cs typeface="Poppins Italics"/>
                <a:sym typeface="Poppins Italics"/>
              </a:rPr>
              <a:t>T</a:t>
            </a:r>
            <a:r>
              <a:rPr lang="en-US" sz="2200" i="true" spc="528">
                <a:solidFill>
                  <a:srgbClr val="F6F6F6"/>
                </a:solidFill>
                <a:latin typeface="Poppins Italics"/>
                <a:ea typeface="Poppins Italics"/>
                <a:cs typeface="Poppins Italics"/>
                <a:sym typeface="Poppins Italics"/>
              </a:rPr>
              <a:t>H</a:t>
            </a:r>
            <a:r>
              <a:rPr lang="en-US" b="true" sz="2200" i="true" spc="528">
                <a:solidFill>
                  <a:srgbClr val="A0EEEB"/>
                </a:solidFill>
                <a:latin typeface="Poppins Bold Italics"/>
                <a:ea typeface="Poppins Bold Italics"/>
                <a:cs typeface="Poppins Bold Italics"/>
                <a:sym typeface="Poppins Bold Italics"/>
              </a:rPr>
              <a:t> PIXEL-POWERED DATA MATCHING.</a:t>
            </a:r>
          </a:p>
          <a:p>
            <a:pPr algn="l" marL="0" indent="0" lvl="0">
              <a:lnSpc>
                <a:spcPts val="3080"/>
              </a:lnSpc>
            </a:pPr>
          </a:p>
          <a:p>
            <a:pPr algn="l" marL="0" indent="0" lvl="0">
              <a:lnSpc>
                <a:spcPts val="3080"/>
              </a:lnSpc>
            </a:pPr>
          </a:p>
        </p:txBody>
      </p:sp>
      <p:sp>
        <p:nvSpPr>
          <p:cNvPr name="TextBox 62" id="62"/>
          <p:cNvSpPr txBox="true"/>
          <p:nvPr/>
        </p:nvSpPr>
        <p:spPr>
          <a:xfrm rot="0">
            <a:off x="1858551" y="1428750"/>
            <a:ext cx="9003139" cy="796323"/>
          </a:xfrm>
          <a:prstGeom prst="rect">
            <a:avLst/>
          </a:prstGeom>
        </p:spPr>
        <p:txBody>
          <a:bodyPr anchor="t" rtlCol="false" tIns="0" lIns="0" bIns="0" rIns="0">
            <a:spAutoFit/>
          </a:bodyPr>
          <a:lstStyle/>
          <a:p>
            <a:pPr algn="l" marL="0" indent="0" lvl="0">
              <a:lnSpc>
                <a:spcPts val="5883"/>
              </a:lnSpc>
            </a:pPr>
            <a:r>
              <a:rPr lang="en-US" b="true" sz="5253">
                <a:solidFill>
                  <a:srgbClr val="F6F6F6"/>
                </a:solidFill>
                <a:latin typeface="Poppins Semi-Bold"/>
                <a:ea typeface="Poppins Semi-Bold"/>
                <a:cs typeface="Poppins Semi-Bold"/>
                <a:sym typeface="Poppins Semi-Bold"/>
              </a:rPr>
              <a:t>Turn Lo</a:t>
            </a:r>
            <a:r>
              <a:rPr lang="en-US" b="true" sz="5253">
                <a:solidFill>
                  <a:srgbClr val="F6F6F6"/>
                </a:solidFill>
                <a:latin typeface="Poppins Semi-Bold"/>
                <a:ea typeface="Poppins Semi-Bold"/>
                <a:cs typeface="Poppins Semi-Bold"/>
                <a:sym typeface="Poppins Semi-Bold"/>
              </a:rPr>
              <a:t>st Traffic Into Leads</a:t>
            </a:r>
          </a:p>
        </p:txBody>
      </p:sp>
      <p:sp>
        <p:nvSpPr>
          <p:cNvPr name="TextBox 63" id="63"/>
          <p:cNvSpPr txBox="true"/>
          <p:nvPr/>
        </p:nvSpPr>
        <p:spPr>
          <a:xfrm rot="0">
            <a:off x="10774320" y="8197648"/>
            <a:ext cx="3564898" cy="279396"/>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3K Deanomynized Leads</a:t>
            </a:r>
          </a:p>
        </p:txBody>
      </p:sp>
      <p:sp>
        <p:nvSpPr>
          <p:cNvPr name="TextBox 64" id="64"/>
          <p:cNvSpPr txBox="true"/>
          <p:nvPr/>
        </p:nvSpPr>
        <p:spPr>
          <a:xfrm rot="0">
            <a:off x="14032626" y="8169073"/>
            <a:ext cx="3564898" cy="611093"/>
          </a:xfrm>
          <a:prstGeom prst="rect">
            <a:avLst/>
          </a:prstGeom>
        </p:spPr>
        <p:txBody>
          <a:bodyPr anchor="t" rtlCol="false" tIns="0" lIns="0" bIns="0" rIns="0">
            <a:spAutoFit/>
          </a:bodyPr>
          <a:lstStyle/>
          <a:p>
            <a:pPr algn="ctr">
              <a:lnSpc>
                <a:spcPts val="2417"/>
              </a:lnSpc>
            </a:pPr>
            <a:r>
              <a:rPr lang="en-US" sz="1752" b="true">
                <a:solidFill>
                  <a:srgbClr val="79CECB"/>
                </a:solidFill>
                <a:latin typeface="Poppins Bold"/>
                <a:ea typeface="Poppins Bold"/>
                <a:cs typeface="Poppins Bold"/>
                <a:sym typeface="Poppins Bold"/>
              </a:rPr>
              <a:t>150 Booked Calls</a:t>
            </a:r>
          </a:p>
          <a:p>
            <a:pPr algn="ctr">
              <a:lnSpc>
                <a:spcPts val="2417"/>
              </a:lnSpc>
            </a:pPr>
            <a:r>
              <a:rPr lang="en-US" sz="1752" i="true">
                <a:solidFill>
                  <a:srgbClr val="FFFFFF"/>
                </a:solidFill>
                <a:latin typeface="Poppins Italics"/>
                <a:ea typeface="Poppins Italics"/>
                <a:cs typeface="Poppins Italics"/>
                <a:sym typeface="Poppins Italics"/>
              </a:rPr>
              <a:t>5% of 150 Re-Book</a:t>
            </a:r>
          </a:p>
        </p:txBody>
      </p:sp>
      <p:sp>
        <p:nvSpPr>
          <p:cNvPr name="TextBox 65" id="65"/>
          <p:cNvSpPr txBox="true"/>
          <p:nvPr/>
        </p:nvSpPr>
        <p:spPr>
          <a:xfrm rot="0">
            <a:off x="2647345" y="4670986"/>
            <a:ext cx="2334972" cy="383160"/>
          </a:xfrm>
          <a:prstGeom prst="rect">
            <a:avLst/>
          </a:prstGeom>
        </p:spPr>
        <p:txBody>
          <a:bodyPr anchor="t" rtlCol="false" tIns="0" lIns="0" bIns="0" rIns="0">
            <a:spAutoFit/>
          </a:bodyPr>
          <a:lstStyle/>
          <a:p>
            <a:pPr algn="ctr">
              <a:lnSpc>
                <a:spcPts val="2897"/>
              </a:lnSpc>
              <a:spcBef>
                <a:spcPct val="0"/>
              </a:spcBef>
            </a:pPr>
            <a:r>
              <a:rPr lang="en-US" b="true" sz="2414">
                <a:solidFill>
                  <a:srgbClr val="FFFFFF"/>
                </a:solidFill>
                <a:latin typeface="Poppins Bold"/>
                <a:ea typeface="Poppins Bold"/>
                <a:cs typeface="Poppins Bold"/>
                <a:sym typeface="Poppins Bold"/>
              </a:rPr>
              <a:t>WITHOUT PIXEL</a:t>
            </a:r>
          </a:p>
        </p:txBody>
      </p:sp>
      <p:sp>
        <p:nvSpPr>
          <p:cNvPr name="TextBox 66" id="66"/>
          <p:cNvSpPr txBox="true"/>
          <p:nvPr/>
        </p:nvSpPr>
        <p:spPr>
          <a:xfrm rot="0">
            <a:off x="13935388" y="5696850"/>
            <a:ext cx="3564898" cy="279396"/>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Leads Lost</a:t>
            </a:r>
          </a:p>
        </p:txBody>
      </p:sp>
      <p:sp>
        <p:nvSpPr>
          <p:cNvPr name="TextBox 67" id="67"/>
          <p:cNvSpPr txBox="true"/>
          <p:nvPr/>
        </p:nvSpPr>
        <p:spPr>
          <a:xfrm rot="0">
            <a:off x="4348020" y="8197648"/>
            <a:ext cx="3564898" cy="279396"/>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10K Visitors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a:ln w="85725" cap="sq">
            <a:solidFill>
              <a:srgbClr val="000000">
                <a:alpha val="43922"/>
              </a:srgbClr>
            </a:solidFill>
            <a:prstDash val="solid"/>
            <a:miter/>
          </a:ln>
        </p:spPr>
      </p:sp>
      <p:sp>
        <p:nvSpPr>
          <p:cNvPr name="Freeform 3" id="3"/>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3">
              <a:alphaModFix amt="21999"/>
            </a:blip>
            <a:stretch>
              <a:fillRect l="0" t="0" r="0" b="0"/>
            </a:stretch>
          </a:blipFill>
        </p:spPr>
      </p:sp>
      <p:grpSp>
        <p:nvGrpSpPr>
          <p:cNvPr name="Group 4" id="4"/>
          <p:cNvGrpSpPr/>
          <p:nvPr/>
        </p:nvGrpSpPr>
        <p:grpSpPr>
          <a:xfrm rot="0">
            <a:off x="1820451" y="6024499"/>
            <a:ext cx="14515294" cy="1263456"/>
            <a:chOff x="0" y="0"/>
            <a:chExt cx="4829549" cy="420379"/>
          </a:xfrm>
        </p:grpSpPr>
        <p:sp>
          <p:nvSpPr>
            <p:cNvPr name="Freeform 5" id="5"/>
            <p:cNvSpPr/>
            <p:nvPr/>
          </p:nvSpPr>
          <p:spPr>
            <a:xfrm flipH="false" flipV="false" rot="0">
              <a:off x="0" y="0"/>
              <a:ext cx="4829549" cy="420379"/>
            </a:xfrm>
            <a:custGeom>
              <a:avLst/>
              <a:gdLst/>
              <a:ahLst/>
              <a:cxnLst/>
              <a:rect r="r" b="b" t="t" l="l"/>
              <a:pathLst>
                <a:path h="420379" w="4829549">
                  <a:moveTo>
                    <a:pt x="53336" y="0"/>
                  </a:moveTo>
                  <a:lnTo>
                    <a:pt x="4776212" y="0"/>
                  </a:lnTo>
                  <a:cubicBezTo>
                    <a:pt x="4790358" y="0"/>
                    <a:pt x="4803924" y="5619"/>
                    <a:pt x="4813927" y="15622"/>
                  </a:cubicBezTo>
                  <a:cubicBezTo>
                    <a:pt x="4823929" y="25624"/>
                    <a:pt x="4829549" y="39191"/>
                    <a:pt x="4829549" y="53336"/>
                  </a:cubicBezTo>
                  <a:lnTo>
                    <a:pt x="4829549" y="367042"/>
                  </a:lnTo>
                  <a:cubicBezTo>
                    <a:pt x="4829549" y="381188"/>
                    <a:pt x="4823929" y="394754"/>
                    <a:pt x="4813927" y="404757"/>
                  </a:cubicBezTo>
                  <a:cubicBezTo>
                    <a:pt x="4803924" y="414759"/>
                    <a:pt x="4790358" y="420379"/>
                    <a:pt x="4776212" y="420379"/>
                  </a:cubicBezTo>
                  <a:lnTo>
                    <a:pt x="53336" y="420379"/>
                  </a:lnTo>
                  <a:cubicBezTo>
                    <a:pt x="39191" y="420379"/>
                    <a:pt x="25624" y="414759"/>
                    <a:pt x="15622" y="404757"/>
                  </a:cubicBezTo>
                  <a:cubicBezTo>
                    <a:pt x="5619" y="394754"/>
                    <a:pt x="0" y="381188"/>
                    <a:pt x="0" y="367042"/>
                  </a:cubicBezTo>
                  <a:lnTo>
                    <a:pt x="0" y="53336"/>
                  </a:lnTo>
                  <a:cubicBezTo>
                    <a:pt x="0" y="39191"/>
                    <a:pt x="5619" y="25624"/>
                    <a:pt x="15622" y="15622"/>
                  </a:cubicBezTo>
                  <a:cubicBezTo>
                    <a:pt x="25624" y="5619"/>
                    <a:pt x="39191" y="0"/>
                    <a:pt x="53336" y="0"/>
                  </a:cubicBezTo>
                  <a:close/>
                </a:path>
              </a:pathLst>
            </a:custGeom>
            <a:solidFill>
              <a:srgbClr val="398085">
                <a:alpha val="40784"/>
              </a:srgbClr>
            </a:solidFill>
          </p:spPr>
        </p:sp>
        <p:sp>
          <p:nvSpPr>
            <p:cNvPr name="TextBox 6" id="6"/>
            <p:cNvSpPr txBox="true"/>
            <p:nvPr/>
          </p:nvSpPr>
          <p:spPr>
            <a:xfrm>
              <a:off x="0" y="-19050"/>
              <a:ext cx="4829549" cy="439429"/>
            </a:xfrm>
            <a:prstGeom prst="rect">
              <a:avLst/>
            </a:prstGeom>
          </p:spPr>
          <p:txBody>
            <a:bodyPr anchor="ctr" rtlCol="false" tIns="50800" lIns="50800" bIns="50800" rIns="50800"/>
            <a:lstStyle/>
            <a:p>
              <a:pPr algn="ctr">
                <a:lnSpc>
                  <a:spcPts val="2640"/>
                </a:lnSpc>
              </a:pPr>
            </a:p>
          </p:txBody>
        </p:sp>
      </p:grpSp>
      <p:sp>
        <p:nvSpPr>
          <p:cNvPr name="Freeform 7" id="7"/>
          <p:cNvSpPr/>
          <p:nvPr/>
        </p:nvSpPr>
        <p:spPr>
          <a:xfrm flipH="false" flipV="false" rot="0">
            <a:off x="7772153" y="5360847"/>
            <a:ext cx="2959264" cy="2955565"/>
          </a:xfrm>
          <a:custGeom>
            <a:avLst/>
            <a:gdLst/>
            <a:ahLst/>
            <a:cxnLst/>
            <a:rect r="r" b="b" t="t" l="l"/>
            <a:pathLst>
              <a:path h="2955565" w="2959264">
                <a:moveTo>
                  <a:pt x="0" y="0"/>
                </a:moveTo>
                <a:lnTo>
                  <a:pt x="2959263" y="0"/>
                </a:lnTo>
                <a:lnTo>
                  <a:pt x="2959263" y="2955564"/>
                </a:lnTo>
                <a:lnTo>
                  <a:pt x="0" y="2955564"/>
                </a:lnTo>
                <a:lnTo>
                  <a:pt x="0" y="0"/>
                </a:lnTo>
                <a:close/>
              </a:path>
            </a:pathLst>
          </a:custGeom>
          <a:blipFill>
            <a:blip r:embed="rId4">
              <a:alphaModFix amt="51000"/>
            </a:blip>
            <a:stretch>
              <a:fillRect l="0" t="0" r="0" b="0"/>
            </a:stretch>
          </a:blipFill>
        </p:spPr>
      </p:sp>
      <p:sp>
        <p:nvSpPr>
          <p:cNvPr name="Freeform 8" id="8"/>
          <p:cNvSpPr/>
          <p:nvPr/>
        </p:nvSpPr>
        <p:spPr>
          <a:xfrm flipH="false" flipV="false" rot="0">
            <a:off x="11015966" y="5206998"/>
            <a:ext cx="2959264" cy="2955565"/>
          </a:xfrm>
          <a:custGeom>
            <a:avLst/>
            <a:gdLst/>
            <a:ahLst/>
            <a:cxnLst/>
            <a:rect r="r" b="b" t="t" l="l"/>
            <a:pathLst>
              <a:path h="2955565" w="2959264">
                <a:moveTo>
                  <a:pt x="0" y="0"/>
                </a:moveTo>
                <a:lnTo>
                  <a:pt x="2959264" y="0"/>
                </a:lnTo>
                <a:lnTo>
                  <a:pt x="2959264" y="2955565"/>
                </a:lnTo>
                <a:lnTo>
                  <a:pt x="0" y="2955565"/>
                </a:lnTo>
                <a:lnTo>
                  <a:pt x="0" y="0"/>
                </a:lnTo>
                <a:close/>
              </a:path>
            </a:pathLst>
          </a:custGeom>
          <a:blipFill>
            <a:blip r:embed="rId4">
              <a:alphaModFix amt="51000"/>
            </a:blip>
            <a:stretch>
              <a:fillRect l="0" t="0" r="0" b="0"/>
            </a:stretch>
          </a:blipFill>
        </p:spPr>
      </p:sp>
      <p:sp>
        <p:nvSpPr>
          <p:cNvPr name="Freeform 9" id="9"/>
          <p:cNvSpPr/>
          <p:nvPr/>
        </p:nvSpPr>
        <p:spPr>
          <a:xfrm flipH="false" flipV="false" rot="0">
            <a:off x="14250482" y="5076825"/>
            <a:ext cx="2959264" cy="2955565"/>
          </a:xfrm>
          <a:custGeom>
            <a:avLst/>
            <a:gdLst/>
            <a:ahLst/>
            <a:cxnLst/>
            <a:rect r="r" b="b" t="t" l="l"/>
            <a:pathLst>
              <a:path h="2955565" w="2959264">
                <a:moveTo>
                  <a:pt x="0" y="0"/>
                </a:moveTo>
                <a:lnTo>
                  <a:pt x="2959264" y="0"/>
                </a:lnTo>
                <a:lnTo>
                  <a:pt x="2959264" y="2955565"/>
                </a:lnTo>
                <a:lnTo>
                  <a:pt x="0" y="2955565"/>
                </a:lnTo>
                <a:lnTo>
                  <a:pt x="0" y="0"/>
                </a:lnTo>
                <a:close/>
              </a:path>
            </a:pathLst>
          </a:custGeom>
          <a:blipFill>
            <a:blip r:embed="rId4">
              <a:alphaModFix amt="51000"/>
            </a:blip>
            <a:stretch>
              <a:fillRect l="0" t="0" r="0" b="0"/>
            </a:stretch>
          </a:blipFill>
        </p:spPr>
      </p:sp>
      <p:grpSp>
        <p:nvGrpSpPr>
          <p:cNvPr name="Group 10" id="10"/>
          <p:cNvGrpSpPr/>
          <p:nvPr/>
        </p:nvGrpSpPr>
        <p:grpSpPr>
          <a:xfrm rot="0">
            <a:off x="8624706" y="6024499"/>
            <a:ext cx="1254157" cy="1254157"/>
            <a:chOff x="0" y="0"/>
            <a:chExt cx="588434" cy="588434"/>
          </a:xfrm>
        </p:grpSpPr>
        <p:sp>
          <p:nvSpPr>
            <p:cNvPr name="Freeform 11" id="11"/>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42A6A3"/>
              </a:solidFill>
              <a:prstDash val="solid"/>
              <a:round/>
            </a:ln>
          </p:spPr>
        </p:sp>
        <p:sp>
          <p:nvSpPr>
            <p:cNvPr name="TextBox 12" id="12"/>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13" id="13"/>
          <p:cNvGrpSpPr/>
          <p:nvPr/>
        </p:nvGrpSpPr>
        <p:grpSpPr>
          <a:xfrm rot="0">
            <a:off x="11891590" y="6024499"/>
            <a:ext cx="1254157" cy="1254157"/>
            <a:chOff x="0" y="0"/>
            <a:chExt cx="588434" cy="588434"/>
          </a:xfrm>
        </p:grpSpPr>
        <p:sp>
          <p:nvSpPr>
            <p:cNvPr name="Freeform 14" id="14"/>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42A6A3"/>
              </a:solidFill>
              <a:prstDash val="solid"/>
              <a:round/>
            </a:ln>
          </p:spPr>
        </p:sp>
        <p:sp>
          <p:nvSpPr>
            <p:cNvPr name="TextBox 15" id="15"/>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16" id="16"/>
          <p:cNvGrpSpPr/>
          <p:nvPr/>
        </p:nvGrpSpPr>
        <p:grpSpPr>
          <a:xfrm rot="0">
            <a:off x="15105640" y="6024499"/>
            <a:ext cx="1254157" cy="1254157"/>
            <a:chOff x="0" y="0"/>
            <a:chExt cx="588434" cy="588434"/>
          </a:xfrm>
        </p:grpSpPr>
        <p:sp>
          <p:nvSpPr>
            <p:cNvPr name="Freeform 17" id="17"/>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42A6A3"/>
              </a:solidFill>
              <a:prstDash val="solid"/>
              <a:round/>
            </a:ln>
          </p:spPr>
        </p:sp>
        <p:sp>
          <p:nvSpPr>
            <p:cNvPr name="TextBox 18" id="18"/>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TextBox 19" id="19"/>
          <p:cNvSpPr txBox="true"/>
          <p:nvPr/>
        </p:nvSpPr>
        <p:spPr>
          <a:xfrm rot="0">
            <a:off x="2313968" y="6273068"/>
            <a:ext cx="2694122" cy="747269"/>
          </a:xfrm>
          <a:prstGeom prst="rect">
            <a:avLst/>
          </a:prstGeom>
        </p:spPr>
        <p:txBody>
          <a:bodyPr anchor="t" rtlCol="false" tIns="0" lIns="0" bIns="0" rIns="0">
            <a:spAutoFit/>
          </a:bodyPr>
          <a:lstStyle/>
          <a:p>
            <a:pPr algn="ctr">
              <a:lnSpc>
                <a:spcPts val="2897"/>
              </a:lnSpc>
              <a:spcBef>
                <a:spcPct val="0"/>
              </a:spcBef>
            </a:pPr>
            <a:r>
              <a:rPr lang="en-US" b="true" sz="2414">
                <a:solidFill>
                  <a:srgbClr val="FFFFFF"/>
                </a:solidFill>
                <a:latin typeface="Poppins Bold"/>
                <a:ea typeface="Poppins Bold"/>
                <a:cs typeface="Poppins Bold"/>
                <a:sym typeface="Poppins Bold"/>
              </a:rPr>
              <a:t>NEW INTENT DATA AUDIENCE</a:t>
            </a:r>
          </a:p>
        </p:txBody>
      </p:sp>
      <p:sp>
        <p:nvSpPr>
          <p:cNvPr name="Freeform 20" id="20"/>
          <p:cNvSpPr/>
          <p:nvPr/>
        </p:nvSpPr>
        <p:spPr>
          <a:xfrm flipH="false" flipV="false" rot="0">
            <a:off x="9937970" y="6174446"/>
            <a:ext cx="1894514" cy="1020670"/>
          </a:xfrm>
          <a:custGeom>
            <a:avLst/>
            <a:gdLst/>
            <a:ahLst/>
            <a:cxnLst/>
            <a:rect r="r" b="b" t="t" l="l"/>
            <a:pathLst>
              <a:path h="1020670" w="1894514">
                <a:moveTo>
                  <a:pt x="0" y="0"/>
                </a:moveTo>
                <a:lnTo>
                  <a:pt x="1894514" y="0"/>
                </a:lnTo>
                <a:lnTo>
                  <a:pt x="1894514" y="1020669"/>
                </a:lnTo>
                <a:lnTo>
                  <a:pt x="0" y="1020669"/>
                </a:lnTo>
                <a:lnTo>
                  <a:pt x="0" y="0"/>
                </a:lnTo>
                <a:close/>
              </a:path>
            </a:pathLst>
          </a:custGeom>
          <a:blipFill>
            <a:blip r:embed="rId5"/>
            <a:stretch>
              <a:fillRect l="0" t="0" r="0" b="0"/>
            </a:stretch>
          </a:blipFill>
        </p:spPr>
      </p:sp>
      <p:sp>
        <p:nvSpPr>
          <p:cNvPr name="Freeform 21" id="21"/>
          <p:cNvSpPr/>
          <p:nvPr/>
        </p:nvSpPr>
        <p:spPr>
          <a:xfrm flipH="false" flipV="false" rot="0">
            <a:off x="13145350" y="6174446"/>
            <a:ext cx="1894514" cy="1020670"/>
          </a:xfrm>
          <a:custGeom>
            <a:avLst/>
            <a:gdLst/>
            <a:ahLst/>
            <a:cxnLst/>
            <a:rect r="r" b="b" t="t" l="l"/>
            <a:pathLst>
              <a:path h="1020670" w="1894514">
                <a:moveTo>
                  <a:pt x="0" y="0"/>
                </a:moveTo>
                <a:lnTo>
                  <a:pt x="1894514" y="0"/>
                </a:lnTo>
                <a:lnTo>
                  <a:pt x="1894514" y="1020669"/>
                </a:lnTo>
                <a:lnTo>
                  <a:pt x="0" y="1020669"/>
                </a:lnTo>
                <a:lnTo>
                  <a:pt x="0" y="0"/>
                </a:lnTo>
                <a:close/>
              </a:path>
            </a:pathLst>
          </a:custGeom>
          <a:blipFill>
            <a:blip r:embed="rId5"/>
            <a:stretch>
              <a:fillRect l="0" t="0" r="0" b="0"/>
            </a:stretch>
          </a:blipFill>
        </p:spPr>
      </p:sp>
      <p:sp>
        <p:nvSpPr>
          <p:cNvPr name="Freeform 22" id="22"/>
          <p:cNvSpPr/>
          <p:nvPr/>
        </p:nvSpPr>
        <p:spPr>
          <a:xfrm flipH="false" flipV="false" rot="0">
            <a:off x="4612737" y="5173796"/>
            <a:ext cx="2959264" cy="2955565"/>
          </a:xfrm>
          <a:custGeom>
            <a:avLst/>
            <a:gdLst/>
            <a:ahLst/>
            <a:cxnLst/>
            <a:rect r="r" b="b" t="t" l="l"/>
            <a:pathLst>
              <a:path h="2955565" w="2959264">
                <a:moveTo>
                  <a:pt x="0" y="0"/>
                </a:moveTo>
                <a:lnTo>
                  <a:pt x="2959264" y="0"/>
                </a:lnTo>
                <a:lnTo>
                  <a:pt x="2959264" y="2955565"/>
                </a:lnTo>
                <a:lnTo>
                  <a:pt x="0" y="2955565"/>
                </a:lnTo>
                <a:lnTo>
                  <a:pt x="0" y="0"/>
                </a:lnTo>
                <a:close/>
              </a:path>
            </a:pathLst>
          </a:custGeom>
          <a:blipFill>
            <a:blip r:embed="rId4">
              <a:alphaModFix amt="51000"/>
            </a:blip>
            <a:stretch>
              <a:fillRect l="0" t="0" r="0" b="0"/>
            </a:stretch>
          </a:blipFill>
        </p:spPr>
      </p:sp>
      <p:grpSp>
        <p:nvGrpSpPr>
          <p:cNvPr name="Group 23" id="23"/>
          <p:cNvGrpSpPr/>
          <p:nvPr/>
        </p:nvGrpSpPr>
        <p:grpSpPr>
          <a:xfrm rot="0">
            <a:off x="5465290" y="6024499"/>
            <a:ext cx="1254157" cy="1254157"/>
            <a:chOff x="0" y="0"/>
            <a:chExt cx="588434" cy="588434"/>
          </a:xfrm>
        </p:grpSpPr>
        <p:sp>
          <p:nvSpPr>
            <p:cNvPr name="Freeform 24" id="24"/>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5" id="25"/>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26" id="26"/>
          <p:cNvSpPr/>
          <p:nvPr/>
        </p:nvSpPr>
        <p:spPr>
          <a:xfrm flipH="false" flipV="false" rot="0">
            <a:off x="6745358" y="6145892"/>
            <a:ext cx="1894514" cy="1020670"/>
          </a:xfrm>
          <a:custGeom>
            <a:avLst/>
            <a:gdLst/>
            <a:ahLst/>
            <a:cxnLst/>
            <a:rect r="r" b="b" t="t" l="l"/>
            <a:pathLst>
              <a:path h="1020670" w="1894514">
                <a:moveTo>
                  <a:pt x="0" y="0"/>
                </a:moveTo>
                <a:lnTo>
                  <a:pt x="1894515" y="0"/>
                </a:lnTo>
                <a:lnTo>
                  <a:pt x="1894515" y="1020670"/>
                </a:lnTo>
                <a:lnTo>
                  <a:pt x="0" y="1020670"/>
                </a:lnTo>
                <a:lnTo>
                  <a:pt x="0" y="0"/>
                </a:lnTo>
                <a:close/>
              </a:path>
            </a:pathLst>
          </a:custGeom>
          <a:blipFill>
            <a:blip r:embed="rId5"/>
            <a:stretch>
              <a:fillRect l="0" t="0" r="0" b="0"/>
            </a:stretch>
          </a:blipFill>
        </p:spPr>
      </p:sp>
      <p:sp>
        <p:nvSpPr>
          <p:cNvPr name="Freeform 27" id="27"/>
          <p:cNvSpPr/>
          <p:nvPr/>
        </p:nvSpPr>
        <p:spPr>
          <a:xfrm flipH="false" flipV="false" rot="0">
            <a:off x="5792869" y="6356728"/>
            <a:ext cx="598999" cy="598999"/>
          </a:xfrm>
          <a:custGeom>
            <a:avLst/>
            <a:gdLst/>
            <a:ahLst/>
            <a:cxnLst/>
            <a:rect r="r" b="b" t="t" l="l"/>
            <a:pathLst>
              <a:path h="598999" w="598999">
                <a:moveTo>
                  <a:pt x="0" y="0"/>
                </a:moveTo>
                <a:lnTo>
                  <a:pt x="598999" y="0"/>
                </a:lnTo>
                <a:lnTo>
                  <a:pt x="598999" y="598999"/>
                </a:lnTo>
                <a:lnTo>
                  <a:pt x="0" y="5989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8893203" y="6395355"/>
            <a:ext cx="717163" cy="512446"/>
          </a:xfrm>
          <a:custGeom>
            <a:avLst/>
            <a:gdLst/>
            <a:ahLst/>
            <a:cxnLst/>
            <a:rect r="r" b="b" t="t" l="l"/>
            <a:pathLst>
              <a:path h="512446" w="717163">
                <a:moveTo>
                  <a:pt x="0" y="0"/>
                </a:moveTo>
                <a:lnTo>
                  <a:pt x="717163" y="0"/>
                </a:lnTo>
                <a:lnTo>
                  <a:pt x="717163" y="512446"/>
                </a:lnTo>
                <a:lnTo>
                  <a:pt x="0" y="512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12319136" y="6282593"/>
            <a:ext cx="399066" cy="689035"/>
          </a:xfrm>
          <a:custGeom>
            <a:avLst/>
            <a:gdLst/>
            <a:ahLst/>
            <a:cxnLst/>
            <a:rect r="r" b="b" t="t" l="l"/>
            <a:pathLst>
              <a:path h="689035" w="399066">
                <a:moveTo>
                  <a:pt x="0" y="0"/>
                </a:moveTo>
                <a:lnTo>
                  <a:pt x="399066" y="0"/>
                </a:lnTo>
                <a:lnTo>
                  <a:pt x="399066" y="689034"/>
                </a:lnTo>
                <a:lnTo>
                  <a:pt x="0" y="6890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15661417" y="6273068"/>
            <a:ext cx="411713" cy="411713"/>
          </a:xfrm>
          <a:custGeom>
            <a:avLst/>
            <a:gdLst/>
            <a:ahLst/>
            <a:cxnLst/>
            <a:rect r="r" b="b" t="t" l="l"/>
            <a:pathLst>
              <a:path h="411713" w="411713">
                <a:moveTo>
                  <a:pt x="0" y="0"/>
                </a:moveTo>
                <a:lnTo>
                  <a:pt x="411713" y="0"/>
                </a:lnTo>
                <a:lnTo>
                  <a:pt x="411713" y="411712"/>
                </a:lnTo>
                <a:lnTo>
                  <a:pt x="0" y="411712"/>
                </a:lnTo>
                <a:lnTo>
                  <a:pt x="0" y="0"/>
                </a:lnTo>
                <a:close/>
              </a:path>
            </a:pathLst>
          </a:custGeom>
          <a:blipFill>
            <a:blip r:embed="rId12"/>
            <a:stretch>
              <a:fillRect l="0" t="0" r="0" b="0"/>
            </a:stretch>
          </a:blipFill>
        </p:spPr>
      </p:sp>
      <p:sp>
        <p:nvSpPr>
          <p:cNvPr name="Freeform 31" id="31"/>
          <p:cNvSpPr/>
          <p:nvPr/>
        </p:nvSpPr>
        <p:spPr>
          <a:xfrm flipH="false" flipV="false" rot="0">
            <a:off x="15335139" y="6395355"/>
            <a:ext cx="454072" cy="454072"/>
          </a:xfrm>
          <a:custGeom>
            <a:avLst/>
            <a:gdLst/>
            <a:ahLst/>
            <a:cxnLst/>
            <a:rect r="r" b="b" t="t" l="l"/>
            <a:pathLst>
              <a:path h="454072" w="454072">
                <a:moveTo>
                  <a:pt x="0" y="0"/>
                </a:moveTo>
                <a:lnTo>
                  <a:pt x="454072" y="0"/>
                </a:lnTo>
                <a:lnTo>
                  <a:pt x="454072" y="454072"/>
                </a:lnTo>
                <a:lnTo>
                  <a:pt x="0" y="4540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2" id="32"/>
          <p:cNvSpPr/>
          <p:nvPr/>
        </p:nvSpPr>
        <p:spPr>
          <a:xfrm flipH="false" flipV="false" rot="0">
            <a:off x="15681200" y="6627110"/>
            <a:ext cx="357934" cy="365239"/>
          </a:xfrm>
          <a:custGeom>
            <a:avLst/>
            <a:gdLst/>
            <a:ahLst/>
            <a:cxnLst/>
            <a:rect r="r" b="b" t="t" l="l"/>
            <a:pathLst>
              <a:path h="365239" w="357934">
                <a:moveTo>
                  <a:pt x="0" y="0"/>
                </a:moveTo>
                <a:lnTo>
                  <a:pt x="357934" y="0"/>
                </a:lnTo>
                <a:lnTo>
                  <a:pt x="357934" y="365239"/>
                </a:lnTo>
                <a:lnTo>
                  <a:pt x="0" y="36523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3" id="33"/>
          <p:cNvSpPr txBox="true"/>
          <p:nvPr/>
        </p:nvSpPr>
        <p:spPr>
          <a:xfrm rot="0">
            <a:off x="8022117" y="7454866"/>
            <a:ext cx="2459336" cy="539742"/>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Compare to successful leads</a:t>
            </a:r>
          </a:p>
        </p:txBody>
      </p:sp>
      <p:sp>
        <p:nvSpPr>
          <p:cNvPr name="TextBox 34" id="34"/>
          <p:cNvSpPr txBox="true"/>
          <p:nvPr/>
        </p:nvSpPr>
        <p:spPr>
          <a:xfrm rot="0">
            <a:off x="1858551" y="1428750"/>
            <a:ext cx="9003139" cy="1539273"/>
          </a:xfrm>
          <a:prstGeom prst="rect">
            <a:avLst/>
          </a:prstGeom>
        </p:spPr>
        <p:txBody>
          <a:bodyPr anchor="t" rtlCol="false" tIns="0" lIns="0" bIns="0" rIns="0">
            <a:spAutoFit/>
          </a:bodyPr>
          <a:lstStyle/>
          <a:p>
            <a:pPr algn="l" marL="0" indent="0" lvl="0">
              <a:lnSpc>
                <a:spcPts val="5883"/>
              </a:lnSpc>
            </a:pPr>
            <a:r>
              <a:rPr lang="en-US" b="true" sz="5253">
                <a:solidFill>
                  <a:srgbClr val="F6F6F6"/>
                </a:solidFill>
                <a:latin typeface="Poppins Semi-Bold"/>
                <a:ea typeface="Poppins Semi-Bold"/>
                <a:cs typeface="Poppins Semi-Bold"/>
                <a:sym typeface="Poppins Semi-Bold"/>
              </a:rPr>
              <a:t>Smar</a:t>
            </a:r>
            <a:r>
              <a:rPr lang="en-US" b="true" sz="5253">
                <a:solidFill>
                  <a:srgbClr val="F6F6F6"/>
                </a:solidFill>
                <a:latin typeface="Poppins Semi-Bold"/>
                <a:ea typeface="Poppins Semi-Bold"/>
                <a:cs typeface="Poppins Semi-Bold"/>
                <a:sym typeface="Poppins Semi-Bold"/>
              </a:rPr>
              <a:t>ter Targeting With Data Matching</a:t>
            </a:r>
          </a:p>
        </p:txBody>
      </p:sp>
      <p:sp>
        <p:nvSpPr>
          <p:cNvPr name="TextBox 35" id="35"/>
          <p:cNvSpPr txBox="true"/>
          <p:nvPr/>
        </p:nvSpPr>
        <p:spPr>
          <a:xfrm rot="0">
            <a:off x="11427614" y="7454866"/>
            <a:ext cx="2182110" cy="539742"/>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Optimized Audience</a:t>
            </a:r>
          </a:p>
        </p:txBody>
      </p:sp>
      <p:sp>
        <p:nvSpPr>
          <p:cNvPr name="TextBox 36" id="36"/>
          <p:cNvSpPr txBox="true"/>
          <p:nvPr/>
        </p:nvSpPr>
        <p:spPr>
          <a:xfrm rot="0">
            <a:off x="13994526" y="7426291"/>
            <a:ext cx="3564898" cy="611093"/>
          </a:xfrm>
          <a:prstGeom prst="rect">
            <a:avLst/>
          </a:prstGeom>
        </p:spPr>
        <p:txBody>
          <a:bodyPr anchor="t" rtlCol="false" tIns="0" lIns="0" bIns="0" rIns="0">
            <a:spAutoFit/>
          </a:bodyPr>
          <a:lstStyle/>
          <a:p>
            <a:pPr algn="ctr">
              <a:lnSpc>
                <a:spcPts val="2417"/>
              </a:lnSpc>
            </a:pPr>
            <a:r>
              <a:rPr lang="en-US" sz="1752" b="true">
                <a:solidFill>
                  <a:srgbClr val="79CECB"/>
                </a:solidFill>
                <a:latin typeface="Poppins Bold"/>
                <a:ea typeface="Poppins Bold"/>
                <a:cs typeface="Poppins Bold"/>
                <a:sym typeface="Poppins Bold"/>
              </a:rPr>
              <a:t>Omni-Channel</a:t>
            </a:r>
          </a:p>
          <a:p>
            <a:pPr algn="ctr">
              <a:lnSpc>
                <a:spcPts val="2417"/>
              </a:lnSpc>
            </a:pPr>
            <a:r>
              <a:rPr lang="en-US" sz="1752" b="true">
                <a:solidFill>
                  <a:srgbClr val="79CECB"/>
                </a:solidFill>
                <a:latin typeface="Poppins Bold"/>
                <a:ea typeface="Poppins Bold"/>
                <a:cs typeface="Poppins Bold"/>
                <a:sym typeface="Poppins Bold"/>
              </a:rPr>
              <a:t>Outreach</a:t>
            </a:r>
          </a:p>
        </p:txBody>
      </p:sp>
      <p:sp>
        <p:nvSpPr>
          <p:cNvPr name="TextBox 37" id="37"/>
          <p:cNvSpPr txBox="true"/>
          <p:nvPr/>
        </p:nvSpPr>
        <p:spPr>
          <a:xfrm rot="0">
            <a:off x="4854736" y="7454866"/>
            <a:ext cx="2475265" cy="539742"/>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Compare to failed leads</a:t>
            </a:r>
          </a:p>
        </p:txBody>
      </p:sp>
      <p:sp>
        <p:nvSpPr>
          <p:cNvPr name="TextBox 38" id="38"/>
          <p:cNvSpPr txBox="true"/>
          <p:nvPr/>
        </p:nvSpPr>
        <p:spPr>
          <a:xfrm rot="0">
            <a:off x="1868076" y="3161031"/>
            <a:ext cx="8521570" cy="1953894"/>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WE REFINE </a:t>
            </a:r>
            <a:r>
              <a:rPr lang="en-US" b="true" sz="2200" i="true" spc="528">
                <a:solidFill>
                  <a:srgbClr val="F6F6F6"/>
                </a:solidFill>
                <a:latin typeface="Poppins Bold Italics"/>
                <a:ea typeface="Poppins Bold Italics"/>
                <a:cs typeface="Poppins Bold Italics"/>
                <a:sym typeface="Poppins Bold Italics"/>
              </a:rPr>
              <a:t>NEW INTENT AUDIENCE DATA</a:t>
            </a:r>
            <a:r>
              <a:rPr lang="en-US" sz="2200" i="true" spc="528">
                <a:solidFill>
                  <a:srgbClr val="F6F6F6"/>
                </a:solidFill>
                <a:latin typeface="Poppins Italics"/>
                <a:ea typeface="Poppins Italics"/>
                <a:cs typeface="Poppins Italics"/>
                <a:sym typeface="Poppins Italics"/>
              </a:rPr>
              <a:t> BY</a:t>
            </a:r>
            <a:r>
              <a:rPr lang="en-US" sz="2200" i="true" spc="528">
                <a:solidFill>
                  <a:srgbClr val="F6F6F6"/>
                </a:solidFill>
                <a:latin typeface="Poppins Italics"/>
                <a:ea typeface="Poppins Italics"/>
                <a:cs typeface="Poppins Italics"/>
                <a:sym typeface="Poppins Italics"/>
              </a:rPr>
              <a:t> COMPA</a:t>
            </a:r>
            <a:r>
              <a:rPr lang="en-US" sz="2200" i="true" spc="528">
                <a:solidFill>
                  <a:srgbClr val="F6F6F6"/>
                </a:solidFill>
                <a:latin typeface="Poppins Italics"/>
                <a:ea typeface="Poppins Italics"/>
                <a:cs typeface="Poppins Italics"/>
                <a:sym typeface="Poppins Italics"/>
              </a:rPr>
              <a:t>RING</a:t>
            </a:r>
            <a:r>
              <a:rPr lang="en-US" sz="2200" i="true" spc="528">
                <a:solidFill>
                  <a:srgbClr val="F6F6F6"/>
                </a:solidFill>
                <a:latin typeface="Poppins Italics"/>
                <a:ea typeface="Poppins Italics"/>
                <a:cs typeface="Poppins Italics"/>
                <a:sym typeface="Poppins Italics"/>
              </a:rPr>
              <a:t> IT</a:t>
            </a:r>
            <a:r>
              <a:rPr lang="en-US" sz="2200" i="true" spc="528">
                <a:solidFill>
                  <a:srgbClr val="F6F6F6"/>
                </a:solidFill>
                <a:latin typeface="Poppins Italics"/>
                <a:ea typeface="Poppins Italics"/>
                <a:cs typeface="Poppins Italics"/>
                <a:sym typeface="Poppins Italics"/>
              </a:rPr>
              <a:t> A</a:t>
            </a:r>
            <a:r>
              <a:rPr lang="en-US" sz="2200" i="true" spc="528">
                <a:solidFill>
                  <a:srgbClr val="F6F6F6"/>
                </a:solidFill>
                <a:latin typeface="Poppins Italics"/>
                <a:ea typeface="Poppins Italics"/>
                <a:cs typeface="Poppins Italics"/>
                <a:sym typeface="Poppins Italics"/>
              </a:rPr>
              <a:t>GAI</a:t>
            </a:r>
            <a:r>
              <a:rPr lang="en-US" sz="2200" i="true" spc="528">
                <a:solidFill>
                  <a:srgbClr val="F6F6F6"/>
                </a:solidFill>
                <a:latin typeface="Poppins Italics"/>
                <a:ea typeface="Poppins Italics"/>
                <a:cs typeface="Poppins Italics"/>
                <a:sym typeface="Poppins Italics"/>
              </a:rPr>
              <a:t>N</a:t>
            </a:r>
            <a:r>
              <a:rPr lang="en-US" sz="2200" i="true" spc="528">
                <a:solidFill>
                  <a:srgbClr val="F6F6F6"/>
                </a:solidFill>
                <a:latin typeface="Poppins Italics"/>
                <a:ea typeface="Poppins Italics"/>
                <a:cs typeface="Poppins Italics"/>
                <a:sym typeface="Poppins Italics"/>
              </a:rPr>
              <a:t>ST PAST S</a:t>
            </a:r>
            <a:r>
              <a:rPr lang="en-US" sz="2200" i="true" spc="528">
                <a:solidFill>
                  <a:srgbClr val="F6F6F6"/>
                </a:solidFill>
                <a:latin typeface="Poppins Italics"/>
                <a:ea typeface="Poppins Italics"/>
                <a:cs typeface="Poppins Italics"/>
                <a:sym typeface="Poppins Italics"/>
              </a:rPr>
              <a:t>U</a:t>
            </a:r>
            <a:r>
              <a:rPr lang="en-US" sz="2200" i="true" spc="528">
                <a:solidFill>
                  <a:srgbClr val="F6F6F6"/>
                </a:solidFill>
                <a:latin typeface="Poppins Italics"/>
                <a:ea typeface="Poppins Italics"/>
                <a:cs typeface="Poppins Italics"/>
                <a:sym typeface="Poppins Italics"/>
              </a:rPr>
              <a:t>CCE</a:t>
            </a:r>
            <a:r>
              <a:rPr lang="en-US" sz="2200" i="true" spc="528">
                <a:solidFill>
                  <a:srgbClr val="F6F6F6"/>
                </a:solidFill>
                <a:latin typeface="Poppins Italics"/>
                <a:ea typeface="Poppins Italics"/>
                <a:cs typeface="Poppins Italics"/>
                <a:sym typeface="Poppins Italics"/>
              </a:rPr>
              <a:t>S</a:t>
            </a:r>
            <a:r>
              <a:rPr lang="en-US" sz="2200" i="true" spc="528">
                <a:solidFill>
                  <a:srgbClr val="F6F6F6"/>
                </a:solidFill>
                <a:latin typeface="Poppins Italics"/>
                <a:ea typeface="Poppins Italics"/>
                <a:cs typeface="Poppins Italics"/>
                <a:sym typeface="Poppins Italics"/>
              </a:rPr>
              <a:t>SFUL</a:t>
            </a:r>
            <a:r>
              <a:rPr lang="en-US" sz="2200" i="true" spc="528">
                <a:solidFill>
                  <a:srgbClr val="F6F6F6"/>
                </a:solidFill>
                <a:latin typeface="Poppins Italics"/>
                <a:ea typeface="Poppins Italics"/>
                <a:cs typeface="Poppins Italics"/>
                <a:sym typeface="Poppins Italics"/>
              </a:rPr>
              <a:t> </a:t>
            </a:r>
            <a:r>
              <a:rPr lang="en-US" sz="2200" i="true" spc="528">
                <a:solidFill>
                  <a:srgbClr val="F6F6F6"/>
                </a:solidFill>
                <a:latin typeface="Poppins Italics"/>
                <a:ea typeface="Poppins Italics"/>
                <a:cs typeface="Poppins Italics"/>
                <a:sym typeface="Poppins Italics"/>
              </a:rPr>
              <a:t>AND FA</a:t>
            </a:r>
            <a:r>
              <a:rPr lang="en-US" sz="2200" i="true" spc="528">
                <a:solidFill>
                  <a:srgbClr val="F6F6F6"/>
                </a:solidFill>
                <a:latin typeface="Poppins Italics"/>
                <a:ea typeface="Poppins Italics"/>
                <a:cs typeface="Poppins Italics"/>
                <a:sym typeface="Poppins Italics"/>
              </a:rPr>
              <a:t>I</a:t>
            </a:r>
            <a:r>
              <a:rPr lang="en-US" sz="2200" i="true" spc="528">
                <a:solidFill>
                  <a:srgbClr val="F6F6F6"/>
                </a:solidFill>
                <a:latin typeface="Poppins Italics"/>
                <a:ea typeface="Poppins Italics"/>
                <a:cs typeface="Poppins Italics"/>
                <a:sym typeface="Poppins Italics"/>
              </a:rPr>
              <a:t>LED LEAD</a:t>
            </a:r>
            <a:r>
              <a:rPr lang="en-US" sz="2200" i="true" spc="528">
                <a:solidFill>
                  <a:srgbClr val="F6F6F6"/>
                </a:solidFill>
                <a:latin typeface="Poppins Italics"/>
                <a:ea typeface="Poppins Italics"/>
                <a:cs typeface="Poppins Italics"/>
                <a:sym typeface="Poppins Italics"/>
              </a:rPr>
              <a:t>S</a:t>
            </a:r>
            <a:r>
              <a:rPr lang="en-US" sz="2200" i="true" spc="528">
                <a:solidFill>
                  <a:srgbClr val="F6F6F6"/>
                </a:solidFill>
                <a:latin typeface="Poppins Italics"/>
                <a:ea typeface="Poppins Italics"/>
                <a:cs typeface="Poppins Italics"/>
                <a:sym typeface="Poppins Italics"/>
              </a:rPr>
              <a:t> — ENSURING OUTREACH ONLY </a:t>
            </a:r>
            <a:r>
              <a:rPr lang="en-US" b="true" sz="2200" i="true" spc="528">
                <a:solidFill>
                  <a:srgbClr val="A0EEEB"/>
                </a:solidFill>
                <a:latin typeface="Poppins Bold Italics"/>
                <a:ea typeface="Poppins Bold Italics"/>
                <a:cs typeface="Poppins Bold Italics"/>
                <a:sym typeface="Poppins Bold Italics"/>
              </a:rPr>
              <a:t>TARGETS PROFILES MOST LIKELY TO CONVERT.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86893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5961540"/>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292222" y="3414881"/>
            <a:ext cx="7244088" cy="3413777"/>
          </a:xfrm>
          <a:custGeom>
            <a:avLst/>
            <a:gdLst/>
            <a:ahLst/>
            <a:cxnLst/>
            <a:rect r="r" b="b" t="t" l="l"/>
            <a:pathLst>
              <a:path h="3413777" w="7244088">
                <a:moveTo>
                  <a:pt x="0" y="0"/>
                </a:moveTo>
                <a:lnTo>
                  <a:pt x="7244088" y="0"/>
                </a:lnTo>
                <a:lnTo>
                  <a:pt x="7244088" y="3413776"/>
                </a:lnTo>
                <a:lnTo>
                  <a:pt x="0" y="34137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true" rot="0">
            <a:off x="1434513" y="4337466"/>
            <a:ext cx="1459161" cy="512033"/>
          </a:xfrm>
          <a:custGeom>
            <a:avLst/>
            <a:gdLst/>
            <a:ahLst/>
            <a:cxnLst/>
            <a:rect r="r" b="b" t="t" l="l"/>
            <a:pathLst>
              <a:path h="512033" w="1459161">
                <a:moveTo>
                  <a:pt x="0" y="512033"/>
                </a:moveTo>
                <a:lnTo>
                  <a:pt x="1459162" y="512033"/>
                </a:lnTo>
                <a:lnTo>
                  <a:pt x="1459162" y="0"/>
                </a:lnTo>
                <a:lnTo>
                  <a:pt x="0" y="0"/>
                </a:lnTo>
                <a:lnTo>
                  <a:pt x="0" y="512033"/>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2689095" y="4413339"/>
            <a:ext cx="5599251" cy="1541331"/>
            <a:chOff x="0" y="0"/>
            <a:chExt cx="2527032" cy="695627"/>
          </a:xfrm>
        </p:grpSpPr>
        <p:sp>
          <p:nvSpPr>
            <p:cNvPr name="Freeform 9" id="9"/>
            <p:cNvSpPr/>
            <p:nvPr/>
          </p:nvSpPr>
          <p:spPr>
            <a:xfrm flipH="false" flipV="false" rot="0">
              <a:off x="0" y="0"/>
              <a:ext cx="2527032" cy="695627"/>
            </a:xfrm>
            <a:custGeom>
              <a:avLst/>
              <a:gdLst/>
              <a:ahLst/>
              <a:cxnLst/>
              <a:rect r="r" b="b" t="t" l="l"/>
              <a:pathLst>
                <a:path h="695627" w="2527032">
                  <a:moveTo>
                    <a:pt x="31801" y="0"/>
                  </a:moveTo>
                  <a:lnTo>
                    <a:pt x="2495230" y="0"/>
                  </a:lnTo>
                  <a:cubicBezTo>
                    <a:pt x="2503665" y="0"/>
                    <a:pt x="2511753" y="3350"/>
                    <a:pt x="2517717" y="9314"/>
                  </a:cubicBezTo>
                  <a:cubicBezTo>
                    <a:pt x="2523681" y="15278"/>
                    <a:pt x="2527032" y="23367"/>
                    <a:pt x="2527032" y="31801"/>
                  </a:cubicBezTo>
                  <a:lnTo>
                    <a:pt x="2527032" y="663826"/>
                  </a:lnTo>
                  <a:cubicBezTo>
                    <a:pt x="2527032" y="681389"/>
                    <a:pt x="2512794" y="695627"/>
                    <a:pt x="2495230" y="695627"/>
                  </a:cubicBezTo>
                  <a:lnTo>
                    <a:pt x="31801" y="695627"/>
                  </a:lnTo>
                  <a:cubicBezTo>
                    <a:pt x="14238" y="695627"/>
                    <a:pt x="0" y="681389"/>
                    <a:pt x="0" y="663826"/>
                  </a:cubicBezTo>
                  <a:lnTo>
                    <a:pt x="0" y="31801"/>
                  </a:lnTo>
                  <a:cubicBezTo>
                    <a:pt x="0" y="14238"/>
                    <a:pt x="14238" y="0"/>
                    <a:pt x="31801" y="0"/>
                  </a:cubicBezTo>
                  <a:close/>
                </a:path>
              </a:pathLst>
            </a:custGeom>
            <a:solidFill>
              <a:srgbClr val="A0EEEB">
                <a:alpha val="40784"/>
              </a:srgbClr>
            </a:solidFill>
            <a:ln w="85725" cap="rnd">
              <a:solidFill>
                <a:srgbClr val="A0EEEB">
                  <a:alpha val="40784"/>
                </a:srgbClr>
              </a:solidFill>
              <a:prstDash val="solid"/>
              <a:round/>
            </a:ln>
          </p:spPr>
        </p:sp>
        <p:sp>
          <p:nvSpPr>
            <p:cNvPr name="TextBox 10" id="10"/>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11" id="11"/>
          <p:cNvGrpSpPr/>
          <p:nvPr/>
        </p:nvGrpSpPr>
        <p:grpSpPr>
          <a:xfrm rot="0">
            <a:off x="1604855" y="4548966"/>
            <a:ext cx="1303818" cy="1303818"/>
            <a:chOff x="0" y="0"/>
            <a:chExt cx="588434" cy="588434"/>
          </a:xfrm>
        </p:grpSpPr>
        <p:sp>
          <p:nvSpPr>
            <p:cNvPr name="Freeform 12" id="12"/>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3" id="13"/>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14" id="14"/>
          <p:cNvSpPr/>
          <p:nvPr/>
        </p:nvSpPr>
        <p:spPr>
          <a:xfrm flipH="false" flipV="false" rot="0">
            <a:off x="1292222" y="5355140"/>
            <a:ext cx="7244088" cy="3413777"/>
          </a:xfrm>
          <a:custGeom>
            <a:avLst/>
            <a:gdLst/>
            <a:ahLst/>
            <a:cxnLst/>
            <a:rect r="r" b="b" t="t" l="l"/>
            <a:pathLst>
              <a:path h="3413777" w="7244088">
                <a:moveTo>
                  <a:pt x="0" y="0"/>
                </a:moveTo>
                <a:lnTo>
                  <a:pt x="7244088" y="0"/>
                </a:lnTo>
                <a:lnTo>
                  <a:pt x="7244088" y="3413777"/>
                </a:lnTo>
                <a:lnTo>
                  <a:pt x="0" y="34137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true" rot="0">
            <a:off x="1434513" y="6224999"/>
            <a:ext cx="1459161" cy="512033"/>
          </a:xfrm>
          <a:custGeom>
            <a:avLst/>
            <a:gdLst/>
            <a:ahLst/>
            <a:cxnLst/>
            <a:rect r="r" b="b" t="t" l="l"/>
            <a:pathLst>
              <a:path h="512033" w="1459161">
                <a:moveTo>
                  <a:pt x="0" y="512033"/>
                </a:moveTo>
                <a:lnTo>
                  <a:pt x="1459162" y="512033"/>
                </a:lnTo>
                <a:lnTo>
                  <a:pt x="1459162" y="0"/>
                </a:lnTo>
                <a:lnTo>
                  <a:pt x="0" y="0"/>
                </a:lnTo>
                <a:lnTo>
                  <a:pt x="0" y="512033"/>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6" id="16"/>
          <p:cNvGrpSpPr/>
          <p:nvPr/>
        </p:nvGrpSpPr>
        <p:grpSpPr>
          <a:xfrm rot="0">
            <a:off x="2689095" y="6353599"/>
            <a:ext cx="5599251" cy="1541331"/>
            <a:chOff x="0" y="0"/>
            <a:chExt cx="2527032" cy="695627"/>
          </a:xfrm>
        </p:grpSpPr>
        <p:sp>
          <p:nvSpPr>
            <p:cNvPr name="Freeform 17" id="17"/>
            <p:cNvSpPr/>
            <p:nvPr/>
          </p:nvSpPr>
          <p:spPr>
            <a:xfrm flipH="false" flipV="false" rot="0">
              <a:off x="0" y="0"/>
              <a:ext cx="2527032" cy="695627"/>
            </a:xfrm>
            <a:custGeom>
              <a:avLst/>
              <a:gdLst/>
              <a:ahLst/>
              <a:cxnLst/>
              <a:rect r="r" b="b" t="t" l="l"/>
              <a:pathLst>
                <a:path h="695627" w="2527032">
                  <a:moveTo>
                    <a:pt x="31801" y="0"/>
                  </a:moveTo>
                  <a:lnTo>
                    <a:pt x="2495230" y="0"/>
                  </a:lnTo>
                  <a:cubicBezTo>
                    <a:pt x="2503665" y="0"/>
                    <a:pt x="2511753" y="3350"/>
                    <a:pt x="2517717" y="9314"/>
                  </a:cubicBezTo>
                  <a:cubicBezTo>
                    <a:pt x="2523681" y="15278"/>
                    <a:pt x="2527032" y="23367"/>
                    <a:pt x="2527032" y="31801"/>
                  </a:cubicBezTo>
                  <a:lnTo>
                    <a:pt x="2527032" y="663826"/>
                  </a:lnTo>
                  <a:cubicBezTo>
                    <a:pt x="2527032" y="681389"/>
                    <a:pt x="2512794" y="695627"/>
                    <a:pt x="2495230" y="695627"/>
                  </a:cubicBezTo>
                  <a:lnTo>
                    <a:pt x="31801" y="695627"/>
                  </a:lnTo>
                  <a:cubicBezTo>
                    <a:pt x="14238" y="695627"/>
                    <a:pt x="0" y="681389"/>
                    <a:pt x="0" y="663826"/>
                  </a:cubicBezTo>
                  <a:lnTo>
                    <a:pt x="0" y="31801"/>
                  </a:lnTo>
                  <a:cubicBezTo>
                    <a:pt x="0" y="14238"/>
                    <a:pt x="14238" y="0"/>
                    <a:pt x="31801" y="0"/>
                  </a:cubicBezTo>
                  <a:close/>
                </a:path>
              </a:pathLst>
            </a:custGeom>
            <a:solidFill>
              <a:srgbClr val="A0EEEB">
                <a:alpha val="40784"/>
              </a:srgbClr>
            </a:solidFill>
            <a:ln w="85725" cap="rnd">
              <a:solidFill>
                <a:srgbClr val="A0EEEB">
                  <a:alpha val="40784"/>
                </a:srgbClr>
              </a:solidFill>
              <a:prstDash val="solid"/>
              <a:round/>
            </a:ln>
          </p:spPr>
        </p:sp>
        <p:sp>
          <p:nvSpPr>
            <p:cNvPr name="TextBox 18" id="18"/>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19" id="19"/>
          <p:cNvGrpSpPr/>
          <p:nvPr/>
        </p:nvGrpSpPr>
        <p:grpSpPr>
          <a:xfrm rot="0">
            <a:off x="1604855" y="6489226"/>
            <a:ext cx="1303818" cy="1303818"/>
            <a:chOff x="0" y="0"/>
            <a:chExt cx="588434" cy="588434"/>
          </a:xfrm>
        </p:grpSpPr>
        <p:sp>
          <p:nvSpPr>
            <p:cNvPr name="Freeform 20" id="20"/>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1" id="21"/>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22" id="22"/>
          <p:cNvSpPr/>
          <p:nvPr/>
        </p:nvSpPr>
        <p:spPr>
          <a:xfrm flipH="false" flipV="false" rot="0">
            <a:off x="6128861" y="-3373476"/>
            <a:ext cx="17985179" cy="17962698"/>
          </a:xfrm>
          <a:custGeom>
            <a:avLst/>
            <a:gdLst/>
            <a:ahLst/>
            <a:cxnLst/>
            <a:rect r="r" b="b" t="t" l="l"/>
            <a:pathLst>
              <a:path h="17962698" w="17985179">
                <a:moveTo>
                  <a:pt x="0" y="0"/>
                </a:moveTo>
                <a:lnTo>
                  <a:pt x="17985179" y="0"/>
                </a:lnTo>
                <a:lnTo>
                  <a:pt x="17985179" y="17962698"/>
                </a:lnTo>
                <a:lnTo>
                  <a:pt x="0" y="17962698"/>
                </a:lnTo>
                <a:lnTo>
                  <a:pt x="0" y="0"/>
                </a:lnTo>
                <a:close/>
              </a:path>
            </a:pathLst>
          </a:custGeom>
          <a:blipFill>
            <a:blip r:embed="rId7">
              <a:alphaModFix amt="51000"/>
            </a:blip>
            <a:stretch>
              <a:fillRect l="0" t="0" r="0" b="0"/>
            </a:stretch>
          </a:blipFill>
        </p:spPr>
      </p:sp>
      <p:sp>
        <p:nvSpPr>
          <p:cNvPr name="Freeform 23" id="23"/>
          <p:cNvSpPr/>
          <p:nvPr/>
        </p:nvSpPr>
        <p:spPr>
          <a:xfrm flipH="false" flipV="false" rot="215446">
            <a:off x="10348128" y="6051708"/>
            <a:ext cx="9277470" cy="4372008"/>
          </a:xfrm>
          <a:custGeom>
            <a:avLst/>
            <a:gdLst/>
            <a:ahLst/>
            <a:cxnLst/>
            <a:rect r="r" b="b" t="t" l="l"/>
            <a:pathLst>
              <a:path h="4372008" w="9277470">
                <a:moveTo>
                  <a:pt x="0" y="0"/>
                </a:moveTo>
                <a:lnTo>
                  <a:pt x="9277470" y="0"/>
                </a:lnTo>
                <a:lnTo>
                  <a:pt x="9277470" y="4372007"/>
                </a:lnTo>
                <a:lnTo>
                  <a:pt x="0" y="43720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0">
            <a:off x="1943763" y="4880527"/>
            <a:ext cx="626004" cy="626004"/>
          </a:xfrm>
          <a:custGeom>
            <a:avLst/>
            <a:gdLst/>
            <a:ahLst/>
            <a:cxnLst/>
            <a:rect r="r" b="b" t="t" l="l"/>
            <a:pathLst>
              <a:path h="626004" w="626004">
                <a:moveTo>
                  <a:pt x="0" y="0"/>
                </a:moveTo>
                <a:lnTo>
                  <a:pt x="626004" y="0"/>
                </a:lnTo>
                <a:lnTo>
                  <a:pt x="626004" y="626005"/>
                </a:lnTo>
                <a:lnTo>
                  <a:pt x="0" y="6260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5" id="25"/>
          <p:cNvSpPr/>
          <p:nvPr/>
        </p:nvSpPr>
        <p:spPr>
          <a:xfrm flipH="false" flipV="false" rot="0">
            <a:off x="1930664" y="6820509"/>
            <a:ext cx="622014" cy="641251"/>
          </a:xfrm>
          <a:custGeom>
            <a:avLst/>
            <a:gdLst/>
            <a:ahLst/>
            <a:cxnLst/>
            <a:rect r="r" b="b" t="t" l="l"/>
            <a:pathLst>
              <a:path h="641251" w="622014">
                <a:moveTo>
                  <a:pt x="0" y="0"/>
                </a:moveTo>
                <a:lnTo>
                  <a:pt x="622013" y="0"/>
                </a:lnTo>
                <a:lnTo>
                  <a:pt x="622013" y="641251"/>
                </a:lnTo>
                <a:lnTo>
                  <a:pt x="0" y="6412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6" id="26"/>
          <p:cNvGrpSpPr/>
          <p:nvPr/>
        </p:nvGrpSpPr>
        <p:grpSpPr>
          <a:xfrm rot="0">
            <a:off x="11230964" y="-366414"/>
            <a:ext cx="8612346" cy="12438397"/>
            <a:chOff x="0" y="0"/>
            <a:chExt cx="4396740" cy="6350000"/>
          </a:xfrm>
        </p:grpSpPr>
        <p:sp>
          <p:nvSpPr>
            <p:cNvPr name="Freeform 27" id="27"/>
            <p:cNvSpPr/>
            <p:nvPr/>
          </p:nvSpPr>
          <p:spPr>
            <a:xfrm flipH="false" flipV="false" rot="0">
              <a:off x="0" y="0"/>
              <a:ext cx="4396740" cy="6350000"/>
            </a:xfrm>
            <a:custGeom>
              <a:avLst/>
              <a:gdLst/>
              <a:ahLst/>
              <a:cxnLst/>
              <a:rect r="r" b="b" t="t" l="l"/>
              <a:pathLst>
                <a:path h="6350000" w="4396740">
                  <a:moveTo>
                    <a:pt x="2852420" y="3135630"/>
                  </a:moveTo>
                  <a:cubicBezTo>
                    <a:pt x="3072130" y="3098800"/>
                    <a:pt x="3290570" y="3050540"/>
                    <a:pt x="3505200" y="2990850"/>
                  </a:cubicBezTo>
                  <a:cubicBezTo>
                    <a:pt x="3882390" y="2889250"/>
                    <a:pt x="4271010" y="3111500"/>
                    <a:pt x="4372610" y="3488690"/>
                  </a:cubicBezTo>
                  <a:cubicBezTo>
                    <a:pt x="4389120" y="3548380"/>
                    <a:pt x="4396740" y="3610610"/>
                    <a:pt x="4396740" y="3672840"/>
                  </a:cubicBezTo>
                  <a:cubicBezTo>
                    <a:pt x="4396740" y="3780790"/>
                    <a:pt x="4396740" y="3878580"/>
                    <a:pt x="4396740" y="3952240"/>
                  </a:cubicBezTo>
                  <a:cubicBezTo>
                    <a:pt x="4396740" y="4055110"/>
                    <a:pt x="4373880" y="4156710"/>
                    <a:pt x="4330700" y="4250690"/>
                  </a:cubicBezTo>
                  <a:cubicBezTo>
                    <a:pt x="3884930" y="5210810"/>
                    <a:pt x="2867660" y="5960110"/>
                    <a:pt x="1614170" y="6350000"/>
                  </a:cubicBezTo>
                  <a:lnTo>
                    <a:pt x="1614170" y="4979670"/>
                  </a:lnTo>
                  <a:cubicBezTo>
                    <a:pt x="2091690" y="4860290"/>
                    <a:pt x="2534920" y="4620260"/>
                    <a:pt x="2951480" y="4292600"/>
                  </a:cubicBezTo>
                  <a:cubicBezTo>
                    <a:pt x="2432050" y="4403090"/>
                    <a:pt x="1898650" y="4424680"/>
                    <a:pt x="1372870" y="4356100"/>
                  </a:cubicBezTo>
                  <a:cubicBezTo>
                    <a:pt x="831850" y="4284980"/>
                    <a:pt x="427990" y="3823970"/>
                    <a:pt x="427990" y="3279140"/>
                  </a:cubicBezTo>
                  <a:cubicBezTo>
                    <a:pt x="427990" y="3082290"/>
                    <a:pt x="547370" y="2905760"/>
                    <a:pt x="730250" y="2833370"/>
                  </a:cubicBezTo>
                  <a:lnTo>
                    <a:pt x="1510030" y="2520950"/>
                  </a:lnTo>
                  <a:lnTo>
                    <a:pt x="1037590" y="2546350"/>
                  </a:lnTo>
                  <a:cubicBezTo>
                    <a:pt x="582930" y="2570480"/>
                    <a:pt x="193040" y="2221230"/>
                    <a:pt x="168910" y="1766570"/>
                  </a:cubicBezTo>
                  <a:cubicBezTo>
                    <a:pt x="167640" y="1752600"/>
                    <a:pt x="167640" y="1737360"/>
                    <a:pt x="167640" y="1722120"/>
                  </a:cubicBezTo>
                  <a:cubicBezTo>
                    <a:pt x="167640" y="1463040"/>
                    <a:pt x="332740" y="1231900"/>
                    <a:pt x="577850" y="1148080"/>
                  </a:cubicBezTo>
                  <a:lnTo>
                    <a:pt x="914400" y="1032510"/>
                  </a:lnTo>
                  <a:lnTo>
                    <a:pt x="0" y="1032510"/>
                  </a:lnTo>
                  <a:lnTo>
                    <a:pt x="0" y="0"/>
                  </a:lnTo>
                  <a:lnTo>
                    <a:pt x="3302000" y="0"/>
                  </a:lnTo>
                  <a:cubicBezTo>
                    <a:pt x="3676650" y="0"/>
                    <a:pt x="3981450" y="303530"/>
                    <a:pt x="3981450" y="679450"/>
                  </a:cubicBezTo>
                  <a:cubicBezTo>
                    <a:pt x="3981450" y="962660"/>
                    <a:pt x="3801110" y="1215390"/>
                    <a:pt x="3533140" y="1306830"/>
                  </a:cubicBezTo>
                  <a:lnTo>
                    <a:pt x="3108960" y="1452880"/>
                  </a:lnTo>
                  <a:lnTo>
                    <a:pt x="4210050" y="1393190"/>
                  </a:lnTo>
                  <a:lnTo>
                    <a:pt x="4210050" y="2592070"/>
                  </a:lnTo>
                  <a:lnTo>
                    <a:pt x="2852420" y="3135630"/>
                  </a:lnTo>
                  <a:close/>
                </a:path>
              </a:pathLst>
            </a:custGeom>
            <a:blipFill>
              <a:blip r:embed="rId12">
                <a:alphaModFix amt="67000"/>
              </a:blip>
              <a:stretch>
                <a:fillRect l="-58386" t="0" r="-58386" b="0"/>
              </a:stretch>
            </a:blipFill>
          </p:spPr>
        </p:sp>
      </p:grpSp>
      <p:sp>
        <p:nvSpPr>
          <p:cNvPr name="TextBox 28" id="28"/>
          <p:cNvSpPr txBox="true"/>
          <p:nvPr/>
        </p:nvSpPr>
        <p:spPr>
          <a:xfrm rot="0">
            <a:off x="3362783" y="6598865"/>
            <a:ext cx="4719419" cy="359379"/>
          </a:xfrm>
          <a:prstGeom prst="rect">
            <a:avLst/>
          </a:prstGeom>
        </p:spPr>
        <p:txBody>
          <a:bodyPr anchor="t" rtlCol="false" tIns="0" lIns="0" bIns="0" rIns="0">
            <a:spAutoFit/>
          </a:bodyPr>
          <a:lstStyle/>
          <a:p>
            <a:pPr algn="l">
              <a:lnSpc>
                <a:spcPts val="2788"/>
              </a:lnSpc>
              <a:spcBef>
                <a:spcPct val="0"/>
              </a:spcBef>
            </a:pPr>
            <a:r>
              <a:rPr lang="en-US" sz="2323" b="true">
                <a:solidFill>
                  <a:srgbClr val="FFFFFF"/>
                </a:solidFill>
                <a:latin typeface="Poppins Bold"/>
                <a:ea typeface="Poppins Bold"/>
                <a:cs typeface="Poppins Bold"/>
                <a:sym typeface="Poppins Bold"/>
              </a:rPr>
              <a:t>Full-Service Execution</a:t>
            </a:r>
          </a:p>
        </p:txBody>
      </p:sp>
      <p:sp>
        <p:nvSpPr>
          <p:cNvPr name="TextBox 29" id="29"/>
          <p:cNvSpPr txBox="true"/>
          <p:nvPr/>
        </p:nvSpPr>
        <p:spPr>
          <a:xfrm rot="0">
            <a:off x="3362783" y="7020294"/>
            <a:ext cx="4239048" cy="621458"/>
          </a:xfrm>
          <a:prstGeom prst="rect">
            <a:avLst/>
          </a:prstGeom>
        </p:spPr>
        <p:txBody>
          <a:bodyPr anchor="t" rtlCol="false" tIns="0" lIns="0" bIns="0" rIns="0">
            <a:spAutoFit/>
          </a:bodyPr>
          <a:lstStyle/>
          <a:p>
            <a:pPr algn="l">
              <a:lnSpc>
                <a:spcPts val="2421"/>
              </a:lnSpc>
              <a:spcBef>
                <a:spcPct val="0"/>
              </a:spcBef>
            </a:pPr>
            <a:r>
              <a:rPr lang="en-US" sz="2018" b="true">
                <a:solidFill>
                  <a:srgbClr val="FFFFFF"/>
                </a:solidFill>
                <a:latin typeface="Poppins Medium"/>
                <a:ea typeface="Poppins Medium"/>
                <a:cs typeface="Poppins Medium"/>
                <a:sym typeface="Poppins Medium"/>
              </a:rPr>
              <a:t>Build campaigns, oversee execution, optimize spend</a:t>
            </a:r>
          </a:p>
        </p:txBody>
      </p:sp>
      <p:sp>
        <p:nvSpPr>
          <p:cNvPr name="TextBox 30" id="30"/>
          <p:cNvSpPr txBox="true"/>
          <p:nvPr/>
        </p:nvSpPr>
        <p:spPr>
          <a:xfrm rot="0">
            <a:off x="1868076" y="2383791"/>
            <a:ext cx="8521570" cy="1563369"/>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O</a:t>
            </a:r>
            <a:r>
              <a:rPr lang="en-US" sz="2200" i="true" spc="528">
                <a:solidFill>
                  <a:srgbClr val="F6F6F6"/>
                </a:solidFill>
                <a:latin typeface="Poppins Italics"/>
                <a:ea typeface="Poppins Italics"/>
                <a:cs typeface="Poppins Italics"/>
                <a:sym typeface="Poppins Italics"/>
              </a:rPr>
              <a:t>U</a:t>
            </a:r>
            <a:r>
              <a:rPr lang="en-US" sz="2200" i="true" spc="528">
                <a:solidFill>
                  <a:srgbClr val="F6F6F6"/>
                </a:solidFill>
                <a:latin typeface="Poppins Italics"/>
                <a:ea typeface="Poppins Italics"/>
                <a:cs typeface="Poppins Italics"/>
                <a:sym typeface="Poppins Italics"/>
              </a:rPr>
              <a:t>R</a:t>
            </a:r>
            <a:r>
              <a:rPr lang="en-US" sz="2200" i="true" spc="528">
                <a:solidFill>
                  <a:srgbClr val="F6F6F6"/>
                </a:solidFill>
                <a:latin typeface="Poppins Italics"/>
                <a:ea typeface="Poppins Italics"/>
                <a:cs typeface="Poppins Italics"/>
                <a:sym typeface="Poppins Italics"/>
              </a:rPr>
              <a:t> </a:t>
            </a:r>
            <a:r>
              <a:rPr lang="en-US" b="true" sz="2200" i="true" spc="528">
                <a:solidFill>
                  <a:srgbClr val="F6F6F6"/>
                </a:solidFill>
                <a:latin typeface="Poppins Bold Italics"/>
                <a:ea typeface="Poppins Bold Italics"/>
                <a:cs typeface="Poppins Bold Italics"/>
                <a:sym typeface="Poppins Bold Italics"/>
              </a:rPr>
              <a:t>FRACT</a:t>
            </a:r>
            <a:r>
              <a:rPr lang="en-US" b="true" sz="2200" i="true" spc="528">
                <a:solidFill>
                  <a:srgbClr val="F6F6F6"/>
                </a:solidFill>
                <a:latin typeface="Poppins Bold Italics"/>
                <a:ea typeface="Poppins Bold Italics"/>
                <a:cs typeface="Poppins Bold Italics"/>
                <a:sym typeface="Poppins Bold Italics"/>
              </a:rPr>
              <a:t>IONAL CMO SERVICES</a:t>
            </a:r>
            <a:r>
              <a:rPr lang="en-US" sz="2200" i="true" spc="528">
                <a:solidFill>
                  <a:srgbClr val="F6F6F6"/>
                </a:solidFill>
                <a:latin typeface="Poppins Italics"/>
                <a:ea typeface="Poppins Italics"/>
                <a:cs typeface="Poppins Italics"/>
                <a:sym typeface="Poppins Italics"/>
              </a:rPr>
              <a:t> PROVIDE EXPERT MARKETING GUIDANCE TAILORED TO YOUR BUSINESS NEEDS AT AN </a:t>
            </a:r>
            <a:r>
              <a:rPr lang="en-US" b="true" sz="2200" i="true" spc="528">
                <a:solidFill>
                  <a:srgbClr val="A0EEEB"/>
                </a:solidFill>
                <a:latin typeface="Poppins Bold Italics"/>
                <a:ea typeface="Poppins Bold Italics"/>
                <a:cs typeface="Poppins Bold Italics"/>
                <a:sym typeface="Poppins Bold Italics"/>
              </a:rPr>
              <a:t>AFFORDABLE PRICE.</a:t>
            </a:r>
          </a:p>
        </p:txBody>
      </p:sp>
      <p:sp>
        <p:nvSpPr>
          <p:cNvPr name="TextBox 31" id="31"/>
          <p:cNvSpPr txBox="true"/>
          <p:nvPr/>
        </p:nvSpPr>
        <p:spPr>
          <a:xfrm rot="0">
            <a:off x="1868076" y="1343025"/>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Fractional</a:t>
            </a:r>
            <a:r>
              <a:rPr lang="en-US" b="true" sz="5253">
                <a:solidFill>
                  <a:srgbClr val="F6F6F6"/>
                </a:solidFill>
                <a:latin typeface="Poppins Semi-Bold"/>
                <a:ea typeface="Poppins Semi-Bold"/>
                <a:cs typeface="Poppins Semi-Bold"/>
                <a:sym typeface="Poppins Semi-Bold"/>
              </a:rPr>
              <a:t> CMO Services</a:t>
            </a:r>
          </a:p>
        </p:txBody>
      </p:sp>
      <p:sp>
        <p:nvSpPr>
          <p:cNvPr name="TextBox 32" id="32"/>
          <p:cNvSpPr txBox="true"/>
          <p:nvPr/>
        </p:nvSpPr>
        <p:spPr>
          <a:xfrm rot="0">
            <a:off x="3362783" y="4653036"/>
            <a:ext cx="4719419" cy="359379"/>
          </a:xfrm>
          <a:prstGeom prst="rect">
            <a:avLst/>
          </a:prstGeom>
        </p:spPr>
        <p:txBody>
          <a:bodyPr anchor="t" rtlCol="false" tIns="0" lIns="0" bIns="0" rIns="0">
            <a:spAutoFit/>
          </a:bodyPr>
          <a:lstStyle/>
          <a:p>
            <a:pPr algn="l">
              <a:lnSpc>
                <a:spcPts val="2788"/>
              </a:lnSpc>
              <a:spcBef>
                <a:spcPct val="0"/>
              </a:spcBef>
            </a:pPr>
            <a:r>
              <a:rPr lang="en-US" sz="2323" b="true">
                <a:solidFill>
                  <a:srgbClr val="FFFFFF"/>
                </a:solidFill>
                <a:latin typeface="Poppins Bold"/>
                <a:ea typeface="Poppins Bold"/>
                <a:cs typeface="Poppins Bold"/>
                <a:sym typeface="Poppins Bold"/>
              </a:rPr>
              <a:t>Strategic Leadership</a:t>
            </a:r>
          </a:p>
        </p:txBody>
      </p:sp>
      <p:sp>
        <p:nvSpPr>
          <p:cNvPr name="TextBox 33" id="33"/>
          <p:cNvSpPr txBox="true"/>
          <p:nvPr/>
        </p:nvSpPr>
        <p:spPr>
          <a:xfrm rot="0">
            <a:off x="3362783" y="5083990"/>
            <a:ext cx="4239048" cy="320254"/>
          </a:xfrm>
          <a:prstGeom prst="rect">
            <a:avLst/>
          </a:prstGeom>
        </p:spPr>
        <p:txBody>
          <a:bodyPr anchor="t" rtlCol="false" tIns="0" lIns="0" bIns="0" rIns="0">
            <a:spAutoFit/>
          </a:bodyPr>
          <a:lstStyle/>
          <a:p>
            <a:pPr algn="l">
              <a:lnSpc>
                <a:spcPts val="2421"/>
              </a:lnSpc>
              <a:spcBef>
                <a:spcPct val="0"/>
              </a:spcBef>
            </a:pPr>
            <a:r>
              <a:rPr lang="en-US" sz="2018" b="true">
                <a:solidFill>
                  <a:srgbClr val="FFFFFF"/>
                </a:solidFill>
                <a:latin typeface="Poppins Medium"/>
                <a:ea typeface="Poppins Medium"/>
                <a:cs typeface="Poppins Medium"/>
                <a:sym typeface="Poppins Medium"/>
              </a:rPr>
              <a:t>Without the $200k salary.</a:t>
            </a:r>
          </a:p>
        </p:txBody>
      </p:sp>
      <p:sp>
        <p:nvSpPr>
          <p:cNvPr name="TextBox 34" id="34"/>
          <p:cNvSpPr txBox="true"/>
          <p:nvPr/>
        </p:nvSpPr>
        <p:spPr>
          <a:xfrm rot="0">
            <a:off x="1872904" y="8903970"/>
            <a:ext cx="15108623" cy="354330"/>
          </a:xfrm>
          <a:prstGeom prst="rect">
            <a:avLst/>
          </a:prstGeom>
        </p:spPr>
        <p:txBody>
          <a:bodyPr anchor="t" rtlCol="false" tIns="0" lIns="0" bIns="0" rIns="0">
            <a:spAutoFit/>
          </a:bodyPr>
          <a:lstStyle/>
          <a:p>
            <a:pPr algn="l" marL="0" indent="0" lvl="0">
              <a:lnSpc>
                <a:spcPts val="2730"/>
              </a:lnSpc>
              <a:spcBef>
                <a:spcPct val="0"/>
              </a:spcBef>
            </a:pPr>
            <a:r>
              <a:rPr lang="en-US" b="true" sz="2100" spc="35">
                <a:solidFill>
                  <a:srgbClr val="A0EEEB"/>
                </a:solidFill>
                <a:latin typeface="Poppins Bold"/>
                <a:ea typeface="Poppins Bold"/>
                <a:cs typeface="Poppins Bold"/>
                <a:sym typeface="Poppins Bold"/>
              </a:rPr>
              <a:t>Nine </a:t>
            </a:r>
            <a:r>
              <a:rPr lang="en-US" b="true" sz="2100" i="true" spc="35">
                <a:solidFill>
                  <a:srgbClr val="A0EEEB"/>
                </a:solidFill>
                <a:latin typeface="Poppins Bold Italics"/>
                <a:ea typeface="Poppins Bold Italics"/>
                <a:cs typeface="Poppins Bold Italics"/>
                <a:sym typeface="Poppins Bold Italics"/>
              </a:rPr>
              <a:t>American</a:t>
            </a:r>
            <a:r>
              <a:rPr lang="en-US" b="true" sz="2100" spc="35">
                <a:solidFill>
                  <a:srgbClr val="D9D9D9"/>
                </a:solidFill>
                <a:latin typeface="Poppins Bold"/>
                <a:ea typeface="Poppins Bold"/>
                <a:cs typeface="Poppins Bold"/>
                <a:sym typeface="Poppins Bold"/>
              </a:rPr>
              <a:t> Marketing Experts </a:t>
            </a:r>
            <a:r>
              <a:rPr lang="en-US" sz="2100" spc="35">
                <a:solidFill>
                  <a:srgbClr val="D9D9D9"/>
                </a:solidFill>
                <a:latin typeface="Poppins"/>
                <a:ea typeface="Poppins"/>
                <a:cs typeface="Poppins"/>
                <a:sym typeface="Poppins"/>
              </a:rPr>
              <a:t>–</a:t>
            </a:r>
            <a:r>
              <a:rPr lang="en-US" b="true" sz="2100" spc="35">
                <a:solidFill>
                  <a:srgbClr val="D9D9D9"/>
                </a:solidFill>
                <a:latin typeface="Poppins Bold"/>
                <a:ea typeface="Poppins Bold"/>
                <a:cs typeface="Poppins Bold"/>
                <a:sym typeface="Poppins Bold"/>
              </a:rPr>
              <a:t> </a:t>
            </a:r>
            <a:r>
              <a:rPr lang="en-US" sz="2100" spc="35">
                <a:solidFill>
                  <a:srgbClr val="D9D9D9"/>
                </a:solidFill>
                <a:latin typeface="Poppins"/>
                <a:ea typeface="Poppins"/>
                <a:cs typeface="Poppins"/>
                <a:sym typeface="Poppins"/>
              </a:rPr>
              <a:t>Additional Global Tech Support &amp; VA Staff</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5994227"/>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3">
              <a:alphaModFix amt="21999"/>
            </a:blip>
            <a:stretch>
              <a:fillRect l="0" t="0" r="0" b="0"/>
            </a:stretch>
          </a:blipFill>
        </p:spPr>
      </p:sp>
      <p:sp>
        <p:nvSpPr>
          <p:cNvPr name="Freeform 7" id="7"/>
          <p:cNvSpPr/>
          <p:nvPr/>
        </p:nvSpPr>
        <p:spPr>
          <a:xfrm flipH="false" flipV="false" rot="0">
            <a:off x="10711224" y="2257982"/>
            <a:ext cx="8064458" cy="8054378"/>
          </a:xfrm>
          <a:custGeom>
            <a:avLst/>
            <a:gdLst/>
            <a:ahLst/>
            <a:cxnLst/>
            <a:rect r="r" b="b" t="t" l="l"/>
            <a:pathLst>
              <a:path h="8054378" w="8064458">
                <a:moveTo>
                  <a:pt x="0" y="0"/>
                </a:moveTo>
                <a:lnTo>
                  <a:pt x="8064458" y="0"/>
                </a:lnTo>
                <a:lnTo>
                  <a:pt x="8064458" y="8054377"/>
                </a:lnTo>
                <a:lnTo>
                  <a:pt x="0" y="8054377"/>
                </a:lnTo>
                <a:lnTo>
                  <a:pt x="0" y="0"/>
                </a:lnTo>
                <a:close/>
              </a:path>
            </a:pathLst>
          </a:custGeom>
          <a:blipFill>
            <a:blip r:embed="rId4">
              <a:alphaModFix amt="51000"/>
            </a:blip>
            <a:stretch>
              <a:fillRect l="0" t="0" r="0" b="0"/>
            </a:stretch>
          </a:blipFill>
        </p:spPr>
      </p:sp>
      <p:sp>
        <p:nvSpPr>
          <p:cNvPr name="Freeform 8" id="8"/>
          <p:cNvSpPr/>
          <p:nvPr/>
        </p:nvSpPr>
        <p:spPr>
          <a:xfrm flipH="false" flipV="false" rot="0">
            <a:off x="-487682" y="2225073"/>
            <a:ext cx="8064458" cy="8054378"/>
          </a:xfrm>
          <a:custGeom>
            <a:avLst/>
            <a:gdLst/>
            <a:ahLst/>
            <a:cxnLst/>
            <a:rect r="r" b="b" t="t" l="l"/>
            <a:pathLst>
              <a:path h="8054378" w="8064458">
                <a:moveTo>
                  <a:pt x="0" y="0"/>
                </a:moveTo>
                <a:lnTo>
                  <a:pt x="8064458" y="0"/>
                </a:lnTo>
                <a:lnTo>
                  <a:pt x="8064458" y="8054377"/>
                </a:lnTo>
                <a:lnTo>
                  <a:pt x="0" y="8054377"/>
                </a:lnTo>
                <a:lnTo>
                  <a:pt x="0" y="0"/>
                </a:lnTo>
                <a:close/>
              </a:path>
            </a:pathLst>
          </a:custGeom>
          <a:blipFill>
            <a:blip r:embed="rId4">
              <a:alphaModFix amt="51000"/>
            </a:blip>
            <a:stretch>
              <a:fillRect l="0" t="0" r="0" b="0"/>
            </a:stretch>
          </a:blipFill>
        </p:spPr>
      </p:sp>
      <p:sp>
        <p:nvSpPr>
          <p:cNvPr name="Freeform 9" id="9"/>
          <p:cNvSpPr/>
          <p:nvPr/>
        </p:nvSpPr>
        <p:spPr>
          <a:xfrm flipH="false" flipV="false" rot="0">
            <a:off x="5060092" y="2406526"/>
            <a:ext cx="8064458" cy="8054378"/>
          </a:xfrm>
          <a:custGeom>
            <a:avLst/>
            <a:gdLst/>
            <a:ahLst/>
            <a:cxnLst/>
            <a:rect r="r" b="b" t="t" l="l"/>
            <a:pathLst>
              <a:path h="8054378" w="8064458">
                <a:moveTo>
                  <a:pt x="0" y="0"/>
                </a:moveTo>
                <a:lnTo>
                  <a:pt x="8064458" y="0"/>
                </a:lnTo>
                <a:lnTo>
                  <a:pt x="8064458" y="8054377"/>
                </a:lnTo>
                <a:lnTo>
                  <a:pt x="0" y="8054377"/>
                </a:lnTo>
                <a:lnTo>
                  <a:pt x="0" y="0"/>
                </a:lnTo>
                <a:close/>
              </a:path>
            </a:pathLst>
          </a:custGeom>
          <a:blipFill>
            <a:blip r:embed="rId4">
              <a:alphaModFix amt="51000"/>
            </a:blip>
            <a:stretch>
              <a:fillRect l="0" t="0" r="0" b="0"/>
            </a:stretch>
          </a:blipFill>
        </p:spPr>
      </p:sp>
      <p:sp>
        <p:nvSpPr>
          <p:cNvPr name="Freeform 10" id="10"/>
          <p:cNvSpPr/>
          <p:nvPr/>
        </p:nvSpPr>
        <p:spPr>
          <a:xfrm flipH="false" flipV="false" rot="0">
            <a:off x="51915" y="5206884"/>
            <a:ext cx="6435316" cy="3032643"/>
          </a:xfrm>
          <a:custGeom>
            <a:avLst/>
            <a:gdLst/>
            <a:ahLst/>
            <a:cxnLst/>
            <a:rect r="r" b="b" t="t" l="l"/>
            <a:pathLst>
              <a:path h="3032643" w="6435316">
                <a:moveTo>
                  <a:pt x="0" y="0"/>
                </a:moveTo>
                <a:lnTo>
                  <a:pt x="6435316" y="0"/>
                </a:lnTo>
                <a:lnTo>
                  <a:pt x="6435316" y="3032643"/>
                </a:lnTo>
                <a:lnTo>
                  <a:pt x="0" y="30326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5874663" y="5221210"/>
            <a:ext cx="6435316" cy="3032643"/>
          </a:xfrm>
          <a:custGeom>
            <a:avLst/>
            <a:gdLst/>
            <a:ahLst/>
            <a:cxnLst/>
            <a:rect r="r" b="b" t="t" l="l"/>
            <a:pathLst>
              <a:path h="3032643" w="6435316">
                <a:moveTo>
                  <a:pt x="0" y="0"/>
                </a:moveTo>
                <a:lnTo>
                  <a:pt x="6435316" y="0"/>
                </a:lnTo>
                <a:lnTo>
                  <a:pt x="6435316" y="3032642"/>
                </a:lnTo>
                <a:lnTo>
                  <a:pt x="0" y="30326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1525795" y="5223211"/>
            <a:ext cx="6435316" cy="3032643"/>
          </a:xfrm>
          <a:custGeom>
            <a:avLst/>
            <a:gdLst/>
            <a:ahLst/>
            <a:cxnLst/>
            <a:rect r="r" b="b" t="t" l="l"/>
            <a:pathLst>
              <a:path h="3032643" w="6435316">
                <a:moveTo>
                  <a:pt x="0" y="0"/>
                </a:moveTo>
                <a:lnTo>
                  <a:pt x="6435316" y="0"/>
                </a:lnTo>
                <a:lnTo>
                  <a:pt x="6435316" y="3032643"/>
                </a:lnTo>
                <a:lnTo>
                  <a:pt x="0" y="30326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2561614" y="4364923"/>
            <a:ext cx="1762704" cy="1762704"/>
            <a:chOff x="0" y="0"/>
            <a:chExt cx="588434" cy="588434"/>
          </a:xfrm>
        </p:grpSpPr>
        <p:sp>
          <p:nvSpPr>
            <p:cNvPr name="Freeform 14" id="14"/>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5" id="15"/>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16" id="16"/>
          <p:cNvGrpSpPr/>
          <p:nvPr/>
        </p:nvGrpSpPr>
        <p:grpSpPr>
          <a:xfrm rot="0">
            <a:off x="1602149" y="5792411"/>
            <a:ext cx="3681633" cy="1004688"/>
            <a:chOff x="0" y="0"/>
            <a:chExt cx="1229020" cy="335390"/>
          </a:xfrm>
        </p:grpSpPr>
        <p:sp>
          <p:nvSpPr>
            <p:cNvPr name="Freeform 17" id="17"/>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18" id="18"/>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grpSp>
        <p:nvGrpSpPr>
          <p:cNvPr name="Group 19" id="19"/>
          <p:cNvGrpSpPr/>
          <p:nvPr/>
        </p:nvGrpSpPr>
        <p:grpSpPr>
          <a:xfrm rot="0">
            <a:off x="13862101" y="4364667"/>
            <a:ext cx="1762704" cy="1762704"/>
            <a:chOff x="0" y="0"/>
            <a:chExt cx="588434" cy="588434"/>
          </a:xfrm>
        </p:grpSpPr>
        <p:sp>
          <p:nvSpPr>
            <p:cNvPr name="Freeform 20" id="20"/>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1" id="21"/>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2" id="22"/>
          <p:cNvGrpSpPr/>
          <p:nvPr/>
        </p:nvGrpSpPr>
        <p:grpSpPr>
          <a:xfrm rot="0">
            <a:off x="12902637" y="5792155"/>
            <a:ext cx="3681633" cy="1004688"/>
            <a:chOff x="0" y="0"/>
            <a:chExt cx="1229020" cy="335390"/>
          </a:xfrm>
        </p:grpSpPr>
        <p:sp>
          <p:nvSpPr>
            <p:cNvPr name="Freeform 23" id="23"/>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24" id="24"/>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Freeform 25" id="25"/>
          <p:cNvSpPr/>
          <p:nvPr/>
        </p:nvSpPr>
        <p:spPr>
          <a:xfrm flipH="true" flipV="false" rot="0">
            <a:off x="9251074" y="5221210"/>
            <a:ext cx="1972721" cy="692246"/>
          </a:xfrm>
          <a:custGeom>
            <a:avLst/>
            <a:gdLst/>
            <a:ahLst/>
            <a:cxnLst/>
            <a:rect r="r" b="b" t="t" l="l"/>
            <a:pathLst>
              <a:path h="692246" w="1972721">
                <a:moveTo>
                  <a:pt x="1972721" y="0"/>
                </a:moveTo>
                <a:lnTo>
                  <a:pt x="0" y="0"/>
                </a:lnTo>
                <a:lnTo>
                  <a:pt x="0" y="692245"/>
                </a:lnTo>
                <a:lnTo>
                  <a:pt x="1972721" y="692245"/>
                </a:lnTo>
                <a:lnTo>
                  <a:pt x="1972721"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6" id="26"/>
          <p:cNvGrpSpPr/>
          <p:nvPr/>
        </p:nvGrpSpPr>
        <p:grpSpPr>
          <a:xfrm rot="0">
            <a:off x="8210969" y="4362666"/>
            <a:ext cx="1762704" cy="1762704"/>
            <a:chOff x="0" y="0"/>
            <a:chExt cx="588434" cy="588434"/>
          </a:xfrm>
        </p:grpSpPr>
        <p:sp>
          <p:nvSpPr>
            <p:cNvPr name="Freeform 27" id="27"/>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8" id="28"/>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9" id="29"/>
          <p:cNvGrpSpPr/>
          <p:nvPr/>
        </p:nvGrpSpPr>
        <p:grpSpPr>
          <a:xfrm rot="0">
            <a:off x="7251504" y="5790154"/>
            <a:ext cx="3681633" cy="1004688"/>
            <a:chOff x="0" y="0"/>
            <a:chExt cx="1229020" cy="335390"/>
          </a:xfrm>
        </p:grpSpPr>
        <p:sp>
          <p:nvSpPr>
            <p:cNvPr name="Freeform 30" id="30"/>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31" id="31"/>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Freeform 32" id="32"/>
          <p:cNvSpPr/>
          <p:nvPr/>
        </p:nvSpPr>
        <p:spPr>
          <a:xfrm flipH="true" flipV="true" rot="0">
            <a:off x="13757093" y="4004111"/>
            <a:ext cx="1972721" cy="692246"/>
          </a:xfrm>
          <a:custGeom>
            <a:avLst/>
            <a:gdLst/>
            <a:ahLst/>
            <a:cxnLst/>
            <a:rect r="r" b="b" t="t" l="l"/>
            <a:pathLst>
              <a:path h="692246" w="1972721">
                <a:moveTo>
                  <a:pt x="1972721" y="692246"/>
                </a:moveTo>
                <a:lnTo>
                  <a:pt x="0" y="692246"/>
                </a:lnTo>
                <a:lnTo>
                  <a:pt x="0" y="0"/>
                </a:lnTo>
                <a:lnTo>
                  <a:pt x="1972721" y="0"/>
                </a:lnTo>
                <a:lnTo>
                  <a:pt x="1972721" y="69224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3" id="33"/>
          <p:cNvSpPr/>
          <p:nvPr/>
        </p:nvSpPr>
        <p:spPr>
          <a:xfrm flipH="true" flipV="true" rot="0">
            <a:off x="1296852" y="5451708"/>
            <a:ext cx="1972721" cy="692246"/>
          </a:xfrm>
          <a:custGeom>
            <a:avLst/>
            <a:gdLst/>
            <a:ahLst/>
            <a:cxnLst/>
            <a:rect r="r" b="b" t="t" l="l"/>
            <a:pathLst>
              <a:path h="692246" w="1972721">
                <a:moveTo>
                  <a:pt x="1972721" y="692246"/>
                </a:moveTo>
                <a:lnTo>
                  <a:pt x="0" y="692246"/>
                </a:lnTo>
                <a:lnTo>
                  <a:pt x="0" y="0"/>
                </a:lnTo>
                <a:lnTo>
                  <a:pt x="1972721" y="0"/>
                </a:lnTo>
                <a:lnTo>
                  <a:pt x="1972721" y="69224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0">
            <a:off x="3028796" y="4724932"/>
            <a:ext cx="828339" cy="808666"/>
          </a:xfrm>
          <a:custGeom>
            <a:avLst/>
            <a:gdLst/>
            <a:ahLst/>
            <a:cxnLst/>
            <a:rect r="r" b="b" t="t" l="l"/>
            <a:pathLst>
              <a:path h="808666" w="828339">
                <a:moveTo>
                  <a:pt x="0" y="0"/>
                </a:moveTo>
                <a:lnTo>
                  <a:pt x="828340" y="0"/>
                </a:lnTo>
                <a:lnTo>
                  <a:pt x="828340" y="808666"/>
                </a:lnTo>
                <a:lnTo>
                  <a:pt x="0" y="8086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8805294" y="4642049"/>
            <a:ext cx="574053" cy="991171"/>
          </a:xfrm>
          <a:custGeom>
            <a:avLst/>
            <a:gdLst/>
            <a:ahLst/>
            <a:cxnLst/>
            <a:rect r="r" b="b" t="t" l="l"/>
            <a:pathLst>
              <a:path h="991171" w="574053">
                <a:moveTo>
                  <a:pt x="0" y="0"/>
                </a:moveTo>
                <a:lnTo>
                  <a:pt x="574054" y="0"/>
                </a:lnTo>
                <a:lnTo>
                  <a:pt x="574054" y="991171"/>
                </a:lnTo>
                <a:lnTo>
                  <a:pt x="0" y="99117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6" id="36"/>
          <p:cNvSpPr/>
          <p:nvPr/>
        </p:nvSpPr>
        <p:spPr>
          <a:xfrm flipH="false" flipV="false" rot="0">
            <a:off x="14424844" y="4869513"/>
            <a:ext cx="637219" cy="674743"/>
          </a:xfrm>
          <a:custGeom>
            <a:avLst/>
            <a:gdLst/>
            <a:ahLst/>
            <a:cxnLst/>
            <a:rect r="r" b="b" t="t" l="l"/>
            <a:pathLst>
              <a:path h="674743" w="637219">
                <a:moveTo>
                  <a:pt x="0" y="0"/>
                </a:moveTo>
                <a:lnTo>
                  <a:pt x="637219" y="0"/>
                </a:lnTo>
                <a:lnTo>
                  <a:pt x="637219" y="674743"/>
                </a:lnTo>
                <a:lnTo>
                  <a:pt x="0" y="67474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7" id="37"/>
          <p:cNvSpPr txBox="true"/>
          <p:nvPr/>
        </p:nvSpPr>
        <p:spPr>
          <a:xfrm rot="0">
            <a:off x="8344163" y="6077670"/>
            <a:ext cx="1496316" cy="381956"/>
          </a:xfrm>
          <a:prstGeom prst="rect">
            <a:avLst/>
          </a:prstGeom>
        </p:spPr>
        <p:txBody>
          <a:bodyPr anchor="t" rtlCol="false" tIns="0" lIns="0" bIns="0" rIns="0">
            <a:spAutoFit/>
          </a:bodyPr>
          <a:lstStyle/>
          <a:p>
            <a:pPr algn="ctr">
              <a:lnSpc>
                <a:spcPts val="2887"/>
              </a:lnSpc>
              <a:spcBef>
                <a:spcPct val="0"/>
              </a:spcBef>
            </a:pPr>
            <a:r>
              <a:rPr lang="en-US" b="true" sz="2406">
                <a:solidFill>
                  <a:srgbClr val="000000"/>
                </a:solidFill>
                <a:latin typeface="Poppins Bold"/>
                <a:ea typeface="Poppins Bold"/>
                <a:cs typeface="Poppins Bold"/>
                <a:sym typeface="Poppins Bold"/>
              </a:rPr>
              <a:t>Audience</a:t>
            </a:r>
          </a:p>
        </p:txBody>
      </p:sp>
      <p:sp>
        <p:nvSpPr>
          <p:cNvPr name="TextBox 38" id="38"/>
          <p:cNvSpPr txBox="true"/>
          <p:nvPr/>
        </p:nvSpPr>
        <p:spPr>
          <a:xfrm rot="0">
            <a:off x="937754" y="7081397"/>
            <a:ext cx="5010425" cy="323792"/>
          </a:xfrm>
          <a:prstGeom prst="rect">
            <a:avLst/>
          </a:prstGeom>
        </p:spPr>
        <p:txBody>
          <a:bodyPr anchor="t" rtlCol="false" tIns="0" lIns="0" bIns="0" rIns="0">
            <a:spAutoFit/>
          </a:bodyPr>
          <a:lstStyle/>
          <a:p>
            <a:pPr algn="ctr">
              <a:lnSpc>
                <a:spcPts val="2461"/>
              </a:lnSpc>
              <a:spcBef>
                <a:spcPct val="0"/>
              </a:spcBef>
            </a:pPr>
            <a:r>
              <a:rPr lang="en-US" sz="2050">
                <a:solidFill>
                  <a:srgbClr val="FFFFFF"/>
                </a:solidFill>
                <a:latin typeface="Poppins"/>
                <a:ea typeface="Poppins"/>
                <a:cs typeface="Poppins"/>
                <a:sym typeface="Poppins"/>
              </a:rPr>
              <a:t>Is your message spot on?</a:t>
            </a:r>
          </a:p>
        </p:txBody>
      </p:sp>
      <p:sp>
        <p:nvSpPr>
          <p:cNvPr name="TextBox 39" id="39"/>
          <p:cNvSpPr txBox="true"/>
          <p:nvPr/>
        </p:nvSpPr>
        <p:spPr>
          <a:xfrm rot="0">
            <a:off x="6637000" y="7081397"/>
            <a:ext cx="5009457" cy="323792"/>
          </a:xfrm>
          <a:prstGeom prst="rect">
            <a:avLst/>
          </a:prstGeom>
        </p:spPr>
        <p:txBody>
          <a:bodyPr anchor="t" rtlCol="false" tIns="0" lIns="0" bIns="0" rIns="0">
            <a:spAutoFit/>
          </a:bodyPr>
          <a:lstStyle/>
          <a:p>
            <a:pPr algn="ctr">
              <a:lnSpc>
                <a:spcPts val="2461"/>
              </a:lnSpc>
              <a:spcBef>
                <a:spcPct val="0"/>
              </a:spcBef>
            </a:pPr>
            <a:r>
              <a:rPr lang="en-US" b="true" sz="2050">
                <a:solidFill>
                  <a:srgbClr val="FFFFFF"/>
                </a:solidFill>
                <a:latin typeface="Poppins Medium"/>
                <a:ea typeface="Poppins Medium"/>
                <a:cs typeface="Poppins Medium"/>
                <a:sym typeface="Poppins Medium"/>
              </a:rPr>
              <a:t>Is your audience spot on?</a:t>
            </a:r>
          </a:p>
        </p:txBody>
      </p:sp>
      <p:sp>
        <p:nvSpPr>
          <p:cNvPr name="TextBox 40" id="40"/>
          <p:cNvSpPr txBox="true"/>
          <p:nvPr/>
        </p:nvSpPr>
        <p:spPr>
          <a:xfrm rot="0">
            <a:off x="14211666" y="6077670"/>
            <a:ext cx="1063575" cy="381956"/>
          </a:xfrm>
          <a:prstGeom prst="rect">
            <a:avLst/>
          </a:prstGeom>
        </p:spPr>
        <p:txBody>
          <a:bodyPr anchor="t" rtlCol="false" tIns="0" lIns="0" bIns="0" rIns="0">
            <a:spAutoFit/>
          </a:bodyPr>
          <a:lstStyle/>
          <a:p>
            <a:pPr algn="ctr">
              <a:lnSpc>
                <a:spcPts val="2887"/>
              </a:lnSpc>
              <a:spcBef>
                <a:spcPct val="0"/>
              </a:spcBef>
            </a:pPr>
            <a:r>
              <a:rPr lang="en-US" b="true" sz="2406">
                <a:solidFill>
                  <a:srgbClr val="000000"/>
                </a:solidFill>
                <a:latin typeface="Poppins Bold"/>
                <a:ea typeface="Poppins Bold"/>
                <a:cs typeface="Poppins Bold"/>
                <a:sym typeface="Poppins Bold"/>
              </a:rPr>
              <a:t>Funnel</a:t>
            </a:r>
          </a:p>
        </p:txBody>
      </p:sp>
      <p:sp>
        <p:nvSpPr>
          <p:cNvPr name="TextBox 41" id="41"/>
          <p:cNvSpPr txBox="true"/>
          <p:nvPr/>
        </p:nvSpPr>
        <p:spPr>
          <a:xfrm rot="0">
            <a:off x="12240151" y="7081397"/>
            <a:ext cx="5006604" cy="323792"/>
          </a:xfrm>
          <a:prstGeom prst="rect">
            <a:avLst/>
          </a:prstGeom>
        </p:spPr>
        <p:txBody>
          <a:bodyPr anchor="t" rtlCol="false" tIns="0" lIns="0" bIns="0" rIns="0">
            <a:spAutoFit/>
          </a:bodyPr>
          <a:lstStyle/>
          <a:p>
            <a:pPr algn="ctr">
              <a:lnSpc>
                <a:spcPts val="2461"/>
              </a:lnSpc>
              <a:spcBef>
                <a:spcPct val="0"/>
              </a:spcBef>
            </a:pPr>
            <a:r>
              <a:rPr lang="en-US" b="true" sz="2050">
                <a:solidFill>
                  <a:srgbClr val="FFFFFF"/>
                </a:solidFill>
                <a:latin typeface="Poppins Medium"/>
                <a:ea typeface="Poppins Medium"/>
                <a:cs typeface="Poppins Medium"/>
                <a:sym typeface="Poppins Medium"/>
              </a:rPr>
              <a:t>Is your funnel optimized?</a:t>
            </a:r>
          </a:p>
        </p:txBody>
      </p:sp>
      <p:sp>
        <p:nvSpPr>
          <p:cNvPr name="TextBox 42" id="42"/>
          <p:cNvSpPr txBox="true"/>
          <p:nvPr/>
        </p:nvSpPr>
        <p:spPr>
          <a:xfrm rot="0">
            <a:off x="1583225" y="6077670"/>
            <a:ext cx="3719483" cy="381956"/>
          </a:xfrm>
          <a:prstGeom prst="rect">
            <a:avLst/>
          </a:prstGeom>
        </p:spPr>
        <p:txBody>
          <a:bodyPr anchor="t" rtlCol="false" tIns="0" lIns="0" bIns="0" rIns="0">
            <a:spAutoFit/>
          </a:bodyPr>
          <a:lstStyle/>
          <a:p>
            <a:pPr algn="ctr">
              <a:lnSpc>
                <a:spcPts val="2887"/>
              </a:lnSpc>
              <a:spcBef>
                <a:spcPct val="0"/>
              </a:spcBef>
            </a:pPr>
            <a:r>
              <a:rPr lang="en-US" b="true" sz="2406">
                <a:solidFill>
                  <a:srgbClr val="000000"/>
                </a:solidFill>
                <a:latin typeface="Poppins Bold"/>
                <a:ea typeface="Poppins Bold"/>
                <a:cs typeface="Poppins Bold"/>
                <a:sym typeface="Poppins Bold"/>
              </a:rPr>
              <a:t>Message</a:t>
            </a:r>
          </a:p>
        </p:txBody>
      </p:sp>
      <p:sp>
        <p:nvSpPr>
          <p:cNvPr name="TextBox 43" id="43"/>
          <p:cNvSpPr txBox="true"/>
          <p:nvPr/>
        </p:nvSpPr>
        <p:spPr>
          <a:xfrm rot="0">
            <a:off x="1868076" y="1428750"/>
            <a:ext cx="9355720" cy="796323"/>
          </a:xfrm>
          <a:prstGeom prst="rect">
            <a:avLst/>
          </a:prstGeom>
        </p:spPr>
        <p:txBody>
          <a:bodyPr anchor="t" rtlCol="false" tIns="0" lIns="0" bIns="0" rIns="0">
            <a:spAutoFit/>
          </a:bodyPr>
          <a:lstStyle/>
          <a:p>
            <a:pPr algn="l" marL="0" indent="0" lvl="0">
              <a:lnSpc>
                <a:spcPts val="5883"/>
              </a:lnSpc>
            </a:pPr>
            <a:r>
              <a:rPr lang="en-US" b="true" sz="5253">
                <a:solidFill>
                  <a:srgbClr val="F6F6F6"/>
                </a:solidFill>
                <a:latin typeface="Poppins Semi-Bold"/>
                <a:ea typeface="Poppins Semi-Bold"/>
                <a:cs typeface="Poppins Semi-Bold"/>
                <a:sym typeface="Poppins Semi-Bold"/>
              </a:rPr>
              <a:t>Wha</a:t>
            </a:r>
            <a:r>
              <a:rPr lang="en-US" b="true" sz="5253">
                <a:solidFill>
                  <a:srgbClr val="F6F6F6"/>
                </a:solidFill>
                <a:latin typeface="Poppins Semi-Bold"/>
                <a:ea typeface="Poppins Semi-Bold"/>
                <a:cs typeface="Poppins Semi-Bold"/>
                <a:sym typeface="Poppins Semi-Bold"/>
              </a:rPr>
              <a:t>t We Need To Solve</a:t>
            </a:r>
          </a:p>
        </p:txBody>
      </p:sp>
      <p:sp>
        <p:nvSpPr>
          <p:cNvPr name="TextBox 44" id="44"/>
          <p:cNvSpPr txBox="true"/>
          <p:nvPr/>
        </p:nvSpPr>
        <p:spPr>
          <a:xfrm rot="0">
            <a:off x="1868076" y="2383791"/>
            <a:ext cx="8521570" cy="1172844"/>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GROW</a:t>
            </a:r>
            <a:r>
              <a:rPr lang="en-US" sz="2200" i="true" spc="528">
                <a:solidFill>
                  <a:srgbClr val="F6F6F6"/>
                </a:solidFill>
                <a:latin typeface="Poppins Italics"/>
                <a:ea typeface="Poppins Italics"/>
                <a:cs typeface="Poppins Italics"/>
                <a:sym typeface="Poppins Italics"/>
              </a:rPr>
              <a:t>TH REQUIRES </a:t>
            </a:r>
            <a:r>
              <a:rPr lang="en-US" sz="2200" i="true" spc="528">
                <a:solidFill>
                  <a:srgbClr val="F6F6F6"/>
                </a:solidFill>
                <a:latin typeface="Poppins Italics"/>
                <a:ea typeface="Poppins Italics"/>
                <a:cs typeface="Poppins Italics"/>
                <a:sym typeface="Poppins Italics"/>
              </a:rPr>
              <a:t>ALI</a:t>
            </a:r>
            <a:r>
              <a:rPr lang="en-US" sz="2200" i="true" spc="528">
                <a:solidFill>
                  <a:srgbClr val="F6F6F6"/>
                </a:solidFill>
                <a:latin typeface="Poppins Italics"/>
                <a:ea typeface="Poppins Italics"/>
                <a:cs typeface="Poppins Italics"/>
                <a:sym typeface="Poppins Italics"/>
              </a:rPr>
              <a:t>GNM</a:t>
            </a:r>
            <a:r>
              <a:rPr lang="en-US" sz="2200" i="true" spc="528">
                <a:solidFill>
                  <a:srgbClr val="F6F6F6"/>
                </a:solidFill>
                <a:latin typeface="Poppins Italics"/>
                <a:ea typeface="Poppins Italics"/>
                <a:cs typeface="Poppins Italics"/>
                <a:sym typeface="Poppins Italics"/>
              </a:rPr>
              <a:t>E</a:t>
            </a:r>
            <a:r>
              <a:rPr lang="en-US" sz="2200" i="true" spc="528">
                <a:solidFill>
                  <a:srgbClr val="F6F6F6"/>
                </a:solidFill>
                <a:latin typeface="Poppins Italics"/>
                <a:ea typeface="Poppins Italics"/>
                <a:cs typeface="Poppins Italics"/>
                <a:sym typeface="Poppins Italics"/>
              </a:rPr>
              <a:t>NT: </a:t>
            </a:r>
            <a:r>
              <a:rPr lang="en-US" b="true" sz="2200" i="true" spc="528">
                <a:solidFill>
                  <a:srgbClr val="F6F6F6"/>
                </a:solidFill>
                <a:latin typeface="Poppins Bold Italics"/>
                <a:ea typeface="Poppins Bold Italics"/>
                <a:cs typeface="Poppins Bold Italics"/>
                <a:sym typeface="Poppins Bold Italics"/>
              </a:rPr>
              <a:t>THE RIGHT MESSAGE, THE </a:t>
            </a:r>
            <a:r>
              <a:rPr lang="en-US" b="true" sz="2200" i="true" spc="528">
                <a:solidFill>
                  <a:srgbClr val="A0EEEB"/>
                </a:solidFill>
                <a:latin typeface="Poppins Bold Italics"/>
                <a:ea typeface="Poppins Bold Italics"/>
                <a:cs typeface="Poppins Bold Italics"/>
                <a:sym typeface="Poppins Bold Italics"/>
              </a:rPr>
              <a:t>RIGHT AUDIENCE</a:t>
            </a:r>
            <a:r>
              <a:rPr lang="en-US" b="true" sz="2200" i="true" spc="528">
                <a:solidFill>
                  <a:srgbClr val="F6F6F6"/>
                </a:solidFill>
                <a:latin typeface="Poppins Bold Italics"/>
                <a:ea typeface="Poppins Bold Italics"/>
                <a:cs typeface="Poppins Bold Italics"/>
                <a:sym typeface="Poppins Bold Italics"/>
              </a:rPr>
              <a:t>, AND AN OPTIMIZED FUNNEL.</a:t>
            </a:r>
          </a:p>
        </p:txBody>
      </p:sp>
      <p:sp>
        <p:nvSpPr>
          <p:cNvPr name="TextBox 45" id="45"/>
          <p:cNvSpPr txBox="true"/>
          <p:nvPr/>
        </p:nvSpPr>
        <p:spPr>
          <a:xfrm rot="0">
            <a:off x="1872904" y="8903970"/>
            <a:ext cx="15108623" cy="354330"/>
          </a:xfrm>
          <a:prstGeom prst="rect">
            <a:avLst/>
          </a:prstGeom>
        </p:spPr>
        <p:txBody>
          <a:bodyPr anchor="t" rtlCol="false" tIns="0" lIns="0" bIns="0" rIns="0">
            <a:spAutoFit/>
          </a:bodyPr>
          <a:lstStyle/>
          <a:p>
            <a:pPr algn="l" marL="0" indent="0" lvl="0">
              <a:lnSpc>
                <a:spcPts val="2730"/>
              </a:lnSpc>
              <a:spcBef>
                <a:spcPct val="0"/>
              </a:spcBef>
            </a:pPr>
            <a:r>
              <a:rPr lang="en-US" b="true" sz="2100" spc="35">
                <a:solidFill>
                  <a:srgbClr val="D9D9D9"/>
                </a:solidFill>
                <a:latin typeface="Poppins Bold"/>
                <a:ea typeface="Poppins Bold"/>
                <a:cs typeface="Poppins Bold"/>
                <a:sym typeface="Poppins Bold"/>
              </a:rPr>
              <a:t>We sta</a:t>
            </a:r>
            <a:r>
              <a:rPr lang="en-US" b="true" sz="2100" spc="35">
                <a:solidFill>
                  <a:srgbClr val="D9D9D9"/>
                </a:solidFill>
                <a:latin typeface="Poppins Bold"/>
                <a:ea typeface="Poppins Bold"/>
                <a:cs typeface="Poppins Bold"/>
                <a:sym typeface="Poppins Bold"/>
              </a:rPr>
              <a:t>r</a:t>
            </a:r>
            <a:r>
              <a:rPr lang="en-US" b="true" sz="2100" spc="35">
                <a:solidFill>
                  <a:srgbClr val="D9D9D9"/>
                </a:solidFill>
                <a:latin typeface="Poppins Bold"/>
                <a:ea typeface="Poppins Bold"/>
                <a:cs typeface="Poppins Bold"/>
                <a:sym typeface="Poppins Bold"/>
              </a:rPr>
              <a:t>t w</a:t>
            </a:r>
            <a:r>
              <a:rPr lang="en-US" b="true" sz="2100" spc="35">
                <a:solidFill>
                  <a:srgbClr val="D9D9D9"/>
                </a:solidFill>
                <a:latin typeface="Poppins Bold"/>
                <a:ea typeface="Poppins Bold"/>
                <a:cs typeface="Poppins Bold"/>
                <a:sym typeface="Poppins Bold"/>
              </a:rPr>
              <a:t>i</a:t>
            </a:r>
            <a:r>
              <a:rPr lang="en-US" b="true" sz="2100" spc="35">
                <a:solidFill>
                  <a:srgbClr val="D9D9D9"/>
                </a:solidFill>
                <a:latin typeface="Poppins Bold"/>
                <a:ea typeface="Poppins Bold"/>
                <a:cs typeface="Poppins Bold"/>
                <a:sym typeface="Poppins Bold"/>
              </a:rPr>
              <a:t>th </a:t>
            </a:r>
            <a:r>
              <a:rPr lang="en-US" b="true" sz="2100" spc="35">
                <a:solidFill>
                  <a:srgbClr val="D9D9D9"/>
                </a:solidFill>
                <a:latin typeface="Poppins Bold"/>
                <a:ea typeface="Poppins Bold"/>
                <a:cs typeface="Poppins Bold"/>
                <a:sym typeface="Poppins Bold"/>
              </a:rPr>
              <a:t>a</a:t>
            </a:r>
            <a:r>
              <a:rPr lang="en-US" b="true" sz="2100" spc="35">
                <a:solidFill>
                  <a:srgbClr val="D9D9D9"/>
                </a:solidFill>
                <a:latin typeface="Poppins Bold"/>
                <a:ea typeface="Poppins Bold"/>
                <a:cs typeface="Poppins Bold"/>
                <a:sym typeface="Poppins Bold"/>
              </a:rPr>
              <a:t> goal i</a:t>
            </a:r>
            <a:r>
              <a:rPr lang="en-US" b="true" sz="2100" spc="35">
                <a:solidFill>
                  <a:srgbClr val="D9D9D9"/>
                </a:solidFill>
                <a:latin typeface="Poppins Bold"/>
                <a:ea typeface="Poppins Bold"/>
                <a:cs typeface="Poppins Bold"/>
                <a:sym typeface="Poppins Bold"/>
              </a:rPr>
              <a:t>n</a:t>
            </a:r>
            <a:r>
              <a:rPr lang="en-US" b="true" sz="2100" spc="35">
                <a:solidFill>
                  <a:srgbClr val="D9D9D9"/>
                </a:solidFill>
                <a:latin typeface="Poppins Bold"/>
                <a:ea typeface="Poppins Bold"/>
                <a:cs typeface="Poppins Bold"/>
                <a:sym typeface="Poppins Bold"/>
              </a:rPr>
              <a:t>stead of charing for a flat fee service like SEO / FB ads.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5793322"/>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TextBox 6" id="6"/>
          <p:cNvSpPr txBox="true"/>
          <p:nvPr/>
        </p:nvSpPr>
        <p:spPr>
          <a:xfrm rot="0">
            <a:off x="1868076" y="2383791"/>
            <a:ext cx="8521570" cy="391794"/>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THE </a:t>
            </a:r>
            <a:r>
              <a:rPr lang="en-US" b="true" sz="2200" i="true" spc="528">
                <a:solidFill>
                  <a:srgbClr val="A0EEEB"/>
                </a:solidFill>
                <a:latin typeface="Poppins Bold Italics"/>
                <a:ea typeface="Poppins Bold Italics"/>
                <a:cs typeface="Poppins Bold Italics"/>
                <a:sym typeface="Poppins Bold Italics"/>
              </a:rPr>
              <a:t>FRACTIONAL CMO UMBRELLA</a:t>
            </a:r>
          </a:p>
        </p:txBody>
      </p:sp>
      <p:sp>
        <p:nvSpPr>
          <p:cNvPr name="Freeform 7" id="7"/>
          <p:cNvSpPr/>
          <p:nvPr/>
        </p:nvSpPr>
        <p:spPr>
          <a:xfrm flipH="false" flipV="false" rot="0">
            <a:off x="-1552973" y="2239419"/>
            <a:ext cx="21393946" cy="10081897"/>
          </a:xfrm>
          <a:custGeom>
            <a:avLst/>
            <a:gdLst/>
            <a:ahLst/>
            <a:cxnLst/>
            <a:rect r="r" b="b" t="t" l="l"/>
            <a:pathLst>
              <a:path h="10081897" w="21393946">
                <a:moveTo>
                  <a:pt x="0" y="0"/>
                </a:moveTo>
                <a:lnTo>
                  <a:pt x="21393946" y="0"/>
                </a:lnTo>
                <a:lnTo>
                  <a:pt x="21393946" y="10081897"/>
                </a:lnTo>
                <a:lnTo>
                  <a:pt x="0" y="100818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868076" y="1343025"/>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Fractional CMO Services</a:t>
            </a:r>
          </a:p>
        </p:txBody>
      </p:sp>
      <p:sp>
        <p:nvSpPr>
          <p:cNvPr name="TextBox 9" id="9"/>
          <p:cNvSpPr txBox="true"/>
          <p:nvPr/>
        </p:nvSpPr>
        <p:spPr>
          <a:xfrm rot="0">
            <a:off x="1629025" y="5080589"/>
            <a:ext cx="5115320" cy="3593145"/>
          </a:xfrm>
          <a:prstGeom prst="rect">
            <a:avLst/>
          </a:prstGeom>
        </p:spPr>
        <p:txBody>
          <a:bodyPr anchor="t" rtlCol="false" tIns="0" lIns="0" bIns="0" rIns="0">
            <a:spAutoFit/>
          </a:bodyPr>
          <a:lstStyle/>
          <a:p>
            <a:pPr algn="ctr">
              <a:lnSpc>
                <a:spcPts val="4054"/>
              </a:lnSpc>
            </a:pPr>
            <a:r>
              <a:rPr lang="en-US" sz="2518" b="true">
                <a:solidFill>
                  <a:srgbClr val="FFFFFF"/>
                </a:solidFill>
                <a:latin typeface="Poppins Medium"/>
                <a:ea typeface="Poppins Medium"/>
                <a:cs typeface="Poppins Medium"/>
                <a:sym typeface="Poppins Medium"/>
              </a:rPr>
              <a:t>Intent Data</a:t>
            </a:r>
          </a:p>
          <a:p>
            <a:pPr algn="ctr">
              <a:lnSpc>
                <a:spcPts val="4054"/>
              </a:lnSpc>
            </a:pPr>
            <a:r>
              <a:rPr lang="en-US" sz="2518" b="true">
                <a:solidFill>
                  <a:srgbClr val="FFFFFF"/>
                </a:solidFill>
                <a:latin typeface="Poppins Medium"/>
                <a:ea typeface="Poppins Medium"/>
                <a:cs typeface="Poppins Medium"/>
                <a:sym typeface="Poppins Medium"/>
              </a:rPr>
              <a:t>Lookalikes</a:t>
            </a:r>
          </a:p>
          <a:p>
            <a:pPr algn="ctr">
              <a:lnSpc>
                <a:spcPts val="4054"/>
              </a:lnSpc>
            </a:pPr>
            <a:r>
              <a:rPr lang="en-US" sz="2518" b="true">
                <a:solidFill>
                  <a:srgbClr val="FFFFFF"/>
                </a:solidFill>
                <a:latin typeface="Poppins Medium"/>
                <a:ea typeface="Poppins Medium"/>
                <a:cs typeface="Poppins Medium"/>
                <a:sym typeface="Poppins Medium"/>
              </a:rPr>
              <a:t>Website Traffic</a:t>
            </a:r>
          </a:p>
          <a:p>
            <a:pPr algn="ctr">
              <a:lnSpc>
                <a:spcPts val="4054"/>
              </a:lnSpc>
            </a:pPr>
            <a:r>
              <a:rPr lang="en-US" sz="2518" b="true">
                <a:solidFill>
                  <a:srgbClr val="FFFFFF"/>
                </a:solidFill>
                <a:latin typeface="Poppins Medium"/>
                <a:ea typeface="Poppins Medium"/>
                <a:cs typeface="Poppins Medium"/>
                <a:sym typeface="Poppins Medium"/>
              </a:rPr>
              <a:t>SEO/ AISO / GMB</a:t>
            </a:r>
          </a:p>
          <a:p>
            <a:pPr algn="ctr">
              <a:lnSpc>
                <a:spcPts val="4054"/>
              </a:lnSpc>
            </a:pPr>
            <a:r>
              <a:rPr lang="en-US" sz="2518" b="true">
                <a:solidFill>
                  <a:srgbClr val="FFFFFF"/>
                </a:solidFill>
                <a:latin typeface="Poppins Medium"/>
                <a:ea typeface="Poppins Medium"/>
                <a:cs typeface="Poppins Medium"/>
                <a:sym typeface="Poppins Medium"/>
              </a:rPr>
              <a:t>Facebook Ads</a:t>
            </a:r>
          </a:p>
          <a:p>
            <a:pPr algn="ctr">
              <a:lnSpc>
                <a:spcPts val="4054"/>
              </a:lnSpc>
            </a:pPr>
            <a:r>
              <a:rPr lang="en-US" sz="2518" b="true">
                <a:solidFill>
                  <a:srgbClr val="FFFFFF"/>
                </a:solidFill>
                <a:latin typeface="Poppins Medium"/>
                <a:ea typeface="Poppins Medium"/>
                <a:cs typeface="Poppins Medium"/>
                <a:sym typeface="Poppins Medium"/>
              </a:rPr>
              <a:t>Google Ads</a:t>
            </a:r>
          </a:p>
          <a:p>
            <a:pPr algn="ctr">
              <a:lnSpc>
                <a:spcPts val="4054"/>
              </a:lnSpc>
            </a:pPr>
            <a:r>
              <a:rPr lang="en-US" sz="2518" b="true">
                <a:solidFill>
                  <a:srgbClr val="FFFFFF"/>
                </a:solidFill>
                <a:latin typeface="Poppins Medium"/>
                <a:ea typeface="Poppins Medium"/>
                <a:cs typeface="Poppins Medium"/>
                <a:sym typeface="Poppins Medium"/>
              </a:rPr>
              <a:t>Google LSA</a:t>
            </a:r>
          </a:p>
        </p:txBody>
      </p:sp>
      <p:sp>
        <p:nvSpPr>
          <p:cNvPr name="TextBox 10" id="10"/>
          <p:cNvSpPr txBox="true"/>
          <p:nvPr/>
        </p:nvSpPr>
        <p:spPr>
          <a:xfrm rot="0">
            <a:off x="6668556" y="5080589"/>
            <a:ext cx="5115320" cy="3593145"/>
          </a:xfrm>
          <a:prstGeom prst="rect">
            <a:avLst/>
          </a:prstGeom>
        </p:spPr>
        <p:txBody>
          <a:bodyPr anchor="t" rtlCol="false" tIns="0" lIns="0" bIns="0" rIns="0">
            <a:spAutoFit/>
          </a:bodyPr>
          <a:lstStyle/>
          <a:p>
            <a:pPr algn="ctr">
              <a:lnSpc>
                <a:spcPts val="4054"/>
              </a:lnSpc>
            </a:pPr>
            <a:r>
              <a:rPr lang="en-US" sz="2518" b="true">
                <a:solidFill>
                  <a:srgbClr val="FFFFFF"/>
                </a:solidFill>
                <a:latin typeface="Poppins Medium"/>
                <a:ea typeface="Poppins Medium"/>
                <a:cs typeface="Poppins Medium"/>
                <a:sym typeface="Poppins Medium"/>
              </a:rPr>
              <a:t>Organic Takedown</a:t>
            </a:r>
          </a:p>
          <a:p>
            <a:pPr algn="ctr">
              <a:lnSpc>
                <a:spcPts val="4054"/>
              </a:lnSpc>
            </a:pPr>
            <a:r>
              <a:rPr lang="en-US" sz="2518" b="true">
                <a:solidFill>
                  <a:srgbClr val="FFFFFF"/>
                </a:solidFill>
                <a:latin typeface="Poppins Medium"/>
                <a:ea typeface="Poppins Medium"/>
                <a:cs typeface="Poppins Medium"/>
                <a:sym typeface="Poppins Medium"/>
              </a:rPr>
              <a:t>Referral &amp; </a:t>
            </a:r>
          </a:p>
          <a:p>
            <a:pPr algn="ctr">
              <a:lnSpc>
                <a:spcPts val="4054"/>
              </a:lnSpc>
            </a:pPr>
            <a:r>
              <a:rPr lang="en-US" sz="2518" b="true">
                <a:solidFill>
                  <a:srgbClr val="FFFFFF"/>
                </a:solidFill>
                <a:latin typeface="Poppins Medium"/>
                <a:ea typeface="Poppins Medium"/>
                <a:cs typeface="Poppins Medium"/>
                <a:sym typeface="Poppins Medium"/>
              </a:rPr>
              <a:t>Customer ads</a:t>
            </a:r>
          </a:p>
          <a:p>
            <a:pPr algn="ctr">
              <a:lnSpc>
                <a:spcPts val="4054"/>
              </a:lnSpc>
            </a:pPr>
            <a:r>
              <a:rPr lang="en-US" sz="2518" b="true">
                <a:solidFill>
                  <a:srgbClr val="FFFFFF"/>
                </a:solidFill>
                <a:latin typeface="Poppins Medium"/>
                <a:ea typeface="Poppins Medium"/>
                <a:cs typeface="Poppins Medium"/>
                <a:sym typeface="Poppins Medium"/>
              </a:rPr>
              <a:t>Social Media</a:t>
            </a:r>
          </a:p>
          <a:p>
            <a:pPr algn="ctr">
              <a:lnSpc>
                <a:spcPts val="4054"/>
              </a:lnSpc>
            </a:pPr>
            <a:r>
              <a:rPr lang="en-US" sz="2518" b="true">
                <a:solidFill>
                  <a:srgbClr val="FFFFFF"/>
                </a:solidFill>
                <a:latin typeface="Poppins Medium"/>
                <a:ea typeface="Poppins Medium"/>
                <a:cs typeface="Poppins Medium"/>
                <a:sym typeface="Poppins Medium"/>
              </a:rPr>
              <a:t>Branding</a:t>
            </a:r>
          </a:p>
          <a:p>
            <a:pPr algn="ctr">
              <a:lnSpc>
                <a:spcPts val="4054"/>
              </a:lnSpc>
            </a:pPr>
            <a:r>
              <a:rPr lang="en-US" sz="2518" b="true">
                <a:solidFill>
                  <a:srgbClr val="FFFFFF"/>
                </a:solidFill>
                <a:latin typeface="Poppins Medium"/>
                <a:ea typeface="Poppins Medium"/>
                <a:cs typeface="Poppins Medium"/>
                <a:sym typeface="Poppins Medium"/>
              </a:rPr>
              <a:t>Amazon PPC</a:t>
            </a:r>
          </a:p>
          <a:p>
            <a:pPr algn="ctr">
              <a:lnSpc>
                <a:spcPts val="4054"/>
              </a:lnSpc>
            </a:pPr>
            <a:r>
              <a:rPr lang="en-US" sz="2518" b="true">
                <a:solidFill>
                  <a:srgbClr val="FFFFFF"/>
                </a:solidFill>
                <a:latin typeface="Poppins Medium"/>
                <a:ea typeface="Poppins Medium"/>
                <a:cs typeface="Poppins Medium"/>
                <a:sym typeface="Poppins Medium"/>
              </a:rPr>
              <a:t>Ecommerce</a:t>
            </a:r>
          </a:p>
        </p:txBody>
      </p:sp>
      <p:sp>
        <p:nvSpPr>
          <p:cNvPr name="TextBox 11" id="11"/>
          <p:cNvSpPr txBox="true"/>
          <p:nvPr/>
        </p:nvSpPr>
        <p:spPr>
          <a:xfrm rot="0">
            <a:off x="11628867" y="5080589"/>
            <a:ext cx="5115320" cy="2564445"/>
          </a:xfrm>
          <a:prstGeom prst="rect">
            <a:avLst/>
          </a:prstGeom>
        </p:spPr>
        <p:txBody>
          <a:bodyPr anchor="t" rtlCol="false" tIns="0" lIns="0" bIns="0" rIns="0">
            <a:spAutoFit/>
          </a:bodyPr>
          <a:lstStyle/>
          <a:p>
            <a:pPr algn="ctr">
              <a:lnSpc>
                <a:spcPts val="4054"/>
              </a:lnSpc>
            </a:pPr>
            <a:r>
              <a:rPr lang="en-US" sz="2518" b="true">
                <a:solidFill>
                  <a:srgbClr val="FFFFFF"/>
                </a:solidFill>
                <a:latin typeface="Poppins Medium"/>
                <a:ea typeface="Poppins Medium"/>
                <a:cs typeface="Poppins Medium"/>
                <a:sym typeface="Poppins Medium"/>
              </a:rPr>
              <a:t>B2B Email</a:t>
            </a:r>
          </a:p>
          <a:p>
            <a:pPr algn="ctr">
              <a:lnSpc>
                <a:spcPts val="4054"/>
              </a:lnSpc>
            </a:pPr>
            <a:r>
              <a:rPr lang="en-US" sz="2518" b="true">
                <a:solidFill>
                  <a:srgbClr val="FFFFFF"/>
                </a:solidFill>
                <a:latin typeface="Poppins Medium"/>
                <a:ea typeface="Poppins Medium"/>
                <a:cs typeface="Poppins Medium"/>
                <a:sym typeface="Poppins Medium"/>
              </a:rPr>
              <a:t>Linkedin Automation</a:t>
            </a:r>
          </a:p>
          <a:p>
            <a:pPr algn="ctr">
              <a:lnSpc>
                <a:spcPts val="4054"/>
              </a:lnSpc>
            </a:pPr>
            <a:r>
              <a:rPr lang="en-US" sz="2518" b="true">
                <a:solidFill>
                  <a:srgbClr val="FFFFFF"/>
                </a:solidFill>
                <a:latin typeface="Poppins Medium"/>
                <a:ea typeface="Poppins Medium"/>
                <a:cs typeface="Poppins Medium"/>
                <a:sym typeface="Poppins Medium"/>
              </a:rPr>
              <a:t>Website &amp;</a:t>
            </a:r>
          </a:p>
          <a:p>
            <a:pPr algn="ctr">
              <a:lnSpc>
                <a:spcPts val="4054"/>
              </a:lnSpc>
            </a:pPr>
            <a:r>
              <a:rPr lang="en-US" sz="2518" b="true">
                <a:solidFill>
                  <a:srgbClr val="FFFFFF"/>
                </a:solidFill>
                <a:latin typeface="Poppins Medium"/>
                <a:ea typeface="Poppins Medium"/>
                <a:cs typeface="Poppins Medium"/>
                <a:sym typeface="Poppins Medium"/>
              </a:rPr>
              <a:t>Automations</a:t>
            </a:r>
          </a:p>
          <a:p>
            <a:pPr algn="ctr">
              <a:lnSpc>
                <a:spcPts val="4054"/>
              </a:lnSpc>
            </a:pPr>
          </a:p>
        </p:txBody>
      </p:sp>
      <p:grpSp>
        <p:nvGrpSpPr>
          <p:cNvPr name="Group 12" id="12"/>
          <p:cNvGrpSpPr/>
          <p:nvPr/>
        </p:nvGrpSpPr>
        <p:grpSpPr>
          <a:xfrm rot="0">
            <a:off x="7385399" y="3654528"/>
            <a:ext cx="3681633" cy="1004688"/>
            <a:chOff x="0" y="0"/>
            <a:chExt cx="1229020" cy="335390"/>
          </a:xfrm>
        </p:grpSpPr>
        <p:sp>
          <p:nvSpPr>
            <p:cNvPr name="Freeform 13" id="13"/>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14" id="14"/>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TextBox 15" id="15"/>
          <p:cNvSpPr txBox="true"/>
          <p:nvPr/>
        </p:nvSpPr>
        <p:spPr>
          <a:xfrm rot="0">
            <a:off x="7366474" y="3890172"/>
            <a:ext cx="3719483" cy="495300"/>
          </a:xfrm>
          <a:prstGeom prst="rect">
            <a:avLst/>
          </a:prstGeom>
        </p:spPr>
        <p:txBody>
          <a:bodyPr anchor="t" rtlCol="false" tIns="0" lIns="0" bIns="0" rIns="0">
            <a:spAutoFit/>
          </a:bodyPr>
          <a:lstStyle/>
          <a:p>
            <a:pPr algn="ctr">
              <a:lnSpc>
                <a:spcPts val="3607"/>
              </a:lnSpc>
              <a:spcBef>
                <a:spcPct val="0"/>
              </a:spcBef>
            </a:pPr>
            <a:r>
              <a:rPr lang="en-US" b="true" sz="3006">
                <a:solidFill>
                  <a:srgbClr val="000000"/>
                </a:solidFill>
                <a:latin typeface="Poppins Bold"/>
                <a:ea typeface="Poppins Bold"/>
                <a:cs typeface="Poppins Bold"/>
                <a:sym typeface="Poppins Bold"/>
              </a:rPr>
              <a:t>Strategy</a:t>
            </a:r>
          </a:p>
        </p:txBody>
      </p:sp>
      <p:grpSp>
        <p:nvGrpSpPr>
          <p:cNvPr name="Group 16" id="16"/>
          <p:cNvGrpSpPr/>
          <p:nvPr/>
        </p:nvGrpSpPr>
        <p:grpSpPr>
          <a:xfrm rot="0">
            <a:off x="12345710" y="3654528"/>
            <a:ext cx="3681633" cy="1004688"/>
            <a:chOff x="0" y="0"/>
            <a:chExt cx="1229020" cy="335390"/>
          </a:xfrm>
        </p:grpSpPr>
        <p:sp>
          <p:nvSpPr>
            <p:cNvPr name="Freeform 17" id="17"/>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18" id="18"/>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TextBox 19" id="19"/>
          <p:cNvSpPr txBox="true"/>
          <p:nvPr/>
        </p:nvSpPr>
        <p:spPr>
          <a:xfrm rot="0">
            <a:off x="12326786" y="3890172"/>
            <a:ext cx="3719483" cy="495300"/>
          </a:xfrm>
          <a:prstGeom prst="rect">
            <a:avLst/>
          </a:prstGeom>
        </p:spPr>
        <p:txBody>
          <a:bodyPr anchor="t" rtlCol="false" tIns="0" lIns="0" bIns="0" rIns="0">
            <a:spAutoFit/>
          </a:bodyPr>
          <a:lstStyle/>
          <a:p>
            <a:pPr algn="ctr">
              <a:lnSpc>
                <a:spcPts val="3607"/>
              </a:lnSpc>
              <a:spcBef>
                <a:spcPct val="0"/>
              </a:spcBef>
            </a:pPr>
            <a:r>
              <a:rPr lang="en-US" b="true" sz="3006">
                <a:solidFill>
                  <a:srgbClr val="000000"/>
                </a:solidFill>
                <a:latin typeface="Poppins Bold"/>
                <a:ea typeface="Poppins Bold"/>
                <a:cs typeface="Poppins Bold"/>
                <a:sym typeface="Poppins Bold"/>
              </a:rPr>
              <a:t>Systems</a:t>
            </a:r>
          </a:p>
        </p:txBody>
      </p:sp>
      <p:sp>
        <p:nvSpPr>
          <p:cNvPr name="Freeform 20" id="20"/>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5">
              <a:alphaModFix amt="21999"/>
            </a:blip>
            <a:stretch>
              <a:fillRect l="0" t="0" r="0" b="0"/>
            </a:stretch>
          </a:blipFill>
        </p:spPr>
      </p:sp>
      <p:sp>
        <p:nvSpPr>
          <p:cNvPr name="Freeform 21" id="21"/>
          <p:cNvSpPr/>
          <p:nvPr/>
        </p:nvSpPr>
        <p:spPr>
          <a:xfrm flipH="true" flipV="false" rot="0">
            <a:off x="9403285" y="4235943"/>
            <a:ext cx="1972721" cy="692246"/>
          </a:xfrm>
          <a:custGeom>
            <a:avLst/>
            <a:gdLst/>
            <a:ahLst/>
            <a:cxnLst/>
            <a:rect r="r" b="b" t="t" l="l"/>
            <a:pathLst>
              <a:path h="692246" w="1972721">
                <a:moveTo>
                  <a:pt x="1972721" y="0"/>
                </a:moveTo>
                <a:lnTo>
                  <a:pt x="0" y="0"/>
                </a:lnTo>
                <a:lnTo>
                  <a:pt x="0" y="692246"/>
                </a:lnTo>
                <a:lnTo>
                  <a:pt x="1972721" y="692246"/>
                </a:lnTo>
                <a:lnTo>
                  <a:pt x="1972721"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true" flipV="true" rot="0">
            <a:off x="14429232" y="3308405"/>
            <a:ext cx="1972721" cy="692246"/>
          </a:xfrm>
          <a:custGeom>
            <a:avLst/>
            <a:gdLst/>
            <a:ahLst/>
            <a:cxnLst/>
            <a:rect r="r" b="b" t="t" l="l"/>
            <a:pathLst>
              <a:path h="692246" w="1972721">
                <a:moveTo>
                  <a:pt x="1972721" y="692246"/>
                </a:moveTo>
                <a:lnTo>
                  <a:pt x="0" y="692246"/>
                </a:lnTo>
                <a:lnTo>
                  <a:pt x="0" y="0"/>
                </a:lnTo>
                <a:lnTo>
                  <a:pt x="1972721" y="0"/>
                </a:lnTo>
                <a:lnTo>
                  <a:pt x="1972721" y="692246"/>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true" flipV="true" rot="0">
            <a:off x="2049362" y="3397942"/>
            <a:ext cx="1972721" cy="692246"/>
          </a:xfrm>
          <a:custGeom>
            <a:avLst/>
            <a:gdLst/>
            <a:ahLst/>
            <a:cxnLst/>
            <a:rect r="r" b="b" t="t" l="l"/>
            <a:pathLst>
              <a:path h="692246" w="1972721">
                <a:moveTo>
                  <a:pt x="1972721" y="692246"/>
                </a:moveTo>
                <a:lnTo>
                  <a:pt x="0" y="692246"/>
                </a:lnTo>
                <a:lnTo>
                  <a:pt x="0" y="0"/>
                </a:lnTo>
                <a:lnTo>
                  <a:pt x="1972721" y="0"/>
                </a:lnTo>
                <a:lnTo>
                  <a:pt x="1972721" y="692246"/>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4" id="24"/>
          <p:cNvGrpSpPr/>
          <p:nvPr/>
        </p:nvGrpSpPr>
        <p:grpSpPr>
          <a:xfrm rot="0">
            <a:off x="2345869" y="3654528"/>
            <a:ext cx="3681633" cy="1004688"/>
            <a:chOff x="0" y="0"/>
            <a:chExt cx="1229020" cy="335390"/>
          </a:xfrm>
        </p:grpSpPr>
        <p:sp>
          <p:nvSpPr>
            <p:cNvPr name="Freeform 25" id="25"/>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26" id="26"/>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TextBox 27" id="27"/>
          <p:cNvSpPr txBox="true"/>
          <p:nvPr/>
        </p:nvSpPr>
        <p:spPr>
          <a:xfrm rot="0">
            <a:off x="2326944" y="3890172"/>
            <a:ext cx="3719483" cy="495300"/>
          </a:xfrm>
          <a:prstGeom prst="rect">
            <a:avLst/>
          </a:prstGeom>
        </p:spPr>
        <p:txBody>
          <a:bodyPr anchor="t" rtlCol="false" tIns="0" lIns="0" bIns="0" rIns="0">
            <a:spAutoFit/>
          </a:bodyPr>
          <a:lstStyle/>
          <a:p>
            <a:pPr algn="ctr">
              <a:lnSpc>
                <a:spcPts val="3607"/>
              </a:lnSpc>
              <a:spcBef>
                <a:spcPct val="0"/>
              </a:spcBef>
            </a:pPr>
            <a:r>
              <a:rPr lang="en-US" b="true" sz="3006">
                <a:solidFill>
                  <a:srgbClr val="000000"/>
                </a:solidFill>
                <a:latin typeface="Poppins Bold"/>
                <a:ea typeface="Poppins Bold"/>
                <a:cs typeface="Poppins Bold"/>
                <a:sym typeface="Poppins Bold"/>
              </a:rPr>
              <a:t>Data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86893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5961540"/>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292222" y="3414881"/>
            <a:ext cx="7244088" cy="3413777"/>
          </a:xfrm>
          <a:custGeom>
            <a:avLst/>
            <a:gdLst/>
            <a:ahLst/>
            <a:cxnLst/>
            <a:rect r="r" b="b" t="t" l="l"/>
            <a:pathLst>
              <a:path h="3413777" w="7244088">
                <a:moveTo>
                  <a:pt x="0" y="0"/>
                </a:moveTo>
                <a:lnTo>
                  <a:pt x="7244088" y="0"/>
                </a:lnTo>
                <a:lnTo>
                  <a:pt x="7244088" y="3413776"/>
                </a:lnTo>
                <a:lnTo>
                  <a:pt x="0" y="34137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true" rot="0">
            <a:off x="11382850" y="1428750"/>
            <a:ext cx="1191942" cy="418263"/>
          </a:xfrm>
          <a:custGeom>
            <a:avLst/>
            <a:gdLst/>
            <a:ahLst/>
            <a:cxnLst/>
            <a:rect r="r" b="b" t="t" l="l"/>
            <a:pathLst>
              <a:path h="418263" w="1191942">
                <a:moveTo>
                  <a:pt x="0" y="418263"/>
                </a:moveTo>
                <a:lnTo>
                  <a:pt x="1191942" y="418263"/>
                </a:lnTo>
                <a:lnTo>
                  <a:pt x="1191942" y="0"/>
                </a:lnTo>
                <a:lnTo>
                  <a:pt x="0" y="0"/>
                </a:lnTo>
                <a:lnTo>
                  <a:pt x="0" y="418263"/>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2407678" y="1490729"/>
            <a:ext cx="4573849" cy="1259064"/>
            <a:chOff x="0" y="0"/>
            <a:chExt cx="2527032" cy="695627"/>
          </a:xfrm>
        </p:grpSpPr>
        <p:sp>
          <p:nvSpPr>
            <p:cNvPr name="Freeform 9" id="9"/>
            <p:cNvSpPr/>
            <p:nvPr/>
          </p:nvSpPr>
          <p:spPr>
            <a:xfrm flipH="false" flipV="false" rot="0">
              <a:off x="0" y="0"/>
              <a:ext cx="2527032" cy="695627"/>
            </a:xfrm>
            <a:custGeom>
              <a:avLst/>
              <a:gdLst/>
              <a:ahLst/>
              <a:cxnLst/>
              <a:rect r="r" b="b" t="t" l="l"/>
              <a:pathLst>
                <a:path h="695627" w="2527032">
                  <a:moveTo>
                    <a:pt x="38931" y="0"/>
                  </a:moveTo>
                  <a:lnTo>
                    <a:pt x="2488101" y="0"/>
                  </a:lnTo>
                  <a:cubicBezTo>
                    <a:pt x="2498426" y="0"/>
                    <a:pt x="2508328" y="4102"/>
                    <a:pt x="2515629" y="11403"/>
                  </a:cubicBezTo>
                  <a:cubicBezTo>
                    <a:pt x="2522930" y="18704"/>
                    <a:pt x="2527032" y="28606"/>
                    <a:pt x="2527032" y="38931"/>
                  </a:cubicBezTo>
                  <a:lnTo>
                    <a:pt x="2527032" y="656696"/>
                  </a:lnTo>
                  <a:cubicBezTo>
                    <a:pt x="2527032" y="678197"/>
                    <a:pt x="2509602" y="695627"/>
                    <a:pt x="2488101" y="695627"/>
                  </a:cubicBezTo>
                  <a:lnTo>
                    <a:pt x="38931" y="695627"/>
                  </a:lnTo>
                  <a:cubicBezTo>
                    <a:pt x="17430" y="695627"/>
                    <a:pt x="0" y="678197"/>
                    <a:pt x="0" y="656696"/>
                  </a:cubicBezTo>
                  <a:lnTo>
                    <a:pt x="0" y="38931"/>
                  </a:lnTo>
                  <a:cubicBezTo>
                    <a:pt x="0" y="17430"/>
                    <a:pt x="17430" y="0"/>
                    <a:pt x="38931" y="0"/>
                  </a:cubicBezTo>
                  <a:close/>
                </a:path>
              </a:pathLst>
            </a:custGeom>
            <a:solidFill>
              <a:srgbClr val="A0EEEB">
                <a:alpha val="40784"/>
              </a:srgbClr>
            </a:solidFill>
            <a:ln w="85725" cap="rnd">
              <a:solidFill>
                <a:srgbClr val="A0EEEB">
                  <a:alpha val="40784"/>
                </a:srgbClr>
              </a:solidFill>
              <a:prstDash val="solid"/>
              <a:round/>
            </a:ln>
          </p:spPr>
        </p:sp>
        <p:sp>
          <p:nvSpPr>
            <p:cNvPr name="TextBox 10" id="10"/>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11" id="11"/>
          <p:cNvGrpSpPr/>
          <p:nvPr/>
        </p:nvGrpSpPr>
        <p:grpSpPr>
          <a:xfrm rot="0">
            <a:off x="11521997" y="1601518"/>
            <a:ext cx="1065048" cy="1065048"/>
            <a:chOff x="0" y="0"/>
            <a:chExt cx="588434" cy="588434"/>
          </a:xfrm>
        </p:grpSpPr>
        <p:sp>
          <p:nvSpPr>
            <p:cNvPr name="Freeform 12" id="12"/>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3" id="13"/>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14" id="14"/>
          <p:cNvSpPr/>
          <p:nvPr/>
        </p:nvSpPr>
        <p:spPr>
          <a:xfrm flipH="false" flipV="false" rot="0">
            <a:off x="8976642" y="1028700"/>
            <a:ext cx="9463759" cy="9451929"/>
          </a:xfrm>
          <a:custGeom>
            <a:avLst/>
            <a:gdLst/>
            <a:ahLst/>
            <a:cxnLst/>
            <a:rect r="r" b="b" t="t" l="l"/>
            <a:pathLst>
              <a:path h="9451929" w="9463759">
                <a:moveTo>
                  <a:pt x="0" y="0"/>
                </a:moveTo>
                <a:lnTo>
                  <a:pt x="9463759" y="0"/>
                </a:lnTo>
                <a:lnTo>
                  <a:pt x="9463759" y="9451929"/>
                </a:lnTo>
                <a:lnTo>
                  <a:pt x="0" y="9451929"/>
                </a:lnTo>
                <a:lnTo>
                  <a:pt x="0" y="0"/>
                </a:lnTo>
                <a:close/>
              </a:path>
            </a:pathLst>
          </a:custGeom>
          <a:blipFill>
            <a:blip r:embed="rId7">
              <a:alphaModFix amt="51000"/>
            </a:blip>
            <a:stretch>
              <a:fillRect l="0" t="0" r="0" b="0"/>
            </a:stretch>
          </a:blipFill>
        </p:spPr>
      </p:sp>
      <p:sp>
        <p:nvSpPr>
          <p:cNvPr name="Freeform 15" id="15"/>
          <p:cNvSpPr/>
          <p:nvPr/>
        </p:nvSpPr>
        <p:spPr>
          <a:xfrm flipH="false" flipV="false" rot="215446">
            <a:off x="10676953" y="5818688"/>
            <a:ext cx="7081543" cy="3337177"/>
          </a:xfrm>
          <a:custGeom>
            <a:avLst/>
            <a:gdLst/>
            <a:ahLst/>
            <a:cxnLst/>
            <a:rect r="r" b="b" t="t" l="l"/>
            <a:pathLst>
              <a:path h="3337177" w="7081543">
                <a:moveTo>
                  <a:pt x="0" y="0"/>
                </a:moveTo>
                <a:lnTo>
                  <a:pt x="7081543" y="0"/>
                </a:lnTo>
                <a:lnTo>
                  <a:pt x="7081543" y="3337178"/>
                </a:lnTo>
                <a:lnTo>
                  <a:pt x="0" y="33371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pic>
        <p:nvPicPr>
          <p:cNvPr name="Picture 16" id="16"/>
          <p:cNvPicPr>
            <a:picLocks noChangeAspect="true"/>
          </p:cNvPicPr>
          <p:nvPr/>
        </p:nvPicPr>
        <p:blipFill>
          <a:blip r:embed="rId8"/>
          <a:stretch>
            <a:fillRect/>
          </a:stretch>
        </p:blipFill>
        <p:spPr>
          <a:xfrm rot="0">
            <a:off x="11266758" y="3151046"/>
            <a:ext cx="6219103" cy="4663751"/>
          </a:xfrm>
          <a:prstGeom prst="rect">
            <a:avLst/>
          </a:prstGeom>
        </p:spPr>
      </p:pic>
      <p:sp>
        <p:nvSpPr>
          <p:cNvPr name="Freeform 17" id="17"/>
          <p:cNvSpPr/>
          <p:nvPr/>
        </p:nvSpPr>
        <p:spPr>
          <a:xfrm flipH="false" flipV="false" rot="0">
            <a:off x="11836720" y="1892040"/>
            <a:ext cx="435602" cy="484002"/>
          </a:xfrm>
          <a:custGeom>
            <a:avLst/>
            <a:gdLst/>
            <a:ahLst/>
            <a:cxnLst/>
            <a:rect r="r" b="b" t="t" l="l"/>
            <a:pathLst>
              <a:path h="484002" w="435602">
                <a:moveTo>
                  <a:pt x="0" y="0"/>
                </a:moveTo>
                <a:lnTo>
                  <a:pt x="435602" y="0"/>
                </a:lnTo>
                <a:lnTo>
                  <a:pt x="435602" y="484003"/>
                </a:lnTo>
                <a:lnTo>
                  <a:pt x="0" y="4840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1868076" y="2383791"/>
            <a:ext cx="8521570" cy="1563369"/>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O</a:t>
            </a:r>
            <a:r>
              <a:rPr lang="en-US" sz="2200" i="true" spc="528">
                <a:solidFill>
                  <a:srgbClr val="F6F6F6"/>
                </a:solidFill>
                <a:latin typeface="Poppins Italics"/>
                <a:ea typeface="Poppins Italics"/>
                <a:cs typeface="Poppins Italics"/>
                <a:sym typeface="Poppins Italics"/>
              </a:rPr>
              <a:t>U</a:t>
            </a:r>
            <a:r>
              <a:rPr lang="en-US" sz="2200" i="true" spc="528">
                <a:solidFill>
                  <a:srgbClr val="F6F6F6"/>
                </a:solidFill>
                <a:latin typeface="Poppins Italics"/>
                <a:ea typeface="Poppins Italics"/>
                <a:cs typeface="Poppins Italics"/>
                <a:sym typeface="Poppins Italics"/>
              </a:rPr>
              <a:t>R </a:t>
            </a:r>
            <a:r>
              <a:rPr lang="en-US" b="true" sz="2200" i="true" spc="528">
                <a:solidFill>
                  <a:srgbClr val="F6F6F6"/>
                </a:solidFill>
                <a:latin typeface="Poppins Bold Italics"/>
                <a:ea typeface="Poppins Bold Italics"/>
                <a:cs typeface="Poppins Bold Italics"/>
                <a:sym typeface="Poppins Bold Italics"/>
              </a:rPr>
              <a:t>CASE STUDIES</a:t>
            </a:r>
            <a:r>
              <a:rPr lang="en-US" sz="2200" i="true" spc="528">
                <a:solidFill>
                  <a:srgbClr val="F6F6F6"/>
                </a:solidFill>
                <a:latin typeface="Poppins Italics"/>
                <a:ea typeface="Poppins Italics"/>
                <a:cs typeface="Poppins Italics"/>
                <a:sym typeface="Poppins Italics"/>
              </a:rPr>
              <a:t> S</a:t>
            </a:r>
            <a:r>
              <a:rPr lang="en-US" sz="2200" i="true" spc="528">
                <a:solidFill>
                  <a:srgbClr val="F6F6F6"/>
                </a:solidFill>
                <a:latin typeface="Poppins Italics"/>
                <a:ea typeface="Poppins Italics"/>
                <a:cs typeface="Poppins Italics"/>
                <a:sym typeface="Poppins Italics"/>
              </a:rPr>
              <a:t>H</a:t>
            </a:r>
            <a:r>
              <a:rPr lang="en-US" sz="2200" i="true" spc="528">
                <a:solidFill>
                  <a:srgbClr val="F6F6F6"/>
                </a:solidFill>
                <a:latin typeface="Poppins Italics"/>
                <a:ea typeface="Poppins Italics"/>
                <a:cs typeface="Poppins Italics"/>
                <a:sym typeface="Poppins Italics"/>
              </a:rPr>
              <a:t>OWCA</a:t>
            </a:r>
            <a:r>
              <a:rPr lang="en-US" sz="2200" i="true" spc="528">
                <a:solidFill>
                  <a:srgbClr val="F6F6F6"/>
                </a:solidFill>
                <a:latin typeface="Poppins Italics"/>
                <a:ea typeface="Poppins Italics"/>
                <a:cs typeface="Poppins Italics"/>
                <a:sym typeface="Poppins Italics"/>
              </a:rPr>
              <a:t>S</a:t>
            </a:r>
            <a:r>
              <a:rPr lang="en-US" sz="2200" i="true" spc="528">
                <a:solidFill>
                  <a:srgbClr val="F6F6F6"/>
                </a:solidFill>
                <a:latin typeface="Poppins Italics"/>
                <a:ea typeface="Poppins Italics"/>
                <a:cs typeface="Poppins Italics"/>
                <a:sym typeface="Poppins Italics"/>
              </a:rPr>
              <a:t>E HO</a:t>
            </a:r>
            <a:r>
              <a:rPr lang="en-US" sz="2200" i="true" spc="528">
                <a:solidFill>
                  <a:srgbClr val="F6F6F6"/>
                </a:solidFill>
                <a:latin typeface="Poppins Italics"/>
                <a:ea typeface="Poppins Italics"/>
                <a:cs typeface="Poppins Italics"/>
                <a:sym typeface="Poppins Italics"/>
              </a:rPr>
              <a:t>W BYTEBLINK AI HAS </a:t>
            </a:r>
            <a:r>
              <a:rPr lang="en-US" b="true" sz="2200" i="true" spc="528">
                <a:solidFill>
                  <a:srgbClr val="F6F6F6"/>
                </a:solidFill>
                <a:latin typeface="Poppins Bold Italics"/>
                <a:ea typeface="Poppins Bold Italics"/>
                <a:cs typeface="Poppins Bold Italics"/>
                <a:sym typeface="Poppins Bold Italics"/>
              </a:rPr>
              <a:t>TRANSFORMED BUSINESSES WITH MEASURABLE RESULTS</a:t>
            </a:r>
            <a:r>
              <a:rPr lang="en-US" sz="2200" i="true" spc="528">
                <a:solidFill>
                  <a:srgbClr val="F6F6F6"/>
                </a:solidFill>
                <a:latin typeface="Poppins Italics"/>
                <a:ea typeface="Poppins Italics"/>
                <a:cs typeface="Poppins Italics"/>
                <a:sym typeface="Poppins Italics"/>
              </a:rPr>
              <a:t> AND</a:t>
            </a:r>
            <a:r>
              <a:rPr lang="en-US" b="true" sz="2200" i="true" spc="528">
                <a:solidFill>
                  <a:srgbClr val="A0EEEB"/>
                </a:solidFill>
                <a:latin typeface="Poppins Bold Italics"/>
                <a:ea typeface="Poppins Bold Italics"/>
                <a:cs typeface="Poppins Bold Italics"/>
                <a:sym typeface="Poppins Bold Italics"/>
              </a:rPr>
              <a:t> CLIENT SATISFACTION.</a:t>
            </a:r>
          </a:p>
        </p:txBody>
      </p:sp>
      <p:sp>
        <p:nvSpPr>
          <p:cNvPr name="TextBox 19" id="19"/>
          <p:cNvSpPr txBox="true"/>
          <p:nvPr/>
        </p:nvSpPr>
        <p:spPr>
          <a:xfrm rot="0">
            <a:off x="1868076" y="1343025"/>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Prov</a:t>
            </a:r>
            <a:r>
              <a:rPr lang="en-US" b="true" sz="5253">
                <a:solidFill>
                  <a:srgbClr val="F6F6F6"/>
                </a:solidFill>
                <a:latin typeface="Poppins Semi-Bold"/>
                <a:ea typeface="Poppins Semi-Bold"/>
                <a:cs typeface="Poppins Semi-Bold"/>
                <a:sym typeface="Poppins Semi-Bold"/>
              </a:rPr>
              <a:t>en Success Stories</a:t>
            </a:r>
          </a:p>
        </p:txBody>
      </p:sp>
      <p:sp>
        <p:nvSpPr>
          <p:cNvPr name="TextBox 20" id="20"/>
          <p:cNvSpPr txBox="true"/>
          <p:nvPr/>
        </p:nvSpPr>
        <p:spPr>
          <a:xfrm rot="0">
            <a:off x="12957992" y="1747444"/>
            <a:ext cx="3855143" cy="304835"/>
          </a:xfrm>
          <a:prstGeom prst="rect">
            <a:avLst/>
          </a:prstGeom>
        </p:spPr>
        <p:txBody>
          <a:bodyPr anchor="t" rtlCol="false" tIns="0" lIns="0" bIns="0" rIns="0">
            <a:spAutoFit/>
          </a:bodyPr>
          <a:lstStyle/>
          <a:p>
            <a:pPr algn="l">
              <a:lnSpc>
                <a:spcPts val="2277"/>
              </a:lnSpc>
              <a:spcBef>
                <a:spcPct val="0"/>
              </a:spcBef>
            </a:pPr>
            <a:r>
              <a:rPr lang="en-US" sz="1897" b="true">
                <a:solidFill>
                  <a:srgbClr val="FFFFFF"/>
                </a:solidFill>
                <a:latin typeface="Poppins Bold"/>
                <a:ea typeface="Poppins Bold"/>
                <a:cs typeface="Poppins Bold"/>
                <a:sym typeface="Poppins Bold"/>
              </a:rPr>
              <a:t>Customer</a:t>
            </a:r>
          </a:p>
        </p:txBody>
      </p:sp>
      <p:sp>
        <p:nvSpPr>
          <p:cNvPr name="TextBox 21" id="21"/>
          <p:cNvSpPr txBox="true"/>
          <p:nvPr/>
        </p:nvSpPr>
        <p:spPr>
          <a:xfrm rot="0">
            <a:off x="12957992" y="2116782"/>
            <a:ext cx="3462743" cy="255569"/>
          </a:xfrm>
          <a:prstGeom prst="rect">
            <a:avLst/>
          </a:prstGeom>
        </p:spPr>
        <p:txBody>
          <a:bodyPr anchor="t" rtlCol="false" tIns="0" lIns="0" bIns="0" rIns="0">
            <a:spAutoFit/>
          </a:bodyPr>
          <a:lstStyle/>
          <a:p>
            <a:pPr algn="l">
              <a:lnSpc>
                <a:spcPts val="1978"/>
              </a:lnSpc>
              <a:spcBef>
                <a:spcPct val="0"/>
              </a:spcBef>
            </a:pPr>
            <a:r>
              <a:rPr lang="en-US" sz="1648" b="true">
                <a:solidFill>
                  <a:srgbClr val="FFFFFF"/>
                </a:solidFill>
                <a:latin typeface="Poppins Medium"/>
                <a:ea typeface="Poppins Medium"/>
                <a:cs typeface="Poppins Medium"/>
                <a:sym typeface="Poppins Medium"/>
              </a:rPr>
              <a:t>Miami Hedge Fund with PC LLLP</a:t>
            </a:r>
          </a:p>
        </p:txBody>
      </p:sp>
      <p:sp>
        <p:nvSpPr>
          <p:cNvPr name="TextBox 22" id="22"/>
          <p:cNvSpPr txBox="true"/>
          <p:nvPr/>
        </p:nvSpPr>
        <p:spPr>
          <a:xfrm rot="0">
            <a:off x="1868076" y="8561070"/>
            <a:ext cx="14552659" cy="697230"/>
          </a:xfrm>
          <a:prstGeom prst="rect">
            <a:avLst/>
          </a:prstGeom>
        </p:spPr>
        <p:txBody>
          <a:bodyPr anchor="t" rtlCol="false" tIns="0" lIns="0" bIns="0" rIns="0">
            <a:spAutoFit/>
          </a:bodyPr>
          <a:lstStyle/>
          <a:p>
            <a:pPr algn="just" marL="0" indent="0" lvl="0">
              <a:lnSpc>
                <a:spcPts val="2730"/>
              </a:lnSpc>
              <a:spcBef>
                <a:spcPct val="0"/>
              </a:spcBef>
            </a:pPr>
            <a:r>
              <a:rPr lang="en-US" b="true" sz="2100" spc="35">
                <a:solidFill>
                  <a:srgbClr val="D9D9D9"/>
                </a:solidFill>
                <a:latin typeface="Poppins Bold"/>
                <a:ea typeface="Poppins Bold"/>
                <a:cs typeface="Poppins Bold"/>
                <a:sym typeface="Poppins Bold"/>
              </a:rPr>
              <a:t>For a Miami hedge fund, our campaigns generated qualified leads at just $19–$27 per lead—delivering high-value prospects, including investors ready to commit $5M.</a:t>
            </a:r>
          </a:p>
        </p:txBody>
      </p:sp>
      <p:sp>
        <p:nvSpPr>
          <p:cNvPr name="Freeform 23" id="23"/>
          <p:cNvSpPr/>
          <p:nvPr/>
        </p:nvSpPr>
        <p:spPr>
          <a:xfrm flipH="false" flipV="false" rot="0">
            <a:off x="1868076" y="4484106"/>
            <a:ext cx="8521570" cy="3082475"/>
          </a:xfrm>
          <a:custGeom>
            <a:avLst/>
            <a:gdLst/>
            <a:ahLst/>
            <a:cxnLst/>
            <a:rect r="r" b="b" t="t" l="l"/>
            <a:pathLst>
              <a:path h="3082475" w="8521570">
                <a:moveTo>
                  <a:pt x="0" y="0"/>
                </a:moveTo>
                <a:lnTo>
                  <a:pt x="8521570" y="0"/>
                </a:lnTo>
                <a:lnTo>
                  <a:pt x="8521570" y="3082475"/>
                </a:lnTo>
                <a:lnTo>
                  <a:pt x="0" y="3082475"/>
                </a:lnTo>
                <a:lnTo>
                  <a:pt x="0" y="0"/>
                </a:lnTo>
                <a:close/>
              </a:path>
            </a:pathLst>
          </a:custGeom>
          <a:blipFill>
            <a:blip r:embed="rId11"/>
            <a:stretch>
              <a:fillRect l="-75382" t="0" r="0" b="0"/>
            </a:stretch>
          </a:blipFill>
        </p:spPr>
      </p:sp>
      <p:sp>
        <p:nvSpPr>
          <p:cNvPr name="TextBox 24" id="24"/>
          <p:cNvSpPr txBox="true"/>
          <p:nvPr/>
        </p:nvSpPr>
        <p:spPr>
          <a:xfrm rot="0">
            <a:off x="1868076" y="7690749"/>
            <a:ext cx="5304006" cy="276225"/>
          </a:xfrm>
          <a:prstGeom prst="rect">
            <a:avLst/>
          </a:prstGeom>
        </p:spPr>
        <p:txBody>
          <a:bodyPr anchor="t" rtlCol="false" tIns="0" lIns="0" bIns="0" rIns="0">
            <a:spAutoFit/>
          </a:bodyPr>
          <a:lstStyle/>
          <a:p>
            <a:pPr algn="l">
              <a:lnSpc>
                <a:spcPts val="2010"/>
              </a:lnSpc>
              <a:spcBef>
                <a:spcPct val="0"/>
              </a:spcBef>
            </a:pPr>
            <a:r>
              <a:rPr lang="en-US" sz="1675" i="true" spc="402">
                <a:solidFill>
                  <a:srgbClr val="FFFFFF"/>
                </a:solidFill>
                <a:latin typeface="Poppins Italics"/>
                <a:ea typeface="Poppins Italics"/>
                <a:cs typeface="Poppins Italics"/>
                <a:sym typeface="Poppins Italics"/>
              </a:rPr>
              <a:t>CAMPAIGN PERFORMANCE METRICS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86893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1480225"/>
            <a:ext cx="18288000" cy="5197539"/>
            <a:chOff x="0" y="0"/>
            <a:chExt cx="4816593" cy="1368899"/>
          </a:xfrm>
        </p:grpSpPr>
        <p:sp>
          <p:nvSpPr>
            <p:cNvPr name="Freeform 4" id="4"/>
            <p:cNvSpPr/>
            <p:nvPr/>
          </p:nvSpPr>
          <p:spPr>
            <a:xfrm flipH="false" flipV="false" rot="0">
              <a:off x="0" y="0"/>
              <a:ext cx="4816592" cy="1368899"/>
            </a:xfrm>
            <a:custGeom>
              <a:avLst/>
              <a:gdLst/>
              <a:ahLst/>
              <a:cxnLst/>
              <a:rect r="r" b="b" t="t" l="l"/>
              <a:pathLst>
                <a:path h="1368899" w="4816592">
                  <a:moveTo>
                    <a:pt x="0" y="0"/>
                  </a:moveTo>
                  <a:lnTo>
                    <a:pt x="4816592" y="0"/>
                  </a:lnTo>
                  <a:lnTo>
                    <a:pt x="4816592" y="1368899"/>
                  </a:lnTo>
                  <a:lnTo>
                    <a:pt x="0" y="1368899"/>
                  </a:lnTo>
                  <a:close/>
                </a:path>
              </a:pathLst>
            </a:custGeom>
            <a:gradFill rotWithShape="true">
              <a:gsLst>
                <a:gs pos="0">
                  <a:srgbClr val="000000">
                    <a:alpha val="0"/>
                  </a:srgbClr>
                </a:gs>
                <a:gs pos="50000">
                  <a:srgbClr val="000000">
                    <a:alpha val="100000"/>
                  </a:srgbClr>
                </a:gs>
                <a:gs pos="100000">
                  <a:srgbClr val="000000">
                    <a:alpha val="0"/>
                  </a:srgbClr>
                </a:gs>
              </a:gsLst>
              <a:lin ang="5400000"/>
            </a:gradFill>
          </p:spPr>
        </p:sp>
        <p:sp>
          <p:nvSpPr>
            <p:cNvPr name="TextBox 5" id="5"/>
            <p:cNvSpPr txBox="true"/>
            <p:nvPr/>
          </p:nvSpPr>
          <p:spPr>
            <a:xfrm>
              <a:off x="0" y="-19050"/>
              <a:ext cx="4816593" cy="1387949"/>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true" rot="0">
            <a:off x="6097063" y="7282260"/>
            <a:ext cx="1191942" cy="418263"/>
          </a:xfrm>
          <a:custGeom>
            <a:avLst/>
            <a:gdLst/>
            <a:ahLst/>
            <a:cxnLst/>
            <a:rect r="r" b="b" t="t" l="l"/>
            <a:pathLst>
              <a:path h="418263" w="1191942">
                <a:moveTo>
                  <a:pt x="0" y="418263"/>
                </a:moveTo>
                <a:lnTo>
                  <a:pt x="1191942" y="418263"/>
                </a:lnTo>
                <a:lnTo>
                  <a:pt x="1191942" y="0"/>
                </a:lnTo>
                <a:lnTo>
                  <a:pt x="0" y="0"/>
                </a:lnTo>
                <a:lnTo>
                  <a:pt x="0" y="418263"/>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7121891" y="7399633"/>
            <a:ext cx="10102293" cy="1175837"/>
            <a:chOff x="0" y="0"/>
            <a:chExt cx="5581473" cy="649645"/>
          </a:xfrm>
        </p:grpSpPr>
        <p:sp>
          <p:nvSpPr>
            <p:cNvPr name="Freeform 8" id="8"/>
            <p:cNvSpPr/>
            <p:nvPr/>
          </p:nvSpPr>
          <p:spPr>
            <a:xfrm flipH="false" flipV="false" rot="0">
              <a:off x="0" y="0"/>
              <a:ext cx="5581473" cy="649645"/>
            </a:xfrm>
            <a:custGeom>
              <a:avLst/>
              <a:gdLst/>
              <a:ahLst/>
              <a:cxnLst/>
              <a:rect r="r" b="b" t="t" l="l"/>
              <a:pathLst>
                <a:path h="649645" w="5581473">
                  <a:moveTo>
                    <a:pt x="17626" y="0"/>
                  </a:moveTo>
                  <a:lnTo>
                    <a:pt x="5563847" y="0"/>
                  </a:lnTo>
                  <a:cubicBezTo>
                    <a:pt x="5568521" y="0"/>
                    <a:pt x="5573005" y="1857"/>
                    <a:pt x="5576310" y="5163"/>
                  </a:cubicBezTo>
                  <a:cubicBezTo>
                    <a:pt x="5579616" y="8468"/>
                    <a:pt x="5581473" y="12951"/>
                    <a:pt x="5581473" y="17626"/>
                  </a:cubicBezTo>
                  <a:lnTo>
                    <a:pt x="5581473" y="632019"/>
                  </a:lnTo>
                  <a:cubicBezTo>
                    <a:pt x="5581473" y="641753"/>
                    <a:pt x="5573582" y="649645"/>
                    <a:pt x="5563847" y="649645"/>
                  </a:cubicBezTo>
                  <a:lnTo>
                    <a:pt x="17626" y="649645"/>
                  </a:lnTo>
                  <a:cubicBezTo>
                    <a:pt x="7891" y="649645"/>
                    <a:pt x="0" y="641753"/>
                    <a:pt x="0" y="632019"/>
                  </a:cubicBezTo>
                  <a:lnTo>
                    <a:pt x="0" y="17626"/>
                  </a:lnTo>
                  <a:cubicBezTo>
                    <a:pt x="0" y="7891"/>
                    <a:pt x="7891" y="0"/>
                    <a:pt x="17626" y="0"/>
                  </a:cubicBezTo>
                  <a:close/>
                </a:path>
              </a:pathLst>
            </a:custGeom>
            <a:solidFill>
              <a:srgbClr val="A0EEEB">
                <a:alpha val="40784"/>
              </a:srgbClr>
            </a:solidFill>
            <a:ln w="85725" cap="rnd">
              <a:solidFill>
                <a:srgbClr val="A0EEEB">
                  <a:alpha val="40784"/>
                </a:srgbClr>
              </a:solidFill>
              <a:prstDash val="solid"/>
              <a:round/>
            </a:ln>
          </p:spPr>
        </p:sp>
        <p:sp>
          <p:nvSpPr>
            <p:cNvPr name="TextBox 9" id="9"/>
            <p:cNvSpPr txBox="true"/>
            <p:nvPr/>
          </p:nvSpPr>
          <p:spPr>
            <a:xfrm>
              <a:off x="0" y="-19050"/>
              <a:ext cx="5581473" cy="668695"/>
            </a:xfrm>
            <a:prstGeom prst="rect">
              <a:avLst/>
            </a:prstGeom>
          </p:spPr>
          <p:txBody>
            <a:bodyPr anchor="ctr" rtlCol="false" tIns="50800" lIns="50800" bIns="50800" rIns="50800"/>
            <a:lstStyle/>
            <a:p>
              <a:pPr algn="ctr">
                <a:lnSpc>
                  <a:spcPts val="2640"/>
                </a:lnSpc>
              </a:pPr>
            </a:p>
          </p:txBody>
        </p:sp>
      </p:grpSp>
      <p:grpSp>
        <p:nvGrpSpPr>
          <p:cNvPr name="Group 10" id="10"/>
          <p:cNvGrpSpPr/>
          <p:nvPr/>
        </p:nvGrpSpPr>
        <p:grpSpPr>
          <a:xfrm rot="0">
            <a:off x="6236210" y="7455027"/>
            <a:ext cx="1065048" cy="1065048"/>
            <a:chOff x="0" y="0"/>
            <a:chExt cx="588434" cy="588434"/>
          </a:xfrm>
        </p:grpSpPr>
        <p:sp>
          <p:nvSpPr>
            <p:cNvPr name="Freeform 11" id="11"/>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2" id="12"/>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13" id="13"/>
          <p:cNvSpPr/>
          <p:nvPr/>
        </p:nvSpPr>
        <p:spPr>
          <a:xfrm flipH="false" flipV="false" rot="0">
            <a:off x="6550932" y="7745550"/>
            <a:ext cx="435602" cy="484002"/>
          </a:xfrm>
          <a:custGeom>
            <a:avLst/>
            <a:gdLst/>
            <a:ahLst/>
            <a:cxnLst/>
            <a:rect r="r" b="b" t="t" l="l"/>
            <a:pathLst>
              <a:path h="484002" w="435602">
                <a:moveTo>
                  <a:pt x="0" y="0"/>
                </a:moveTo>
                <a:lnTo>
                  <a:pt x="435603" y="0"/>
                </a:lnTo>
                <a:lnTo>
                  <a:pt x="435603" y="484002"/>
                </a:lnTo>
                <a:lnTo>
                  <a:pt x="0" y="4840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387303" y="778923"/>
            <a:ext cx="6351015" cy="7848514"/>
            <a:chOff x="0" y="0"/>
            <a:chExt cx="1460623" cy="1805022"/>
          </a:xfrm>
        </p:grpSpPr>
        <p:sp>
          <p:nvSpPr>
            <p:cNvPr name="Freeform 15" id="15"/>
            <p:cNvSpPr/>
            <p:nvPr/>
          </p:nvSpPr>
          <p:spPr>
            <a:xfrm flipH="false" flipV="false" rot="0">
              <a:off x="0" y="0"/>
              <a:ext cx="1460629" cy="1805022"/>
            </a:xfrm>
            <a:custGeom>
              <a:avLst/>
              <a:gdLst/>
              <a:ahLst/>
              <a:cxnLst/>
              <a:rect r="r" b="b" t="t" l="l"/>
              <a:pathLst>
                <a:path h="1805022" w="1460629">
                  <a:moveTo>
                    <a:pt x="1460627" y="1189424"/>
                  </a:moveTo>
                  <a:lnTo>
                    <a:pt x="1460627" y="561989"/>
                  </a:lnTo>
                  <a:cubicBezTo>
                    <a:pt x="1460629" y="522853"/>
                    <a:pt x="1446205" y="485089"/>
                    <a:pt x="1420114" y="455919"/>
                  </a:cubicBezTo>
                  <a:lnTo>
                    <a:pt x="1046362" y="38122"/>
                  </a:lnTo>
                  <a:cubicBezTo>
                    <a:pt x="1024662" y="13865"/>
                    <a:pt x="993657" y="0"/>
                    <a:pt x="961111" y="0"/>
                  </a:cubicBezTo>
                  <a:lnTo>
                    <a:pt x="114384" y="0"/>
                  </a:lnTo>
                  <a:cubicBezTo>
                    <a:pt x="51211" y="0"/>
                    <a:pt x="0" y="51211"/>
                    <a:pt x="0" y="114384"/>
                  </a:cubicBezTo>
                  <a:lnTo>
                    <a:pt x="0" y="501214"/>
                  </a:lnTo>
                  <a:lnTo>
                    <a:pt x="0" y="1234766"/>
                  </a:lnTo>
                  <a:cubicBezTo>
                    <a:pt x="0" y="1279232"/>
                    <a:pt x="16390" y="1322137"/>
                    <a:pt x="46036" y="1355277"/>
                  </a:cubicBezTo>
                  <a:lnTo>
                    <a:pt x="414263" y="1766900"/>
                  </a:lnTo>
                  <a:cubicBezTo>
                    <a:pt x="435962" y="1791157"/>
                    <a:pt x="466967" y="1805022"/>
                    <a:pt x="499514" y="1805022"/>
                  </a:cubicBezTo>
                  <a:lnTo>
                    <a:pt x="944739" y="1805022"/>
                  </a:lnTo>
                  <a:cubicBezTo>
                    <a:pt x="975076" y="1805022"/>
                    <a:pt x="1004170" y="1792971"/>
                    <a:pt x="1025621" y="1771520"/>
                  </a:cubicBezTo>
                  <a:cubicBezTo>
                    <a:pt x="1047073" y="1750069"/>
                    <a:pt x="1059124" y="1720975"/>
                    <a:pt x="1059124" y="1690638"/>
                  </a:cubicBezTo>
                  <a:lnTo>
                    <a:pt x="1059124" y="1418193"/>
                  </a:lnTo>
                  <a:cubicBezTo>
                    <a:pt x="1059124" y="1355019"/>
                    <a:pt x="1110336" y="1303808"/>
                    <a:pt x="1173509" y="1303808"/>
                  </a:cubicBezTo>
                  <a:lnTo>
                    <a:pt x="1346241" y="1303808"/>
                  </a:lnTo>
                  <a:cubicBezTo>
                    <a:pt x="1376578" y="1303808"/>
                    <a:pt x="1405672" y="1291757"/>
                    <a:pt x="1427124" y="1270306"/>
                  </a:cubicBezTo>
                  <a:cubicBezTo>
                    <a:pt x="1448576" y="1248855"/>
                    <a:pt x="1460627" y="1219761"/>
                    <a:pt x="1460627" y="1189424"/>
                  </a:cubicBezTo>
                  <a:close/>
                </a:path>
              </a:pathLst>
            </a:custGeom>
            <a:blipFill>
              <a:blip r:embed="rId7">
                <a:alphaModFix amt="85000"/>
              </a:blip>
              <a:stretch>
                <a:fillRect l="-15558" t="0" r="-15558" b="0"/>
              </a:stretch>
            </a:blipFill>
          </p:spPr>
        </p:sp>
      </p:grpSp>
      <p:sp>
        <p:nvSpPr>
          <p:cNvPr name="TextBox 16" id="16"/>
          <p:cNvSpPr txBox="true"/>
          <p:nvPr/>
        </p:nvSpPr>
        <p:spPr>
          <a:xfrm rot="0">
            <a:off x="6986535" y="1763379"/>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Prov</a:t>
            </a:r>
            <a:r>
              <a:rPr lang="en-US" b="true" sz="5253">
                <a:solidFill>
                  <a:srgbClr val="F6F6F6"/>
                </a:solidFill>
                <a:latin typeface="Poppins Semi-Bold"/>
                <a:ea typeface="Poppins Semi-Bold"/>
                <a:cs typeface="Poppins Semi-Bold"/>
                <a:sym typeface="Poppins Semi-Bold"/>
              </a:rPr>
              <a:t>en Success Stories</a:t>
            </a:r>
          </a:p>
        </p:txBody>
      </p:sp>
      <p:sp>
        <p:nvSpPr>
          <p:cNvPr name="TextBox 17" id="17"/>
          <p:cNvSpPr txBox="true"/>
          <p:nvPr/>
        </p:nvSpPr>
        <p:spPr>
          <a:xfrm rot="0">
            <a:off x="7641852" y="7519966"/>
            <a:ext cx="3855143" cy="304835"/>
          </a:xfrm>
          <a:prstGeom prst="rect">
            <a:avLst/>
          </a:prstGeom>
        </p:spPr>
        <p:txBody>
          <a:bodyPr anchor="t" rtlCol="false" tIns="0" lIns="0" bIns="0" rIns="0">
            <a:spAutoFit/>
          </a:bodyPr>
          <a:lstStyle/>
          <a:p>
            <a:pPr algn="l">
              <a:lnSpc>
                <a:spcPts val="2277"/>
              </a:lnSpc>
              <a:spcBef>
                <a:spcPct val="0"/>
              </a:spcBef>
            </a:pPr>
            <a:r>
              <a:rPr lang="en-US" sz="1897" b="true">
                <a:solidFill>
                  <a:srgbClr val="FFFFFF"/>
                </a:solidFill>
                <a:latin typeface="Poppins Bold"/>
                <a:ea typeface="Poppins Bold"/>
                <a:cs typeface="Poppins Bold"/>
                <a:sym typeface="Poppins Bold"/>
              </a:rPr>
              <a:t>Customer</a:t>
            </a:r>
          </a:p>
        </p:txBody>
      </p:sp>
      <p:sp>
        <p:nvSpPr>
          <p:cNvPr name="TextBox 18" id="18"/>
          <p:cNvSpPr txBox="true"/>
          <p:nvPr/>
        </p:nvSpPr>
        <p:spPr>
          <a:xfrm rot="0">
            <a:off x="7641852" y="7879779"/>
            <a:ext cx="6336911" cy="747657"/>
          </a:xfrm>
          <a:prstGeom prst="rect">
            <a:avLst/>
          </a:prstGeom>
        </p:spPr>
        <p:txBody>
          <a:bodyPr anchor="t" rtlCol="false" tIns="0" lIns="0" bIns="0" rIns="0">
            <a:spAutoFit/>
          </a:bodyPr>
          <a:lstStyle/>
          <a:p>
            <a:pPr algn="l">
              <a:lnSpc>
                <a:spcPts val="1978"/>
              </a:lnSpc>
            </a:pPr>
            <a:r>
              <a:rPr lang="en-US" sz="1648" b="true">
                <a:solidFill>
                  <a:srgbClr val="FFFFFF"/>
                </a:solidFill>
                <a:latin typeface="Poppins Medium"/>
                <a:ea typeface="Poppins Medium"/>
                <a:cs typeface="Poppins Medium"/>
                <a:sym typeface="Poppins Medium"/>
              </a:rPr>
              <a:t>Keith Pickens, Owner</a:t>
            </a:r>
          </a:p>
          <a:p>
            <a:pPr algn="l">
              <a:lnSpc>
                <a:spcPts val="1978"/>
              </a:lnSpc>
            </a:pPr>
            <a:r>
              <a:rPr lang="en-US" sz="1648" b="true">
                <a:solidFill>
                  <a:srgbClr val="FFFFFF"/>
                </a:solidFill>
                <a:latin typeface="Poppins Medium"/>
                <a:ea typeface="Poppins Medium"/>
                <a:cs typeface="Poppins Medium"/>
                <a:sym typeface="Poppins Medium"/>
              </a:rPr>
              <a:t>Pickens Powerwashing | Wake Forest, NC</a:t>
            </a:r>
          </a:p>
          <a:p>
            <a:pPr algn="l">
              <a:lnSpc>
                <a:spcPts val="1978"/>
              </a:lnSpc>
              <a:spcBef>
                <a:spcPct val="0"/>
              </a:spcBef>
            </a:pPr>
          </a:p>
        </p:txBody>
      </p:sp>
      <p:sp>
        <p:nvSpPr>
          <p:cNvPr name="TextBox 19" id="19"/>
          <p:cNvSpPr txBox="true"/>
          <p:nvPr/>
        </p:nvSpPr>
        <p:spPr>
          <a:xfrm rot="0">
            <a:off x="6986535" y="3464029"/>
            <a:ext cx="10098502" cy="1725930"/>
          </a:xfrm>
          <a:prstGeom prst="rect">
            <a:avLst/>
          </a:prstGeom>
        </p:spPr>
        <p:txBody>
          <a:bodyPr anchor="t" rtlCol="false" tIns="0" lIns="0" bIns="0" rIns="0">
            <a:spAutoFit/>
          </a:bodyPr>
          <a:lstStyle/>
          <a:p>
            <a:pPr algn="l" marL="0" indent="0" lvl="0">
              <a:lnSpc>
                <a:spcPts val="2730"/>
              </a:lnSpc>
              <a:spcBef>
                <a:spcPct val="0"/>
              </a:spcBef>
            </a:pPr>
            <a:r>
              <a:rPr lang="en-US" b="true" sz="2100" spc="35">
                <a:solidFill>
                  <a:srgbClr val="D9D9D9"/>
                </a:solidFill>
                <a:latin typeface="Poppins Medium"/>
                <a:ea typeface="Poppins Medium"/>
                <a:cs typeface="Poppins Medium"/>
                <a:sym typeface="Poppins Medium"/>
              </a:rPr>
              <a:t>“When I utilized the mapping system, the very first time, within one day of me doing some additional footwork and doing some targeted marketing, [I] secured about $5,000 in contracts in residential homes. One of those contracts was a former home builder who has continued to generate leads for me.” </a:t>
            </a:r>
          </a:p>
        </p:txBody>
      </p:sp>
      <p:sp>
        <p:nvSpPr>
          <p:cNvPr name="TextBox 20" id="20"/>
          <p:cNvSpPr txBox="true"/>
          <p:nvPr/>
        </p:nvSpPr>
        <p:spPr>
          <a:xfrm rot="0">
            <a:off x="6986535" y="2827761"/>
            <a:ext cx="10237649" cy="483868"/>
          </a:xfrm>
          <a:prstGeom prst="rect">
            <a:avLst/>
          </a:prstGeom>
        </p:spPr>
        <p:txBody>
          <a:bodyPr anchor="t" rtlCol="false" tIns="0" lIns="0" bIns="0" rIns="0">
            <a:spAutoFit/>
          </a:bodyPr>
          <a:lstStyle/>
          <a:p>
            <a:pPr algn="l">
              <a:lnSpc>
                <a:spcPts val="3780"/>
              </a:lnSpc>
            </a:pPr>
            <a:r>
              <a:rPr lang="en-US" sz="2700" b="true">
                <a:solidFill>
                  <a:srgbClr val="9CD7DB"/>
                </a:solidFill>
                <a:latin typeface="Poppins Bold"/>
                <a:ea typeface="Poppins Bold"/>
                <a:cs typeface="Poppins Bold"/>
                <a:sym typeface="Poppins Bold"/>
              </a:rPr>
              <a:t>Full video testimonial &amp; customer contact info available</a:t>
            </a:r>
          </a:p>
        </p:txBody>
      </p:sp>
      <p:sp>
        <p:nvSpPr>
          <p:cNvPr name="TextBox 21" id="21"/>
          <p:cNvSpPr txBox="true"/>
          <p:nvPr/>
        </p:nvSpPr>
        <p:spPr>
          <a:xfrm rot="0">
            <a:off x="12670347" y="7731982"/>
            <a:ext cx="4108389" cy="504825"/>
          </a:xfrm>
          <a:prstGeom prst="rect">
            <a:avLst/>
          </a:prstGeom>
        </p:spPr>
        <p:txBody>
          <a:bodyPr anchor="t" rtlCol="false" tIns="0" lIns="0" bIns="0" rIns="0">
            <a:spAutoFit/>
          </a:bodyPr>
          <a:lstStyle/>
          <a:p>
            <a:pPr algn="l">
              <a:lnSpc>
                <a:spcPts val="1978"/>
              </a:lnSpc>
            </a:pPr>
            <a:r>
              <a:rPr lang="en-US" sz="1648" b="true">
                <a:solidFill>
                  <a:srgbClr val="FFFFFF"/>
                </a:solidFill>
                <a:latin typeface="Poppins Bold"/>
                <a:ea typeface="Poppins Bold"/>
                <a:cs typeface="Poppins Bold"/>
                <a:sym typeface="Poppins Bold"/>
              </a:rPr>
              <a:t>Retired Raleigh Police Officer, K-9 Unit</a:t>
            </a:r>
          </a:p>
          <a:p>
            <a:pPr algn="l">
              <a:lnSpc>
                <a:spcPts val="1978"/>
              </a:lnSpc>
              <a:spcBef>
                <a:spcPct val="0"/>
              </a:spcBef>
            </a:pPr>
            <a:r>
              <a:rPr lang="en-US" sz="1648" b="true">
                <a:solidFill>
                  <a:srgbClr val="FFFFFF"/>
                </a:solidFill>
                <a:latin typeface="Poppins Bold"/>
                <a:ea typeface="Poppins Bold"/>
                <a:cs typeface="Poppins Bold"/>
                <a:sym typeface="Poppins Bold"/>
              </a:rPr>
              <a:t>Veteran</a:t>
            </a:r>
          </a:p>
        </p:txBody>
      </p:sp>
      <p:sp>
        <p:nvSpPr>
          <p:cNvPr name="AutoShape 22" id="22"/>
          <p:cNvSpPr/>
          <p:nvPr/>
        </p:nvSpPr>
        <p:spPr>
          <a:xfrm flipV="true">
            <a:off x="12344720" y="7539016"/>
            <a:ext cx="0" cy="934057"/>
          </a:xfrm>
          <a:prstGeom prst="line">
            <a:avLst/>
          </a:prstGeom>
          <a:ln cap="flat" w="9525">
            <a:solidFill>
              <a:srgbClr val="FFFFFF"/>
            </a:solidFill>
            <a:prstDash val="solid"/>
            <a:headEnd type="none" len="sm" w="sm"/>
            <a:tailEnd type="none" len="sm" w="sm"/>
          </a:ln>
        </p:spPr>
      </p:sp>
      <p:sp>
        <p:nvSpPr>
          <p:cNvPr name="TextBox 23" id="23"/>
          <p:cNvSpPr txBox="true"/>
          <p:nvPr/>
        </p:nvSpPr>
        <p:spPr>
          <a:xfrm rot="0">
            <a:off x="6986535" y="5980534"/>
            <a:ext cx="10098502" cy="697230"/>
          </a:xfrm>
          <a:prstGeom prst="rect">
            <a:avLst/>
          </a:prstGeom>
        </p:spPr>
        <p:txBody>
          <a:bodyPr anchor="t" rtlCol="false" tIns="0" lIns="0" bIns="0" rIns="0">
            <a:spAutoFit/>
          </a:bodyPr>
          <a:lstStyle/>
          <a:p>
            <a:pPr algn="l" marL="0" indent="0" lvl="0">
              <a:lnSpc>
                <a:spcPts val="2730"/>
              </a:lnSpc>
              <a:spcBef>
                <a:spcPct val="0"/>
              </a:spcBef>
            </a:pPr>
            <a:r>
              <a:rPr lang="en-US" b="true" sz="2100" i="true" spc="35">
                <a:solidFill>
                  <a:srgbClr val="D9D9D9"/>
                </a:solidFill>
                <a:latin typeface="Poppins Medium Italics"/>
                <a:ea typeface="Poppins Medium Italics"/>
                <a:cs typeface="Poppins Medium Italics"/>
                <a:sym typeface="Poppins Medium Italics"/>
              </a:rPr>
              <a:t>Utilizes us for SEO, Social Media, FB Ads, website deanonymization, website management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86893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1480225"/>
            <a:ext cx="18288000" cy="5197539"/>
            <a:chOff x="0" y="0"/>
            <a:chExt cx="4816593" cy="1368899"/>
          </a:xfrm>
        </p:grpSpPr>
        <p:sp>
          <p:nvSpPr>
            <p:cNvPr name="Freeform 4" id="4"/>
            <p:cNvSpPr/>
            <p:nvPr/>
          </p:nvSpPr>
          <p:spPr>
            <a:xfrm flipH="false" flipV="false" rot="0">
              <a:off x="0" y="0"/>
              <a:ext cx="4816592" cy="1368899"/>
            </a:xfrm>
            <a:custGeom>
              <a:avLst/>
              <a:gdLst/>
              <a:ahLst/>
              <a:cxnLst/>
              <a:rect r="r" b="b" t="t" l="l"/>
              <a:pathLst>
                <a:path h="1368899" w="4816592">
                  <a:moveTo>
                    <a:pt x="0" y="0"/>
                  </a:moveTo>
                  <a:lnTo>
                    <a:pt x="4816592" y="0"/>
                  </a:lnTo>
                  <a:lnTo>
                    <a:pt x="4816592" y="1368899"/>
                  </a:lnTo>
                  <a:lnTo>
                    <a:pt x="0" y="1368899"/>
                  </a:lnTo>
                  <a:close/>
                </a:path>
              </a:pathLst>
            </a:custGeom>
            <a:gradFill rotWithShape="true">
              <a:gsLst>
                <a:gs pos="0">
                  <a:srgbClr val="000000">
                    <a:alpha val="0"/>
                  </a:srgbClr>
                </a:gs>
                <a:gs pos="50000">
                  <a:srgbClr val="000000">
                    <a:alpha val="100000"/>
                  </a:srgbClr>
                </a:gs>
                <a:gs pos="100000">
                  <a:srgbClr val="000000">
                    <a:alpha val="0"/>
                  </a:srgbClr>
                </a:gs>
              </a:gsLst>
              <a:lin ang="5400000"/>
            </a:gradFill>
          </p:spPr>
        </p:sp>
        <p:sp>
          <p:nvSpPr>
            <p:cNvPr name="TextBox 5" id="5"/>
            <p:cNvSpPr txBox="true"/>
            <p:nvPr/>
          </p:nvSpPr>
          <p:spPr>
            <a:xfrm>
              <a:off x="0" y="-19050"/>
              <a:ext cx="4816593" cy="1387949"/>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true" rot="0">
            <a:off x="1028700" y="7163539"/>
            <a:ext cx="1191942" cy="418263"/>
          </a:xfrm>
          <a:custGeom>
            <a:avLst/>
            <a:gdLst/>
            <a:ahLst/>
            <a:cxnLst/>
            <a:rect r="r" b="b" t="t" l="l"/>
            <a:pathLst>
              <a:path h="418263" w="1191942">
                <a:moveTo>
                  <a:pt x="0" y="418263"/>
                </a:moveTo>
                <a:lnTo>
                  <a:pt x="1191942" y="418263"/>
                </a:lnTo>
                <a:lnTo>
                  <a:pt x="1191942" y="0"/>
                </a:lnTo>
                <a:lnTo>
                  <a:pt x="0" y="0"/>
                </a:lnTo>
                <a:lnTo>
                  <a:pt x="0" y="418263"/>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2053528" y="7280912"/>
            <a:ext cx="10102293" cy="1175837"/>
            <a:chOff x="0" y="0"/>
            <a:chExt cx="5581473" cy="649645"/>
          </a:xfrm>
        </p:grpSpPr>
        <p:sp>
          <p:nvSpPr>
            <p:cNvPr name="Freeform 8" id="8"/>
            <p:cNvSpPr/>
            <p:nvPr/>
          </p:nvSpPr>
          <p:spPr>
            <a:xfrm flipH="false" flipV="false" rot="0">
              <a:off x="0" y="0"/>
              <a:ext cx="5581473" cy="649645"/>
            </a:xfrm>
            <a:custGeom>
              <a:avLst/>
              <a:gdLst/>
              <a:ahLst/>
              <a:cxnLst/>
              <a:rect r="r" b="b" t="t" l="l"/>
              <a:pathLst>
                <a:path h="649645" w="5581473">
                  <a:moveTo>
                    <a:pt x="17626" y="0"/>
                  </a:moveTo>
                  <a:lnTo>
                    <a:pt x="5563847" y="0"/>
                  </a:lnTo>
                  <a:cubicBezTo>
                    <a:pt x="5568521" y="0"/>
                    <a:pt x="5573005" y="1857"/>
                    <a:pt x="5576310" y="5163"/>
                  </a:cubicBezTo>
                  <a:cubicBezTo>
                    <a:pt x="5579616" y="8468"/>
                    <a:pt x="5581473" y="12951"/>
                    <a:pt x="5581473" y="17626"/>
                  </a:cubicBezTo>
                  <a:lnTo>
                    <a:pt x="5581473" y="632019"/>
                  </a:lnTo>
                  <a:cubicBezTo>
                    <a:pt x="5581473" y="641753"/>
                    <a:pt x="5573582" y="649645"/>
                    <a:pt x="5563847" y="649645"/>
                  </a:cubicBezTo>
                  <a:lnTo>
                    <a:pt x="17626" y="649645"/>
                  </a:lnTo>
                  <a:cubicBezTo>
                    <a:pt x="7891" y="649645"/>
                    <a:pt x="0" y="641753"/>
                    <a:pt x="0" y="632019"/>
                  </a:cubicBezTo>
                  <a:lnTo>
                    <a:pt x="0" y="17626"/>
                  </a:lnTo>
                  <a:cubicBezTo>
                    <a:pt x="0" y="7891"/>
                    <a:pt x="7891" y="0"/>
                    <a:pt x="17626" y="0"/>
                  </a:cubicBezTo>
                  <a:close/>
                </a:path>
              </a:pathLst>
            </a:custGeom>
            <a:solidFill>
              <a:srgbClr val="A0EEEB">
                <a:alpha val="40784"/>
              </a:srgbClr>
            </a:solidFill>
            <a:ln w="85725" cap="rnd">
              <a:solidFill>
                <a:srgbClr val="A0EEEB">
                  <a:alpha val="40784"/>
                </a:srgbClr>
              </a:solidFill>
              <a:prstDash val="solid"/>
              <a:round/>
            </a:ln>
          </p:spPr>
        </p:sp>
        <p:sp>
          <p:nvSpPr>
            <p:cNvPr name="TextBox 9" id="9"/>
            <p:cNvSpPr txBox="true"/>
            <p:nvPr/>
          </p:nvSpPr>
          <p:spPr>
            <a:xfrm>
              <a:off x="0" y="-19050"/>
              <a:ext cx="5581473" cy="668695"/>
            </a:xfrm>
            <a:prstGeom prst="rect">
              <a:avLst/>
            </a:prstGeom>
          </p:spPr>
          <p:txBody>
            <a:bodyPr anchor="ctr" rtlCol="false" tIns="50800" lIns="50800" bIns="50800" rIns="50800"/>
            <a:lstStyle/>
            <a:p>
              <a:pPr algn="ctr">
                <a:lnSpc>
                  <a:spcPts val="2640"/>
                </a:lnSpc>
              </a:pPr>
            </a:p>
          </p:txBody>
        </p:sp>
      </p:grpSp>
      <p:grpSp>
        <p:nvGrpSpPr>
          <p:cNvPr name="Group 10" id="10"/>
          <p:cNvGrpSpPr/>
          <p:nvPr/>
        </p:nvGrpSpPr>
        <p:grpSpPr>
          <a:xfrm rot="0">
            <a:off x="1167847" y="7336307"/>
            <a:ext cx="1065048" cy="1065048"/>
            <a:chOff x="0" y="0"/>
            <a:chExt cx="588434" cy="588434"/>
          </a:xfrm>
        </p:grpSpPr>
        <p:sp>
          <p:nvSpPr>
            <p:cNvPr name="Freeform 11" id="11"/>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2" id="12"/>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13" id="13"/>
          <p:cNvSpPr/>
          <p:nvPr/>
        </p:nvSpPr>
        <p:spPr>
          <a:xfrm flipH="false" flipV="false" rot="0">
            <a:off x="1482570" y="7626829"/>
            <a:ext cx="435602" cy="484002"/>
          </a:xfrm>
          <a:custGeom>
            <a:avLst/>
            <a:gdLst/>
            <a:ahLst/>
            <a:cxnLst/>
            <a:rect r="r" b="b" t="t" l="l"/>
            <a:pathLst>
              <a:path h="484002" w="435602">
                <a:moveTo>
                  <a:pt x="0" y="0"/>
                </a:moveTo>
                <a:lnTo>
                  <a:pt x="435602" y="0"/>
                </a:lnTo>
                <a:lnTo>
                  <a:pt x="435602" y="484003"/>
                </a:lnTo>
                <a:lnTo>
                  <a:pt x="0" y="4840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2667312" y="7911428"/>
            <a:ext cx="3855143" cy="255569"/>
          </a:xfrm>
          <a:prstGeom prst="rect">
            <a:avLst/>
          </a:prstGeom>
        </p:spPr>
        <p:txBody>
          <a:bodyPr anchor="t" rtlCol="false" tIns="0" lIns="0" bIns="0" rIns="0">
            <a:spAutoFit/>
          </a:bodyPr>
          <a:lstStyle/>
          <a:p>
            <a:pPr algn="l">
              <a:lnSpc>
                <a:spcPts val="1978"/>
              </a:lnSpc>
              <a:spcBef>
                <a:spcPct val="0"/>
              </a:spcBef>
            </a:pPr>
            <a:r>
              <a:rPr lang="en-US" sz="1648" b="true">
                <a:solidFill>
                  <a:srgbClr val="FFFFFF"/>
                </a:solidFill>
                <a:latin typeface="Poppins Medium"/>
                <a:ea typeface="Poppins Medium"/>
                <a:cs typeface="Poppins Medium"/>
                <a:sym typeface="Poppins Medium"/>
              </a:rPr>
              <a:t>Bill Timberlake &amp; Anthony Maynor</a:t>
            </a:r>
          </a:p>
        </p:txBody>
      </p:sp>
      <p:sp>
        <p:nvSpPr>
          <p:cNvPr name="AutoShape 15" id="15"/>
          <p:cNvSpPr/>
          <p:nvPr/>
        </p:nvSpPr>
        <p:spPr>
          <a:xfrm flipV="true">
            <a:off x="7276357" y="7420296"/>
            <a:ext cx="0" cy="934057"/>
          </a:xfrm>
          <a:prstGeom prst="line">
            <a:avLst/>
          </a:prstGeom>
          <a:ln cap="flat" w="9525">
            <a:solidFill>
              <a:srgbClr val="FFFFFF"/>
            </a:solidFill>
            <a:prstDash val="solid"/>
            <a:headEnd type="none" len="sm" w="sm"/>
            <a:tailEnd type="none" len="sm" w="sm"/>
          </a:ln>
        </p:spPr>
      </p:sp>
      <p:grpSp>
        <p:nvGrpSpPr>
          <p:cNvPr name="Group 16" id="16"/>
          <p:cNvGrpSpPr/>
          <p:nvPr/>
        </p:nvGrpSpPr>
        <p:grpSpPr>
          <a:xfrm rot="0">
            <a:off x="9744864" y="658615"/>
            <a:ext cx="8262254" cy="5246370"/>
            <a:chOff x="0" y="0"/>
            <a:chExt cx="2126626" cy="1350366"/>
          </a:xfrm>
        </p:grpSpPr>
        <p:sp>
          <p:nvSpPr>
            <p:cNvPr name="Freeform 17" id="17"/>
            <p:cNvSpPr/>
            <p:nvPr/>
          </p:nvSpPr>
          <p:spPr>
            <a:xfrm flipH="true" flipV="false" rot="0">
              <a:off x="0" y="0"/>
              <a:ext cx="2126626" cy="1350365"/>
            </a:xfrm>
            <a:custGeom>
              <a:avLst/>
              <a:gdLst/>
              <a:ahLst/>
              <a:cxnLst/>
              <a:rect r="r" b="b" t="t" l="l"/>
              <a:pathLst>
                <a:path h="1350365" w="2126626">
                  <a:moveTo>
                    <a:pt x="905372" y="1145304"/>
                  </a:moveTo>
                  <a:lnTo>
                    <a:pt x="61520" y="1145304"/>
                  </a:lnTo>
                  <a:cubicBezTo>
                    <a:pt x="45204" y="1145304"/>
                    <a:pt x="29556" y="1138823"/>
                    <a:pt x="18019" y="1127286"/>
                  </a:cubicBezTo>
                  <a:cubicBezTo>
                    <a:pt x="6482" y="1115749"/>
                    <a:pt x="0" y="1100101"/>
                    <a:pt x="0" y="1083785"/>
                  </a:cubicBezTo>
                  <a:lnTo>
                    <a:pt x="0" y="61519"/>
                  </a:lnTo>
                  <a:cubicBezTo>
                    <a:pt x="0" y="45203"/>
                    <a:pt x="6482" y="29555"/>
                    <a:pt x="18019" y="18018"/>
                  </a:cubicBezTo>
                  <a:cubicBezTo>
                    <a:pt x="29556" y="6481"/>
                    <a:pt x="45204" y="0"/>
                    <a:pt x="61520" y="0"/>
                  </a:cubicBezTo>
                  <a:lnTo>
                    <a:pt x="531166" y="0"/>
                  </a:lnTo>
                  <a:cubicBezTo>
                    <a:pt x="565142" y="0"/>
                    <a:pt x="592685" y="27543"/>
                    <a:pt x="592685" y="61519"/>
                  </a:cubicBezTo>
                  <a:cubicBezTo>
                    <a:pt x="592685" y="95495"/>
                    <a:pt x="620228" y="123038"/>
                    <a:pt x="654204" y="123038"/>
                  </a:cubicBezTo>
                  <a:lnTo>
                    <a:pt x="1273992" y="123038"/>
                  </a:lnTo>
                  <a:cubicBezTo>
                    <a:pt x="1307968" y="123038"/>
                    <a:pt x="1335510" y="150581"/>
                    <a:pt x="1335511" y="184556"/>
                  </a:cubicBezTo>
                  <a:lnTo>
                    <a:pt x="1335511" y="239239"/>
                  </a:lnTo>
                  <a:cubicBezTo>
                    <a:pt x="1335511" y="273215"/>
                    <a:pt x="1363054" y="300758"/>
                    <a:pt x="1397030" y="300758"/>
                  </a:cubicBezTo>
                  <a:lnTo>
                    <a:pt x="2065107" y="300758"/>
                  </a:lnTo>
                  <a:cubicBezTo>
                    <a:pt x="2081423" y="300758"/>
                    <a:pt x="2097071" y="307239"/>
                    <a:pt x="2108608" y="318776"/>
                  </a:cubicBezTo>
                  <a:cubicBezTo>
                    <a:pt x="2120145" y="330314"/>
                    <a:pt x="2126626" y="345962"/>
                    <a:pt x="2126626" y="362278"/>
                  </a:cubicBezTo>
                  <a:lnTo>
                    <a:pt x="2126626" y="1288846"/>
                  </a:lnTo>
                  <a:cubicBezTo>
                    <a:pt x="2126626" y="1322822"/>
                    <a:pt x="2099083" y="1350365"/>
                    <a:pt x="2065107" y="1350365"/>
                  </a:cubicBezTo>
                  <a:lnTo>
                    <a:pt x="1028406" y="1350365"/>
                  </a:lnTo>
                  <a:cubicBezTo>
                    <a:pt x="994430" y="1350365"/>
                    <a:pt x="966887" y="1322822"/>
                    <a:pt x="966887" y="1288846"/>
                  </a:cubicBezTo>
                  <a:lnTo>
                    <a:pt x="966887" y="1206823"/>
                  </a:lnTo>
                  <a:cubicBezTo>
                    <a:pt x="966887" y="1172849"/>
                    <a:pt x="939346" y="1145307"/>
                    <a:pt x="905372" y="1145304"/>
                  </a:cubicBezTo>
                  <a:close/>
                </a:path>
              </a:pathLst>
            </a:custGeom>
            <a:blipFill>
              <a:blip r:embed="rId7">
                <a:alphaModFix amt="77000"/>
              </a:blip>
              <a:stretch>
                <a:fillRect l="-4387" t="0" r="-4387" b="0"/>
              </a:stretch>
            </a:blipFill>
          </p:spPr>
        </p:sp>
      </p:grpSp>
      <p:sp>
        <p:nvSpPr>
          <p:cNvPr name="TextBox 18" id="18"/>
          <p:cNvSpPr txBox="true"/>
          <p:nvPr/>
        </p:nvSpPr>
        <p:spPr>
          <a:xfrm rot="0">
            <a:off x="1117385" y="942975"/>
            <a:ext cx="8026615"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Prov</a:t>
            </a:r>
            <a:r>
              <a:rPr lang="en-US" b="true" sz="5253">
                <a:solidFill>
                  <a:srgbClr val="F6F6F6"/>
                </a:solidFill>
                <a:latin typeface="Poppins Semi-Bold"/>
                <a:ea typeface="Poppins Semi-Bold"/>
                <a:cs typeface="Poppins Semi-Bold"/>
                <a:sym typeface="Poppins Semi-Bold"/>
              </a:rPr>
              <a:t>en Success Stories</a:t>
            </a:r>
          </a:p>
        </p:txBody>
      </p:sp>
      <p:sp>
        <p:nvSpPr>
          <p:cNvPr name="TextBox 19" id="19"/>
          <p:cNvSpPr txBox="true"/>
          <p:nvPr/>
        </p:nvSpPr>
        <p:spPr>
          <a:xfrm rot="0">
            <a:off x="2667312" y="7551615"/>
            <a:ext cx="3855143" cy="304835"/>
          </a:xfrm>
          <a:prstGeom prst="rect">
            <a:avLst/>
          </a:prstGeom>
        </p:spPr>
        <p:txBody>
          <a:bodyPr anchor="t" rtlCol="false" tIns="0" lIns="0" bIns="0" rIns="0">
            <a:spAutoFit/>
          </a:bodyPr>
          <a:lstStyle/>
          <a:p>
            <a:pPr algn="l">
              <a:lnSpc>
                <a:spcPts val="2277"/>
              </a:lnSpc>
              <a:spcBef>
                <a:spcPct val="0"/>
              </a:spcBef>
            </a:pPr>
            <a:r>
              <a:rPr lang="en-US" sz="1897" b="true">
                <a:solidFill>
                  <a:srgbClr val="FFFFFF"/>
                </a:solidFill>
                <a:latin typeface="Poppins Bold"/>
                <a:ea typeface="Poppins Bold"/>
                <a:cs typeface="Poppins Bold"/>
                <a:sym typeface="Poppins Bold"/>
              </a:rPr>
              <a:t>Customer</a:t>
            </a:r>
          </a:p>
        </p:txBody>
      </p:sp>
      <p:sp>
        <p:nvSpPr>
          <p:cNvPr name="TextBox 20" id="20"/>
          <p:cNvSpPr txBox="true"/>
          <p:nvPr/>
        </p:nvSpPr>
        <p:spPr>
          <a:xfrm rot="0">
            <a:off x="1117385" y="3243700"/>
            <a:ext cx="8026615" cy="2068830"/>
          </a:xfrm>
          <a:prstGeom prst="rect">
            <a:avLst/>
          </a:prstGeom>
        </p:spPr>
        <p:txBody>
          <a:bodyPr anchor="t" rtlCol="false" tIns="0" lIns="0" bIns="0" rIns="0">
            <a:spAutoFit/>
          </a:bodyPr>
          <a:lstStyle/>
          <a:p>
            <a:pPr algn="l" marL="0" indent="0" lvl="0">
              <a:lnSpc>
                <a:spcPts val="2730"/>
              </a:lnSpc>
              <a:spcBef>
                <a:spcPct val="0"/>
              </a:spcBef>
            </a:pPr>
            <a:r>
              <a:rPr lang="en-US" b="true" sz="2100" spc="35">
                <a:solidFill>
                  <a:srgbClr val="D9D9D9"/>
                </a:solidFill>
                <a:latin typeface="Poppins Medium"/>
                <a:ea typeface="Poppins Medium"/>
                <a:cs typeface="Poppins Medium"/>
                <a:sym typeface="Poppins Medium"/>
              </a:rPr>
              <a:t>“When I utilized the mapping system, the very first time, within one day of me doing some additional footwork and doing some targeted marketing, [I] secured about $5,000 in contracts in residential homes. One of those contracts was a former home builder who has continued to generate leads for me.” </a:t>
            </a:r>
          </a:p>
        </p:txBody>
      </p:sp>
      <p:sp>
        <p:nvSpPr>
          <p:cNvPr name="TextBox 21" id="21"/>
          <p:cNvSpPr txBox="true"/>
          <p:nvPr/>
        </p:nvSpPr>
        <p:spPr>
          <a:xfrm rot="0">
            <a:off x="1117385" y="2007357"/>
            <a:ext cx="8026615" cy="960118"/>
          </a:xfrm>
          <a:prstGeom prst="rect">
            <a:avLst/>
          </a:prstGeom>
        </p:spPr>
        <p:txBody>
          <a:bodyPr anchor="t" rtlCol="false" tIns="0" lIns="0" bIns="0" rIns="0">
            <a:spAutoFit/>
          </a:bodyPr>
          <a:lstStyle/>
          <a:p>
            <a:pPr algn="l">
              <a:lnSpc>
                <a:spcPts val="3780"/>
              </a:lnSpc>
            </a:pPr>
            <a:r>
              <a:rPr lang="en-US" sz="2700" b="true">
                <a:solidFill>
                  <a:srgbClr val="9CD7DB"/>
                </a:solidFill>
                <a:latin typeface="Poppins Bold"/>
                <a:ea typeface="Poppins Bold"/>
                <a:cs typeface="Poppins Bold"/>
                <a:sym typeface="Poppins Bold"/>
              </a:rPr>
              <a:t>Full video testimonial &amp; customer contact info available</a:t>
            </a:r>
          </a:p>
        </p:txBody>
      </p:sp>
      <p:sp>
        <p:nvSpPr>
          <p:cNvPr name="TextBox 22" id="22"/>
          <p:cNvSpPr txBox="true"/>
          <p:nvPr/>
        </p:nvSpPr>
        <p:spPr>
          <a:xfrm rot="0">
            <a:off x="7690670" y="7572690"/>
            <a:ext cx="4108389" cy="538943"/>
          </a:xfrm>
          <a:prstGeom prst="rect">
            <a:avLst/>
          </a:prstGeom>
        </p:spPr>
        <p:txBody>
          <a:bodyPr anchor="t" rtlCol="false" tIns="0" lIns="0" bIns="0" rIns="0">
            <a:spAutoFit/>
          </a:bodyPr>
          <a:lstStyle/>
          <a:p>
            <a:pPr algn="l">
              <a:lnSpc>
                <a:spcPts val="2159"/>
              </a:lnSpc>
            </a:pPr>
            <a:r>
              <a:rPr lang="en-US" sz="1648" b="true">
                <a:solidFill>
                  <a:srgbClr val="FFFFFF"/>
                </a:solidFill>
                <a:latin typeface="Poppins Bold"/>
                <a:ea typeface="Poppins Bold"/>
                <a:cs typeface="Poppins Bold"/>
                <a:sym typeface="Poppins Bold"/>
              </a:rPr>
              <a:t>Righ</a:t>
            </a:r>
            <a:r>
              <a:rPr lang="en-US" sz="1648" b="true">
                <a:solidFill>
                  <a:srgbClr val="FFFFFF"/>
                </a:solidFill>
                <a:latin typeface="Poppins Bold"/>
                <a:ea typeface="Poppins Bold"/>
                <a:cs typeface="Poppins Bold"/>
                <a:sym typeface="Poppins Bold"/>
              </a:rPr>
              <a:t>tTek HVAC Training, LLC &amp; Trane Trade Warriors | Apex, NC</a:t>
            </a:r>
          </a:p>
        </p:txBody>
      </p:sp>
      <p:sp>
        <p:nvSpPr>
          <p:cNvPr name="TextBox 23" id="23"/>
          <p:cNvSpPr txBox="true"/>
          <p:nvPr/>
        </p:nvSpPr>
        <p:spPr>
          <a:xfrm rot="0">
            <a:off x="1117385" y="5764015"/>
            <a:ext cx="8026615" cy="697230"/>
          </a:xfrm>
          <a:prstGeom prst="rect">
            <a:avLst/>
          </a:prstGeom>
        </p:spPr>
        <p:txBody>
          <a:bodyPr anchor="t" rtlCol="false" tIns="0" lIns="0" bIns="0" rIns="0">
            <a:spAutoFit/>
          </a:bodyPr>
          <a:lstStyle/>
          <a:p>
            <a:pPr algn="l" marL="0" indent="0" lvl="0">
              <a:lnSpc>
                <a:spcPts val="2730"/>
              </a:lnSpc>
              <a:spcBef>
                <a:spcPct val="0"/>
              </a:spcBef>
            </a:pPr>
            <a:r>
              <a:rPr lang="en-US" b="true" sz="2100" i="true" spc="35">
                <a:solidFill>
                  <a:srgbClr val="D9D9D9"/>
                </a:solidFill>
                <a:latin typeface="Poppins Medium Italics"/>
                <a:ea typeface="Poppins Medium Italics"/>
                <a:cs typeface="Poppins Medium Italics"/>
                <a:sym typeface="Poppins Medium Italics"/>
              </a:rPr>
              <a:t>Utilizes us for SEO, Social Media, FB Ads, website deanonymization, website management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86893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1480225"/>
            <a:ext cx="18288000" cy="5197539"/>
            <a:chOff x="0" y="0"/>
            <a:chExt cx="4816593" cy="1368899"/>
          </a:xfrm>
        </p:grpSpPr>
        <p:sp>
          <p:nvSpPr>
            <p:cNvPr name="Freeform 4" id="4"/>
            <p:cNvSpPr/>
            <p:nvPr/>
          </p:nvSpPr>
          <p:spPr>
            <a:xfrm flipH="false" flipV="false" rot="0">
              <a:off x="0" y="0"/>
              <a:ext cx="4816592" cy="1368899"/>
            </a:xfrm>
            <a:custGeom>
              <a:avLst/>
              <a:gdLst/>
              <a:ahLst/>
              <a:cxnLst/>
              <a:rect r="r" b="b" t="t" l="l"/>
              <a:pathLst>
                <a:path h="1368899" w="4816592">
                  <a:moveTo>
                    <a:pt x="0" y="0"/>
                  </a:moveTo>
                  <a:lnTo>
                    <a:pt x="4816592" y="0"/>
                  </a:lnTo>
                  <a:lnTo>
                    <a:pt x="4816592" y="1368899"/>
                  </a:lnTo>
                  <a:lnTo>
                    <a:pt x="0" y="1368899"/>
                  </a:lnTo>
                  <a:close/>
                </a:path>
              </a:pathLst>
            </a:custGeom>
            <a:gradFill rotWithShape="true">
              <a:gsLst>
                <a:gs pos="0">
                  <a:srgbClr val="000000">
                    <a:alpha val="0"/>
                  </a:srgbClr>
                </a:gs>
                <a:gs pos="50000">
                  <a:srgbClr val="000000">
                    <a:alpha val="100000"/>
                  </a:srgbClr>
                </a:gs>
                <a:gs pos="100000">
                  <a:srgbClr val="000000">
                    <a:alpha val="0"/>
                  </a:srgbClr>
                </a:gs>
              </a:gsLst>
              <a:lin ang="5400000"/>
            </a:gradFill>
          </p:spPr>
        </p:sp>
        <p:sp>
          <p:nvSpPr>
            <p:cNvPr name="TextBox 5" id="5"/>
            <p:cNvSpPr txBox="true"/>
            <p:nvPr/>
          </p:nvSpPr>
          <p:spPr>
            <a:xfrm>
              <a:off x="0" y="-19050"/>
              <a:ext cx="4816593" cy="1387949"/>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true" rot="0">
            <a:off x="6986535" y="6677764"/>
            <a:ext cx="1191942" cy="418263"/>
          </a:xfrm>
          <a:custGeom>
            <a:avLst/>
            <a:gdLst/>
            <a:ahLst/>
            <a:cxnLst/>
            <a:rect r="r" b="b" t="t" l="l"/>
            <a:pathLst>
              <a:path h="418263" w="1191942">
                <a:moveTo>
                  <a:pt x="0" y="418263"/>
                </a:moveTo>
                <a:lnTo>
                  <a:pt x="1191942" y="418263"/>
                </a:lnTo>
                <a:lnTo>
                  <a:pt x="1191942" y="0"/>
                </a:lnTo>
                <a:lnTo>
                  <a:pt x="0" y="0"/>
                </a:lnTo>
                <a:lnTo>
                  <a:pt x="0" y="418263"/>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8011363" y="6795137"/>
            <a:ext cx="5665712" cy="1175837"/>
            <a:chOff x="0" y="0"/>
            <a:chExt cx="3130281" cy="649645"/>
          </a:xfrm>
        </p:grpSpPr>
        <p:sp>
          <p:nvSpPr>
            <p:cNvPr name="Freeform 8" id="8"/>
            <p:cNvSpPr/>
            <p:nvPr/>
          </p:nvSpPr>
          <p:spPr>
            <a:xfrm flipH="false" flipV="false" rot="0">
              <a:off x="0" y="0"/>
              <a:ext cx="3130281" cy="649645"/>
            </a:xfrm>
            <a:custGeom>
              <a:avLst/>
              <a:gdLst/>
              <a:ahLst/>
              <a:cxnLst/>
              <a:rect r="r" b="b" t="t" l="l"/>
              <a:pathLst>
                <a:path h="649645" w="3130281">
                  <a:moveTo>
                    <a:pt x="31428" y="0"/>
                  </a:moveTo>
                  <a:lnTo>
                    <a:pt x="3098853" y="0"/>
                  </a:lnTo>
                  <a:cubicBezTo>
                    <a:pt x="3116210" y="0"/>
                    <a:pt x="3130281" y="14071"/>
                    <a:pt x="3130281" y="31428"/>
                  </a:cubicBezTo>
                  <a:lnTo>
                    <a:pt x="3130281" y="618216"/>
                  </a:lnTo>
                  <a:cubicBezTo>
                    <a:pt x="3130281" y="626552"/>
                    <a:pt x="3126970" y="634546"/>
                    <a:pt x="3121076" y="640440"/>
                  </a:cubicBezTo>
                  <a:cubicBezTo>
                    <a:pt x="3115182" y="646334"/>
                    <a:pt x="3107188" y="649645"/>
                    <a:pt x="3098853" y="649645"/>
                  </a:cubicBezTo>
                  <a:lnTo>
                    <a:pt x="31428" y="649645"/>
                  </a:lnTo>
                  <a:cubicBezTo>
                    <a:pt x="14071" y="649645"/>
                    <a:pt x="0" y="635574"/>
                    <a:pt x="0" y="618216"/>
                  </a:cubicBezTo>
                  <a:lnTo>
                    <a:pt x="0" y="31428"/>
                  </a:lnTo>
                  <a:cubicBezTo>
                    <a:pt x="0" y="14071"/>
                    <a:pt x="14071" y="0"/>
                    <a:pt x="31428" y="0"/>
                  </a:cubicBezTo>
                  <a:close/>
                </a:path>
              </a:pathLst>
            </a:custGeom>
            <a:solidFill>
              <a:srgbClr val="A0EEEB">
                <a:alpha val="40784"/>
              </a:srgbClr>
            </a:solidFill>
            <a:ln w="85725" cap="rnd">
              <a:solidFill>
                <a:srgbClr val="A0EEEB">
                  <a:alpha val="40784"/>
                </a:srgbClr>
              </a:solidFill>
              <a:prstDash val="solid"/>
              <a:round/>
            </a:ln>
          </p:spPr>
        </p:sp>
        <p:sp>
          <p:nvSpPr>
            <p:cNvPr name="TextBox 9" id="9"/>
            <p:cNvSpPr txBox="true"/>
            <p:nvPr/>
          </p:nvSpPr>
          <p:spPr>
            <a:xfrm>
              <a:off x="0" y="-19050"/>
              <a:ext cx="3130281" cy="668695"/>
            </a:xfrm>
            <a:prstGeom prst="rect">
              <a:avLst/>
            </a:prstGeom>
          </p:spPr>
          <p:txBody>
            <a:bodyPr anchor="ctr" rtlCol="false" tIns="50800" lIns="50800" bIns="50800" rIns="50800"/>
            <a:lstStyle/>
            <a:p>
              <a:pPr algn="ctr">
                <a:lnSpc>
                  <a:spcPts val="2640"/>
                </a:lnSpc>
              </a:pPr>
            </a:p>
          </p:txBody>
        </p:sp>
      </p:grpSp>
      <p:grpSp>
        <p:nvGrpSpPr>
          <p:cNvPr name="Group 10" id="10"/>
          <p:cNvGrpSpPr/>
          <p:nvPr/>
        </p:nvGrpSpPr>
        <p:grpSpPr>
          <a:xfrm rot="0">
            <a:off x="7125682" y="6850532"/>
            <a:ext cx="1065048" cy="1065048"/>
            <a:chOff x="0" y="0"/>
            <a:chExt cx="588434" cy="588434"/>
          </a:xfrm>
        </p:grpSpPr>
        <p:sp>
          <p:nvSpPr>
            <p:cNvPr name="Freeform 11" id="11"/>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2" id="12"/>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13" id="13"/>
          <p:cNvSpPr/>
          <p:nvPr/>
        </p:nvSpPr>
        <p:spPr>
          <a:xfrm flipH="false" flipV="false" rot="0">
            <a:off x="7440404" y="7141054"/>
            <a:ext cx="435602" cy="484002"/>
          </a:xfrm>
          <a:custGeom>
            <a:avLst/>
            <a:gdLst/>
            <a:ahLst/>
            <a:cxnLst/>
            <a:rect r="r" b="b" t="t" l="l"/>
            <a:pathLst>
              <a:path h="484002" w="435602">
                <a:moveTo>
                  <a:pt x="0" y="0"/>
                </a:moveTo>
                <a:lnTo>
                  <a:pt x="435603" y="0"/>
                </a:lnTo>
                <a:lnTo>
                  <a:pt x="435603" y="484003"/>
                </a:lnTo>
                <a:lnTo>
                  <a:pt x="0" y="4840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387303" y="778923"/>
            <a:ext cx="6351015" cy="7848514"/>
            <a:chOff x="0" y="0"/>
            <a:chExt cx="1460623" cy="1805022"/>
          </a:xfrm>
        </p:grpSpPr>
        <p:sp>
          <p:nvSpPr>
            <p:cNvPr name="Freeform 15" id="15"/>
            <p:cNvSpPr/>
            <p:nvPr/>
          </p:nvSpPr>
          <p:spPr>
            <a:xfrm flipH="false" flipV="false" rot="0">
              <a:off x="0" y="0"/>
              <a:ext cx="1460629" cy="1805022"/>
            </a:xfrm>
            <a:custGeom>
              <a:avLst/>
              <a:gdLst/>
              <a:ahLst/>
              <a:cxnLst/>
              <a:rect r="r" b="b" t="t" l="l"/>
              <a:pathLst>
                <a:path h="1805022" w="1460629">
                  <a:moveTo>
                    <a:pt x="1460627" y="1189424"/>
                  </a:moveTo>
                  <a:lnTo>
                    <a:pt x="1460627" y="561989"/>
                  </a:lnTo>
                  <a:cubicBezTo>
                    <a:pt x="1460629" y="522853"/>
                    <a:pt x="1446205" y="485089"/>
                    <a:pt x="1420114" y="455919"/>
                  </a:cubicBezTo>
                  <a:lnTo>
                    <a:pt x="1046362" y="38122"/>
                  </a:lnTo>
                  <a:cubicBezTo>
                    <a:pt x="1024662" y="13865"/>
                    <a:pt x="993657" y="0"/>
                    <a:pt x="961111" y="0"/>
                  </a:cubicBezTo>
                  <a:lnTo>
                    <a:pt x="114384" y="0"/>
                  </a:lnTo>
                  <a:cubicBezTo>
                    <a:pt x="51211" y="0"/>
                    <a:pt x="0" y="51211"/>
                    <a:pt x="0" y="114384"/>
                  </a:cubicBezTo>
                  <a:lnTo>
                    <a:pt x="0" y="501214"/>
                  </a:lnTo>
                  <a:lnTo>
                    <a:pt x="0" y="1234766"/>
                  </a:lnTo>
                  <a:cubicBezTo>
                    <a:pt x="0" y="1279232"/>
                    <a:pt x="16390" y="1322137"/>
                    <a:pt x="46036" y="1355277"/>
                  </a:cubicBezTo>
                  <a:lnTo>
                    <a:pt x="414263" y="1766900"/>
                  </a:lnTo>
                  <a:cubicBezTo>
                    <a:pt x="435962" y="1791157"/>
                    <a:pt x="466967" y="1805022"/>
                    <a:pt x="499514" y="1805022"/>
                  </a:cubicBezTo>
                  <a:lnTo>
                    <a:pt x="944739" y="1805022"/>
                  </a:lnTo>
                  <a:cubicBezTo>
                    <a:pt x="975076" y="1805022"/>
                    <a:pt x="1004170" y="1792971"/>
                    <a:pt x="1025621" y="1771520"/>
                  </a:cubicBezTo>
                  <a:cubicBezTo>
                    <a:pt x="1047073" y="1750069"/>
                    <a:pt x="1059124" y="1720975"/>
                    <a:pt x="1059124" y="1690638"/>
                  </a:cubicBezTo>
                  <a:lnTo>
                    <a:pt x="1059124" y="1418193"/>
                  </a:lnTo>
                  <a:cubicBezTo>
                    <a:pt x="1059124" y="1355019"/>
                    <a:pt x="1110336" y="1303808"/>
                    <a:pt x="1173509" y="1303808"/>
                  </a:cubicBezTo>
                  <a:lnTo>
                    <a:pt x="1346241" y="1303808"/>
                  </a:lnTo>
                  <a:cubicBezTo>
                    <a:pt x="1376578" y="1303808"/>
                    <a:pt x="1405672" y="1291757"/>
                    <a:pt x="1427124" y="1270306"/>
                  </a:cubicBezTo>
                  <a:cubicBezTo>
                    <a:pt x="1448576" y="1248855"/>
                    <a:pt x="1460627" y="1219761"/>
                    <a:pt x="1460627" y="1189424"/>
                  </a:cubicBezTo>
                  <a:close/>
                </a:path>
              </a:pathLst>
            </a:custGeom>
            <a:blipFill>
              <a:blip r:embed="rId7">
                <a:alphaModFix amt="85000"/>
              </a:blip>
              <a:stretch>
                <a:fillRect l="0" t="-23315" r="0" b="-6415"/>
              </a:stretch>
            </a:blipFill>
          </p:spPr>
        </p:sp>
      </p:grpSp>
      <p:sp>
        <p:nvSpPr>
          <p:cNvPr name="TextBox 16" id="16"/>
          <p:cNvSpPr txBox="true"/>
          <p:nvPr/>
        </p:nvSpPr>
        <p:spPr>
          <a:xfrm rot="0">
            <a:off x="6986535" y="1763379"/>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Prov</a:t>
            </a:r>
            <a:r>
              <a:rPr lang="en-US" b="true" sz="5253">
                <a:solidFill>
                  <a:srgbClr val="F6F6F6"/>
                </a:solidFill>
                <a:latin typeface="Poppins Semi-Bold"/>
                <a:ea typeface="Poppins Semi-Bold"/>
                <a:cs typeface="Poppins Semi-Bold"/>
                <a:sym typeface="Poppins Semi-Bold"/>
              </a:rPr>
              <a:t>en Success Stories</a:t>
            </a:r>
          </a:p>
        </p:txBody>
      </p:sp>
      <p:sp>
        <p:nvSpPr>
          <p:cNvPr name="TextBox 17" id="17"/>
          <p:cNvSpPr txBox="true"/>
          <p:nvPr/>
        </p:nvSpPr>
        <p:spPr>
          <a:xfrm rot="0">
            <a:off x="8531324" y="6905946"/>
            <a:ext cx="3855143" cy="304835"/>
          </a:xfrm>
          <a:prstGeom prst="rect">
            <a:avLst/>
          </a:prstGeom>
        </p:spPr>
        <p:txBody>
          <a:bodyPr anchor="t" rtlCol="false" tIns="0" lIns="0" bIns="0" rIns="0">
            <a:spAutoFit/>
          </a:bodyPr>
          <a:lstStyle/>
          <a:p>
            <a:pPr algn="l">
              <a:lnSpc>
                <a:spcPts val="2277"/>
              </a:lnSpc>
              <a:spcBef>
                <a:spcPct val="0"/>
              </a:spcBef>
            </a:pPr>
            <a:r>
              <a:rPr lang="en-US" sz="1897" b="true">
                <a:solidFill>
                  <a:srgbClr val="FFFFFF"/>
                </a:solidFill>
                <a:latin typeface="Poppins Bold"/>
                <a:ea typeface="Poppins Bold"/>
                <a:cs typeface="Poppins Bold"/>
                <a:sym typeface="Poppins Bold"/>
              </a:rPr>
              <a:t>Customer</a:t>
            </a:r>
          </a:p>
        </p:txBody>
      </p:sp>
      <p:sp>
        <p:nvSpPr>
          <p:cNvPr name="TextBox 18" id="18"/>
          <p:cNvSpPr txBox="true"/>
          <p:nvPr/>
        </p:nvSpPr>
        <p:spPr>
          <a:xfrm rot="0">
            <a:off x="8531324" y="7265759"/>
            <a:ext cx="6336911" cy="747657"/>
          </a:xfrm>
          <a:prstGeom prst="rect">
            <a:avLst/>
          </a:prstGeom>
        </p:spPr>
        <p:txBody>
          <a:bodyPr anchor="t" rtlCol="false" tIns="0" lIns="0" bIns="0" rIns="0">
            <a:spAutoFit/>
          </a:bodyPr>
          <a:lstStyle/>
          <a:p>
            <a:pPr algn="l">
              <a:lnSpc>
                <a:spcPts val="1978"/>
              </a:lnSpc>
            </a:pPr>
            <a:r>
              <a:rPr lang="en-US" sz="1648" b="true">
                <a:solidFill>
                  <a:srgbClr val="FFFFFF"/>
                </a:solidFill>
                <a:latin typeface="Poppins Medium"/>
                <a:ea typeface="Poppins Medium"/>
                <a:cs typeface="Poppins Medium"/>
                <a:sym typeface="Poppins Medium"/>
              </a:rPr>
              <a:t>Ben Wirth</a:t>
            </a:r>
          </a:p>
          <a:p>
            <a:pPr algn="l">
              <a:lnSpc>
                <a:spcPts val="1978"/>
              </a:lnSpc>
            </a:pPr>
            <a:r>
              <a:rPr lang="en-US" sz="1648" b="true">
                <a:solidFill>
                  <a:srgbClr val="FFFFFF"/>
                </a:solidFill>
                <a:latin typeface="Poppins Medium"/>
                <a:ea typeface="Poppins Medium"/>
                <a:cs typeface="Poppins Medium"/>
                <a:sym typeface="Poppins Medium"/>
              </a:rPr>
              <a:t>Worth It Exterior Cleaning | Portland, Oregon</a:t>
            </a:r>
          </a:p>
          <a:p>
            <a:pPr algn="l">
              <a:lnSpc>
                <a:spcPts val="1978"/>
              </a:lnSpc>
              <a:spcBef>
                <a:spcPct val="0"/>
              </a:spcBef>
            </a:pPr>
          </a:p>
        </p:txBody>
      </p:sp>
      <p:sp>
        <p:nvSpPr>
          <p:cNvPr name="TextBox 19" id="19"/>
          <p:cNvSpPr txBox="true"/>
          <p:nvPr/>
        </p:nvSpPr>
        <p:spPr>
          <a:xfrm rot="0">
            <a:off x="6986535" y="3530704"/>
            <a:ext cx="10098502" cy="1040130"/>
          </a:xfrm>
          <a:prstGeom prst="rect">
            <a:avLst/>
          </a:prstGeom>
        </p:spPr>
        <p:txBody>
          <a:bodyPr anchor="t" rtlCol="false" tIns="0" lIns="0" bIns="0" rIns="0">
            <a:spAutoFit/>
          </a:bodyPr>
          <a:lstStyle/>
          <a:p>
            <a:pPr algn="l">
              <a:lnSpc>
                <a:spcPts val="2730"/>
              </a:lnSpc>
            </a:pPr>
            <a:r>
              <a:rPr lang="en-US" b="true" sz="2100" spc="35">
                <a:solidFill>
                  <a:srgbClr val="D9D9D9"/>
                </a:solidFill>
                <a:latin typeface="Poppins Medium"/>
                <a:ea typeface="Poppins Medium"/>
                <a:cs typeface="Poppins Medium"/>
                <a:sym typeface="Poppins Medium"/>
              </a:rPr>
              <a:t>Ben used 5-6 marketing agencies previous to ByteBlink AI</a:t>
            </a:r>
          </a:p>
          <a:p>
            <a:pPr algn="l">
              <a:lnSpc>
                <a:spcPts val="2730"/>
              </a:lnSpc>
            </a:pPr>
            <a:r>
              <a:rPr lang="en-US" b="true" sz="2100" spc="35">
                <a:solidFill>
                  <a:srgbClr val="D9D9D9"/>
                </a:solidFill>
                <a:latin typeface="Poppins Medium"/>
                <a:ea typeface="Poppins Medium"/>
                <a:cs typeface="Poppins Medium"/>
                <a:sym typeface="Poppins Medium"/>
              </a:rPr>
              <a:t>Within the first 2 weeks he received more calls than he ever has</a:t>
            </a:r>
          </a:p>
          <a:p>
            <a:pPr algn="l">
              <a:lnSpc>
                <a:spcPts val="2730"/>
              </a:lnSpc>
            </a:pPr>
            <a:r>
              <a:rPr lang="en-US" b="true" sz="2100" spc="35">
                <a:solidFill>
                  <a:srgbClr val="D9D9D9"/>
                </a:solidFill>
                <a:latin typeface="Poppins Medium"/>
                <a:ea typeface="Poppins Medium"/>
                <a:cs typeface="Poppins Medium"/>
                <a:sym typeface="Poppins Medium"/>
              </a:rPr>
              <a:t>Currently using maps and sending out a team</a:t>
            </a:r>
          </a:p>
        </p:txBody>
      </p:sp>
      <p:sp>
        <p:nvSpPr>
          <p:cNvPr name="TextBox 20" id="20"/>
          <p:cNvSpPr txBox="true"/>
          <p:nvPr/>
        </p:nvSpPr>
        <p:spPr>
          <a:xfrm rot="0">
            <a:off x="6986535" y="2827761"/>
            <a:ext cx="10237649" cy="483868"/>
          </a:xfrm>
          <a:prstGeom prst="rect">
            <a:avLst/>
          </a:prstGeom>
        </p:spPr>
        <p:txBody>
          <a:bodyPr anchor="t" rtlCol="false" tIns="0" lIns="0" bIns="0" rIns="0">
            <a:spAutoFit/>
          </a:bodyPr>
          <a:lstStyle/>
          <a:p>
            <a:pPr algn="l">
              <a:lnSpc>
                <a:spcPts val="3780"/>
              </a:lnSpc>
            </a:pPr>
            <a:r>
              <a:rPr lang="en-US" sz="2700" b="true">
                <a:solidFill>
                  <a:srgbClr val="9CD7DB"/>
                </a:solidFill>
                <a:latin typeface="Poppins Bold"/>
                <a:ea typeface="Poppins Bold"/>
                <a:cs typeface="Poppins Bold"/>
                <a:sym typeface="Poppins Bold"/>
              </a:rPr>
              <a:t>Full video testimonial available</a:t>
            </a:r>
          </a:p>
        </p:txBody>
      </p:sp>
      <p:sp>
        <p:nvSpPr>
          <p:cNvPr name="TextBox 21" id="21"/>
          <p:cNvSpPr txBox="true"/>
          <p:nvPr/>
        </p:nvSpPr>
        <p:spPr>
          <a:xfrm rot="0">
            <a:off x="6986535" y="5361409"/>
            <a:ext cx="10098502" cy="697230"/>
          </a:xfrm>
          <a:prstGeom prst="rect">
            <a:avLst/>
          </a:prstGeom>
        </p:spPr>
        <p:txBody>
          <a:bodyPr anchor="t" rtlCol="false" tIns="0" lIns="0" bIns="0" rIns="0">
            <a:spAutoFit/>
          </a:bodyPr>
          <a:lstStyle/>
          <a:p>
            <a:pPr algn="l" marL="0" indent="0" lvl="0">
              <a:lnSpc>
                <a:spcPts val="2730"/>
              </a:lnSpc>
              <a:spcBef>
                <a:spcPct val="0"/>
              </a:spcBef>
            </a:pPr>
            <a:r>
              <a:rPr lang="en-US" b="true" sz="2100" i="true" spc="35">
                <a:solidFill>
                  <a:srgbClr val="D9D9D9"/>
                </a:solidFill>
                <a:latin typeface="Poppins Medium Italics"/>
                <a:ea typeface="Poppins Medium Italics"/>
                <a:cs typeface="Poppins Medium Italics"/>
                <a:sym typeface="Poppins Medium Italics"/>
              </a:rPr>
              <a:t>Utilizes us for SEO, Google Ads, FB Ads, website deanonymization, website management, and maps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86893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1480225"/>
            <a:ext cx="18288000" cy="5197539"/>
            <a:chOff x="0" y="0"/>
            <a:chExt cx="4816593" cy="1368899"/>
          </a:xfrm>
        </p:grpSpPr>
        <p:sp>
          <p:nvSpPr>
            <p:cNvPr name="Freeform 4" id="4"/>
            <p:cNvSpPr/>
            <p:nvPr/>
          </p:nvSpPr>
          <p:spPr>
            <a:xfrm flipH="false" flipV="false" rot="0">
              <a:off x="0" y="0"/>
              <a:ext cx="4816592" cy="1368899"/>
            </a:xfrm>
            <a:custGeom>
              <a:avLst/>
              <a:gdLst/>
              <a:ahLst/>
              <a:cxnLst/>
              <a:rect r="r" b="b" t="t" l="l"/>
              <a:pathLst>
                <a:path h="1368899" w="4816592">
                  <a:moveTo>
                    <a:pt x="0" y="0"/>
                  </a:moveTo>
                  <a:lnTo>
                    <a:pt x="4816592" y="0"/>
                  </a:lnTo>
                  <a:lnTo>
                    <a:pt x="4816592" y="1368899"/>
                  </a:lnTo>
                  <a:lnTo>
                    <a:pt x="0" y="1368899"/>
                  </a:lnTo>
                  <a:close/>
                </a:path>
              </a:pathLst>
            </a:custGeom>
            <a:gradFill rotWithShape="true">
              <a:gsLst>
                <a:gs pos="0">
                  <a:srgbClr val="000000">
                    <a:alpha val="0"/>
                  </a:srgbClr>
                </a:gs>
                <a:gs pos="50000">
                  <a:srgbClr val="000000">
                    <a:alpha val="100000"/>
                  </a:srgbClr>
                </a:gs>
                <a:gs pos="100000">
                  <a:srgbClr val="000000">
                    <a:alpha val="0"/>
                  </a:srgbClr>
                </a:gs>
              </a:gsLst>
              <a:lin ang="5400000"/>
            </a:gradFill>
          </p:spPr>
        </p:sp>
        <p:sp>
          <p:nvSpPr>
            <p:cNvPr name="TextBox 5" id="5"/>
            <p:cNvSpPr txBox="true"/>
            <p:nvPr/>
          </p:nvSpPr>
          <p:spPr>
            <a:xfrm>
              <a:off x="0" y="-19050"/>
              <a:ext cx="4816593" cy="1387949"/>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true" rot="0">
            <a:off x="6986535" y="5342113"/>
            <a:ext cx="1191942" cy="418263"/>
          </a:xfrm>
          <a:custGeom>
            <a:avLst/>
            <a:gdLst/>
            <a:ahLst/>
            <a:cxnLst/>
            <a:rect r="r" b="b" t="t" l="l"/>
            <a:pathLst>
              <a:path h="418263" w="1191942">
                <a:moveTo>
                  <a:pt x="0" y="418263"/>
                </a:moveTo>
                <a:lnTo>
                  <a:pt x="1191942" y="418263"/>
                </a:lnTo>
                <a:lnTo>
                  <a:pt x="1191942" y="0"/>
                </a:lnTo>
                <a:lnTo>
                  <a:pt x="0" y="0"/>
                </a:lnTo>
                <a:lnTo>
                  <a:pt x="0" y="418263"/>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8011363" y="5459486"/>
            <a:ext cx="5665712" cy="1175837"/>
            <a:chOff x="0" y="0"/>
            <a:chExt cx="3130281" cy="649645"/>
          </a:xfrm>
        </p:grpSpPr>
        <p:sp>
          <p:nvSpPr>
            <p:cNvPr name="Freeform 8" id="8"/>
            <p:cNvSpPr/>
            <p:nvPr/>
          </p:nvSpPr>
          <p:spPr>
            <a:xfrm flipH="false" flipV="false" rot="0">
              <a:off x="0" y="0"/>
              <a:ext cx="3130281" cy="649645"/>
            </a:xfrm>
            <a:custGeom>
              <a:avLst/>
              <a:gdLst/>
              <a:ahLst/>
              <a:cxnLst/>
              <a:rect r="r" b="b" t="t" l="l"/>
              <a:pathLst>
                <a:path h="649645" w="3130281">
                  <a:moveTo>
                    <a:pt x="31428" y="0"/>
                  </a:moveTo>
                  <a:lnTo>
                    <a:pt x="3098853" y="0"/>
                  </a:lnTo>
                  <a:cubicBezTo>
                    <a:pt x="3116210" y="0"/>
                    <a:pt x="3130281" y="14071"/>
                    <a:pt x="3130281" y="31428"/>
                  </a:cubicBezTo>
                  <a:lnTo>
                    <a:pt x="3130281" y="618216"/>
                  </a:lnTo>
                  <a:cubicBezTo>
                    <a:pt x="3130281" y="626552"/>
                    <a:pt x="3126970" y="634546"/>
                    <a:pt x="3121076" y="640440"/>
                  </a:cubicBezTo>
                  <a:cubicBezTo>
                    <a:pt x="3115182" y="646334"/>
                    <a:pt x="3107188" y="649645"/>
                    <a:pt x="3098853" y="649645"/>
                  </a:cubicBezTo>
                  <a:lnTo>
                    <a:pt x="31428" y="649645"/>
                  </a:lnTo>
                  <a:cubicBezTo>
                    <a:pt x="14071" y="649645"/>
                    <a:pt x="0" y="635574"/>
                    <a:pt x="0" y="618216"/>
                  </a:cubicBezTo>
                  <a:lnTo>
                    <a:pt x="0" y="31428"/>
                  </a:lnTo>
                  <a:cubicBezTo>
                    <a:pt x="0" y="14071"/>
                    <a:pt x="14071" y="0"/>
                    <a:pt x="31428" y="0"/>
                  </a:cubicBezTo>
                  <a:close/>
                </a:path>
              </a:pathLst>
            </a:custGeom>
            <a:solidFill>
              <a:srgbClr val="A0EEEB">
                <a:alpha val="40784"/>
              </a:srgbClr>
            </a:solidFill>
            <a:ln w="85725" cap="rnd">
              <a:solidFill>
                <a:srgbClr val="A0EEEB">
                  <a:alpha val="40784"/>
                </a:srgbClr>
              </a:solidFill>
              <a:prstDash val="solid"/>
              <a:round/>
            </a:ln>
          </p:spPr>
        </p:sp>
        <p:sp>
          <p:nvSpPr>
            <p:cNvPr name="TextBox 9" id="9"/>
            <p:cNvSpPr txBox="true"/>
            <p:nvPr/>
          </p:nvSpPr>
          <p:spPr>
            <a:xfrm>
              <a:off x="0" y="-19050"/>
              <a:ext cx="3130281" cy="668695"/>
            </a:xfrm>
            <a:prstGeom prst="rect">
              <a:avLst/>
            </a:prstGeom>
          </p:spPr>
          <p:txBody>
            <a:bodyPr anchor="ctr" rtlCol="false" tIns="50800" lIns="50800" bIns="50800" rIns="50800"/>
            <a:lstStyle/>
            <a:p>
              <a:pPr algn="ctr">
                <a:lnSpc>
                  <a:spcPts val="2640"/>
                </a:lnSpc>
              </a:pPr>
            </a:p>
          </p:txBody>
        </p:sp>
      </p:grpSp>
      <p:grpSp>
        <p:nvGrpSpPr>
          <p:cNvPr name="Group 10" id="10"/>
          <p:cNvGrpSpPr/>
          <p:nvPr/>
        </p:nvGrpSpPr>
        <p:grpSpPr>
          <a:xfrm rot="0">
            <a:off x="7125682" y="5514880"/>
            <a:ext cx="1065048" cy="1065048"/>
            <a:chOff x="0" y="0"/>
            <a:chExt cx="588434" cy="588434"/>
          </a:xfrm>
        </p:grpSpPr>
        <p:sp>
          <p:nvSpPr>
            <p:cNvPr name="Freeform 11" id="11"/>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2" id="12"/>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13" id="13"/>
          <p:cNvSpPr/>
          <p:nvPr/>
        </p:nvSpPr>
        <p:spPr>
          <a:xfrm flipH="false" flipV="false" rot="0">
            <a:off x="7440404" y="5805403"/>
            <a:ext cx="435602" cy="484002"/>
          </a:xfrm>
          <a:custGeom>
            <a:avLst/>
            <a:gdLst/>
            <a:ahLst/>
            <a:cxnLst/>
            <a:rect r="r" b="b" t="t" l="l"/>
            <a:pathLst>
              <a:path h="484002" w="435602">
                <a:moveTo>
                  <a:pt x="0" y="0"/>
                </a:moveTo>
                <a:lnTo>
                  <a:pt x="435603" y="0"/>
                </a:lnTo>
                <a:lnTo>
                  <a:pt x="435603" y="484002"/>
                </a:lnTo>
                <a:lnTo>
                  <a:pt x="0" y="4840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6986535" y="1763379"/>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Prov</a:t>
            </a:r>
            <a:r>
              <a:rPr lang="en-US" b="true" sz="5253">
                <a:solidFill>
                  <a:srgbClr val="F6F6F6"/>
                </a:solidFill>
                <a:latin typeface="Poppins Semi-Bold"/>
                <a:ea typeface="Poppins Semi-Bold"/>
                <a:cs typeface="Poppins Semi-Bold"/>
                <a:sym typeface="Poppins Semi-Bold"/>
              </a:rPr>
              <a:t>en Success Stories</a:t>
            </a:r>
          </a:p>
        </p:txBody>
      </p:sp>
      <p:sp>
        <p:nvSpPr>
          <p:cNvPr name="TextBox 15" id="15"/>
          <p:cNvSpPr txBox="true"/>
          <p:nvPr/>
        </p:nvSpPr>
        <p:spPr>
          <a:xfrm rot="0">
            <a:off x="8531324" y="5570294"/>
            <a:ext cx="3855143" cy="304835"/>
          </a:xfrm>
          <a:prstGeom prst="rect">
            <a:avLst/>
          </a:prstGeom>
        </p:spPr>
        <p:txBody>
          <a:bodyPr anchor="t" rtlCol="false" tIns="0" lIns="0" bIns="0" rIns="0">
            <a:spAutoFit/>
          </a:bodyPr>
          <a:lstStyle/>
          <a:p>
            <a:pPr algn="l">
              <a:lnSpc>
                <a:spcPts val="2277"/>
              </a:lnSpc>
              <a:spcBef>
                <a:spcPct val="0"/>
              </a:spcBef>
            </a:pPr>
            <a:r>
              <a:rPr lang="en-US" sz="1897" b="true">
                <a:solidFill>
                  <a:srgbClr val="FFFFFF"/>
                </a:solidFill>
                <a:latin typeface="Poppins Bold"/>
                <a:ea typeface="Poppins Bold"/>
                <a:cs typeface="Poppins Bold"/>
                <a:sym typeface="Poppins Bold"/>
              </a:rPr>
              <a:t>Customer</a:t>
            </a:r>
          </a:p>
        </p:txBody>
      </p:sp>
      <p:sp>
        <p:nvSpPr>
          <p:cNvPr name="TextBox 16" id="16"/>
          <p:cNvSpPr txBox="true"/>
          <p:nvPr/>
        </p:nvSpPr>
        <p:spPr>
          <a:xfrm rot="0">
            <a:off x="8531324" y="5930107"/>
            <a:ext cx="6336911" cy="747657"/>
          </a:xfrm>
          <a:prstGeom prst="rect">
            <a:avLst/>
          </a:prstGeom>
        </p:spPr>
        <p:txBody>
          <a:bodyPr anchor="t" rtlCol="false" tIns="0" lIns="0" bIns="0" rIns="0">
            <a:spAutoFit/>
          </a:bodyPr>
          <a:lstStyle/>
          <a:p>
            <a:pPr algn="l">
              <a:lnSpc>
                <a:spcPts val="1978"/>
              </a:lnSpc>
            </a:pPr>
            <a:r>
              <a:rPr lang="en-US" sz="1648" b="true">
                <a:solidFill>
                  <a:srgbClr val="FFFFFF"/>
                </a:solidFill>
                <a:latin typeface="Poppins Medium"/>
                <a:ea typeface="Poppins Medium"/>
                <a:cs typeface="Poppins Medium"/>
                <a:sym typeface="Poppins Medium"/>
              </a:rPr>
              <a:t>Alfredo M. </a:t>
            </a:r>
          </a:p>
          <a:p>
            <a:pPr algn="l">
              <a:lnSpc>
                <a:spcPts val="1978"/>
              </a:lnSpc>
            </a:pPr>
            <a:r>
              <a:rPr lang="en-US" sz="1648" b="true">
                <a:solidFill>
                  <a:srgbClr val="FFFFFF"/>
                </a:solidFill>
                <a:latin typeface="Poppins Medium"/>
                <a:ea typeface="Poppins Medium"/>
                <a:cs typeface="Poppins Medium"/>
                <a:sym typeface="Poppins Medium"/>
              </a:rPr>
              <a:t>Automation Systems - Marketing Referral </a:t>
            </a:r>
          </a:p>
          <a:p>
            <a:pPr algn="l">
              <a:lnSpc>
                <a:spcPts val="1978"/>
              </a:lnSpc>
              <a:spcBef>
                <a:spcPct val="0"/>
              </a:spcBef>
            </a:pPr>
          </a:p>
        </p:txBody>
      </p:sp>
      <p:sp>
        <p:nvSpPr>
          <p:cNvPr name="TextBox 17" id="17"/>
          <p:cNvSpPr txBox="true"/>
          <p:nvPr/>
        </p:nvSpPr>
        <p:spPr>
          <a:xfrm rot="0">
            <a:off x="6986535" y="2827761"/>
            <a:ext cx="10237649" cy="960118"/>
          </a:xfrm>
          <a:prstGeom prst="rect">
            <a:avLst/>
          </a:prstGeom>
        </p:spPr>
        <p:txBody>
          <a:bodyPr anchor="t" rtlCol="false" tIns="0" lIns="0" bIns="0" rIns="0">
            <a:spAutoFit/>
          </a:bodyPr>
          <a:lstStyle/>
          <a:p>
            <a:pPr algn="l">
              <a:lnSpc>
                <a:spcPts val="3780"/>
              </a:lnSpc>
            </a:pPr>
            <a:r>
              <a:rPr lang="en-US" sz="2700" b="true">
                <a:solidFill>
                  <a:srgbClr val="9CD7DB"/>
                </a:solidFill>
                <a:latin typeface="Poppins Bold"/>
                <a:ea typeface="Poppins Bold"/>
                <a:cs typeface="Poppins Bold"/>
                <a:sym typeface="Poppins Bold"/>
              </a:rPr>
              <a:t>His client purchases 12 zip codes per month and has been using them for several months. </a:t>
            </a:r>
          </a:p>
        </p:txBody>
      </p:sp>
      <p:sp>
        <p:nvSpPr>
          <p:cNvPr name="TextBox 18" id="18"/>
          <p:cNvSpPr txBox="true"/>
          <p:nvPr/>
        </p:nvSpPr>
        <p:spPr>
          <a:xfrm rot="0">
            <a:off x="6986535" y="4368658"/>
            <a:ext cx="10098502" cy="354330"/>
          </a:xfrm>
          <a:prstGeom prst="rect">
            <a:avLst/>
          </a:prstGeom>
        </p:spPr>
        <p:txBody>
          <a:bodyPr anchor="t" rtlCol="false" tIns="0" lIns="0" bIns="0" rIns="0">
            <a:spAutoFit/>
          </a:bodyPr>
          <a:lstStyle/>
          <a:p>
            <a:pPr algn="l" marL="0" indent="0" lvl="0">
              <a:lnSpc>
                <a:spcPts val="2730"/>
              </a:lnSpc>
              <a:spcBef>
                <a:spcPct val="0"/>
              </a:spcBef>
            </a:pPr>
            <a:r>
              <a:rPr lang="en-US" b="true" sz="2100" i="true" spc="35">
                <a:solidFill>
                  <a:srgbClr val="D9D9D9"/>
                </a:solidFill>
                <a:latin typeface="Poppins Medium Italics"/>
                <a:ea typeface="Poppins Medium Italics"/>
                <a:cs typeface="Poppins Medium Italics"/>
                <a:sym typeface="Poppins Medium Italics"/>
              </a:rPr>
              <a:t>Leads given to a Washington State Exterior Cleaner</a:t>
            </a:r>
          </a:p>
        </p:txBody>
      </p:sp>
      <p:pic>
        <p:nvPicPr>
          <p:cNvPr name="Picture 19" id="19"/>
          <p:cNvPicPr>
            <a:picLocks noChangeAspect="true"/>
          </p:cNvPicPr>
          <p:nvPr/>
        </p:nvPicPr>
        <p:blipFill>
          <a:blip r:embed="rId7"/>
          <a:stretch>
            <a:fillRect/>
          </a:stretch>
        </p:blipFill>
        <p:spPr>
          <a:xfrm rot="0">
            <a:off x="-1901001" y="-13525"/>
            <a:ext cx="8653392" cy="10314050"/>
          </a:xfrm>
          <a:prstGeom prst="rect">
            <a:avLst/>
          </a:prstGeom>
        </p:spPr>
      </p:pic>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a:ln w="85725" cap="sq">
            <a:solidFill>
              <a:srgbClr val="000000">
                <a:alpha val="43922"/>
              </a:srgbClr>
            </a:solidFill>
            <a:prstDash val="solid"/>
            <a:miter/>
          </a:ln>
        </p:spPr>
      </p:sp>
      <p:sp>
        <p:nvSpPr>
          <p:cNvPr name="Freeform 3" id="3"/>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3">
              <a:alphaModFix amt="21999"/>
            </a:blip>
            <a:stretch>
              <a:fillRect l="0" t="0" r="0" b="0"/>
            </a:stretch>
          </a:blipFill>
        </p:spPr>
      </p:sp>
      <p:grpSp>
        <p:nvGrpSpPr>
          <p:cNvPr name="Group 4" id="4"/>
          <p:cNvGrpSpPr/>
          <p:nvPr/>
        </p:nvGrpSpPr>
        <p:grpSpPr>
          <a:xfrm rot="0">
            <a:off x="1736594" y="4541619"/>
            <a:ext cx="14814811" cy="4492998"/>
            <a:chOff x="0" y="0"/>
            <a:chExt cx="8185119" cy="2482362"/>
          </a:xfrm>
        </p:grpSpPr>
        <p:sp>
          <p:nvSpPr>
            <p:cNvPr name="Freeform 5" id="5"/>
            <p:cNvSpPr/>
            <p:nvPr/>
          </p:nvSpPr>
          <p:spPr>
            <a:xfrm flipH="false" flipV="false" rot="0">
              <a:off x="0" y="0"/>
              <a:ext cx="8185119" cy="2482362"/>
            </a:xfrm>
            <a:custGeom>
              <a:avLst/>
              <a:gdLst/>
              <a:ahLst/>
              <a:cxnLst/>
              <a:rect r="r" b="b" t="t" l="l"/>
              <a:pathLst>
                <a:path h="2482362" w="8185119">
                  <a:moveTo>
                    <a:pt x="12019" y="0"/>
                  </a:moveTo>
                  <a:lnTo>
                    <a:pt x="8173100" y="0"/>
                  </a:lnTo>
                  <a:cubicBezTo>
                    <a:pt x="8179738" y="0"/>
                    <a:pt x="8185119" y="5381"/>
                    <a:pt x="8185119" y="12019"/>
                  </a:cubicBezTo>
                  <a:lnTo>
                    <a:pt x="8185119" y="2470342"/>
                  </a:lnTo>
                  <a:cubicBezTo>
                    <a:pt x="8185119" y="2476981"/>
                    <a:pt x="8179738" y="2482362"/>
                    <a:pt x="8173100" y="2482362"/>
                  </a:cubicBezTo>
                  <a:lnTo>
                    <a:pt x="12019" y="2482362"/>
                  </a:lnTo>
                  <a:cubicBezTo>
                    <a:pt x="5381" y="2482362"/>
                    <a:pt x="0" y="2476981"/>
                    <a:pt x="0" y="2470342"/>
                  </a:cubicBezTo>
                  <a:lnTo>
                    <a:pt x="0" y="12019"/>
                  </a:lnTo>
                  <a:cubicBezTo>
                    <a:pt x="0" y="5381"/>
                    <a:pt x="5381" y="0"/>
                    <a:pt x="12019" y="0"/>
                  </a:cubicBezTo>
                  <a:close/>
                </a:path>
              </a:pathLst>
            </a:custGeom>
            <a:solidFill>
              <a:srgbClr val="1B474C">
                <a:alpha val="40784"/>
              </a:srgbClr>
            </a:solidFill>
            <a:ln cap="rnd">
              <a:noFill/>
              <a:prstDash val="solid"/>
              <a:round/>
            </a:ln>
          </p:spPr>
        </p:sp>
        <p:sp>
          <p:nvSpPr>
            <p:cNvPr name="TextBox 6" id="6"/>
            <p:cNvSpPr txBox="true"/>
            <p:nvPr/>
          </p:nvSpPr>
          <p:spPr>
            <a:xfrm>
              <a:off x="0" y="-19050"/>
              <a:ext cx="8185119" cy="2501412"/>
            </a:xfrm>
            <a:prstGeom prst="rect">
              <a:avLst/>
            </a:prstGeom>
          </p:spPr>
          <p:txBody>
            <a:bodyPr anchor="ctr" rtlCol="false" tIns="50800" lIns="50800" bIns="50800" rIns="50800"/>
            <a:lstStyle/>
            <a:p>
              <a:pPr algn="ctr">
                <a:lnSpc>
                  <a:spcPts val="2640"/>
                </a:lnSpc>
              </a:pPr>
            </a:p>
          </p:txBody>
        </p:sp>
      </p:grpSp>
      <p:grpSp>
        <p:nvGrpSpPr>
          <p:cNvPr name="Group 7" id="7"/>
          <p:cNvGrpSpPr/>
          <p:nvPr/>
        </p:nvGrpSpPr>
        <p:grpSpPr>
          <a:xfrm rot="0">
            <a:off x="1736594" y="5601503"/>
            <a:ext cx="14814811" cy="470077"/>
            <a:chOff x="0" y="0"/>
            <a:chExt cx="3901843" cy="123806"/>
          </a:xfrm>
        </p:grpSpPr>
        <p:sp>
          <p:nvSpPr>
            <p:cNvPr name="Freeform 8" id="8"/>
            <p:cNvSpPr/>
            <p:nvPr/>
          </p:nvSpPr>
          <p:spPr>
            <a:xfrm flipH="false" flipV="false" rot="0">
              <a:off x="0" y="0"/>
              <a:ext cx="3901843" cy="123806"/>
            </a:xfrm>
            <a:custGeom>
              <a:avLst/>
              <a:gdLst/>
              <a:ahLst/>
              <a:cxnLst/>
              <a:rect r="r" b="b" t="t" l="l"/>
              <a:pathLst>
                <a:path h="123806" w="3901843">
                  <a:moveTo>
                    <a:pt x="0" y="0"/>
                  </a:moveTo>
                  <a:lnTo>
                    <a:pt x="3901843" y="0"/>
                  </a:lnTo>
                  <a:lnTo>
                    <a:pt x="3901843" y="123806"/>
                  </a:lnTo>
                  <a:lnTo>
                    <a:pt x="0" y="123806"/>
                  </a:lnTo>
                  <a:close/>
                </a:path>
              </a:pathLst>
            </a:custGeom>
            <a:solidFill>
              <a:srgbClr val="FFFFFF">
                <a:alpha val="9804"/>
              </a:srgbClr>
            </a:solidFill>
          </p:spPr>
        </p:sp>
        <p:sp>
          <p:nvSpPr>
            <p:cNvPr name="TextBox 9" id="9"/>
            <p:cNvSpPr txBox="true"/>
            <p:nvPr/>
          </p:nvSpPr>
          <p:spPr>
            <a:xfrm>
              <a:off x="0" y="-104775"/>
              <a:ext cx="3901843" cy="228581"/>
            </a:xfrm>
            <a:prstGeom prst="rect">
              <a:avLst/>
            </a:prstGeom>
          </p:spPr>
          <p:txBody>
            <a:bodyPr anchor="ctr" rtlCol="false" tIns="50800" lIns="50800" bIns="50800" rIns="50800"/>
            <a:lstStyle/>
            <a:p>
              <a:pPr algn="ctr">
                <a:lnSpc>
                  <a:spcPts val="3378"/>
                </a:lnSpc>
              </a:pPr>
            </a:p>
          </p:txBody>
        </p:sp>
      </p:grpSp>
      <p:grpSp>
        <p:nvGrpSpPr>
          <p:cNvPr name="Group 10" id="10"/>
          <p:cNvGrpSpPr/>
          <p:nvPr/>
        </p:nvGrpSpPr>
        <p:grpSpPr>
          <a:xfrm rot="0">
            <a:off x="1736594" y="6604064"/>
            <a:ext cx="14814811" cy="960967"/>
            <a:chOff x="0" y="0"/>
            <a:chExt cx="3901843" cy="253094"/>
          </a:xfrm>
        </p:grpSpPr>
        <p:sp>
          <p:nvSpPr>
            <p:cNvPr name="Freeform 11" id="11"/>
            <p:cNvSpPr/>
            <p:nvPr/>
          </p:nvSpPr>
          <p:spPr>
            <a:xfrm flipH="false" flipV="false" rot="0">
              <a:off x="0" y="0"/>
              <a:ext cx="3901843" cy="253094"/>
            </a:xfrm>
            <a:custGeom>
              <a:avLst/>
              <a:gdLst/>
              <a:ahLst/>
              <a:cxnLst/>
              <a:rect r="r" b="b" t="t" l="l"/>
              <a:pathLst>
                <a:path h="253094" w="3901843">
                  <a:moveTo>
                    <a:pt x="0" y="0"/>
                  </a:moveTo>
                  <a:lnTo>
                    <a:pt x="3901843" y="0"/>
                  </a:lnTo>
                  <a:lnTo>
                    <a:pt x="3901843" y="253094"/>
                  </a:lnTo>
                  <a:lnTo>
                    <a:pt x="0" y="253094"/>
                  </a:lnTo>
                  <a:close/>
                </a:path>
              </a:pathLst>
            </a:custGeom>
            <a:solidFill>
              <a:srgbClr val="FFFFFF">
                <a:alpha val="9804"/>
              </a:srgbClr>
            </a:solidFill>
          </p:spPr>
        </p:sp>
        <p:sp>
          <p:nvSpPr>
            <p:cNvPr name="TextBox 12" id="12"/>
            <p:cNvSpPr txBox="true"/>
            <p:nvPr/>
          </p:nvSpPr>
          <p:spPr>
            <a:xfrm>
              <a:off x="0" y="-104775"/>
              <a:ext cx="3901843" cy="357869"/>
            </a:xfrm>
            <a:prstGeom prst="rect">
              <a:avLst/>
            </a:prstGeom>
          </p:spPr>
          <p:txBody>
            <a:bodyPr anchor="ctr" rtlCol="false" tIns="50800" lIns="50800" bIns="50800" rIns="50800"/>
            <a:lstStyle/>
            <a:p>
              <a:pPr algn="ctr">
                <a:lnSpc>
                  <a:spcPts val="3378"/>
                </a:lnSpc>
              </a:pPr>
            </a:p>
          </p:txBody>
        </p:sp>
      </p:grpSp>
      <p:grpSp>
        <p:nvGrpSpPr>
          <p:cNvPr name="Group 13" id="13"/>
          <p:cNvGrpSpPr/>
          <p:nvPr/>
        </p:nvGrpSpPr>
        <p:grpSpPr>
          <a:xfrm rot="0">
            <a:off x="1736594" y="8133262"/>
            <a:ext cx="14814811" cy="448864"/>
            <a:chOff x="0" y="0"/>
            <a:chExt cx="3901843" cy="118219"/>
          </a:xfrm>
        </p:grpSpPr>
        <p:sp>
          <p:nvSpPr>
            <p:cNvPr name="Freeform 14" id="14"/>
            <p:cNvSpPr/>
            <p:nvPr/>
          </p:nvSpPr>
          <p:spPr>
            <a:xfrm flipH="false" flipV="false" rot="0">
              <a:off x="0" y="0"/>
              <a:ext cx="3901843" cy="118219"/>
            </a:xfrm>
            <a:custGeom>
              <a:avLst/>
              <a:gdLst/>
              <a:ahLst/>
              <a:cxnLst/>
              <a:rect r="r" b="b" t="t" l="l"/>
              <a:pathLst>
                <a:path h="118219" w="3901843">
                  <a:moveTo>
                    <a:pt x="0" y="0"/>
                  </a:moveTo>
                  <a:lnTo>
                    <a:pt x="3901843" y="0"/>
                  </a:lnTo>
                  <a:lnTo>
                    <a:pt x="3901843" y="118219"/>
                  </a:lnTo>
                  <a:lnTo>
                    <a:pt x="0" y="118219"/>
                  </a:lnTo>
                  <a:close/>
                </a:path>
              </a:pathLst>
            </a:custGeom>
            <a:solidFill>
              <a:srgbClr val="FFFFFF">
                <a:alpha val="9804"/>
              </a:srgbClr>
            </a:solidFill>
          </p:spPr>
        </p:sp>
        <p:sp>
          <p:nvSpPr>
            <p:cNvPr name="TextBox 15" id="15"/>
            <p:cNvSpPr txBox="true"/>
            <p:nvPr/>
          </p:nvSpPr>
          <p:spPr>
            <a:xfrm>
              <a:off x="0" y="-104775"/>
              <a:ext cx="3901843" cy="222994"/>
            </a:xfrm>
            <a:prstGeom prst="rect">
              <a:avLst/>
            </a:prstGeom>
          </p:spPr>
          <p:txBody>
            <a:bodyPr anchor="ctr" rtlCol="false" tIns="50800" lIns="50800" bIns="50800" rIns="50800"/>
            <a:lstStyle/>
            <a:p>
              <a:pPr algn="ctr">
                <a:lnSpc>
                  <a:spcPts val="3378"/>
                </a:lnSpc>
              </a:pPr>
            </a:p>
          </p:txBody>
        </p:sp>
      </p:grpSp>
      <p:sp>
        <p:nvSpPr>
          <p:cNvPr name="TextBox 16" id="16"/>
          <p:cNvSpPr txBox="true"/>
          <p:nvPr/>
        </p:nvSpPr>
        <p:spPr>
          <a:xfrm rot="0">
            <a:off x="1858551" y="1428750"/>
            <a:ext cx="9003139" cy="1539273"/>
          </a:xfrm>
          <a:prstGeom prst="rect">
            <a:avLst/>
          </a:prstGeom>
        </p:spPr>
        <p:txBody>
          <a:bodyPr anchor="t" rtlCol="false" tIns="0" lIns="0" bIns="0" rIns="0">
            <a:spAutoFit/>
          </a:bodyPr>
          <a:lstStyle/>
          <a:p>
            <a:pPr algn="l" marL="0" indent="0" lvl="0">
              <a:lnSpc>
                <a:spcPts val="5883"/>
              </a:lnSpc>
            </a:pPr>
            <a:r>
              <a:rPr lang="en-US" b="true" sz="5253">
                <a:solidFill>
                  <a:srgbClr val="F6F6F6"/>
                </a:solidFill>
                <a:latin typeface="Poppins Semi-Bold"/>
                <a:ea typeface="Poppins Semi-Bold"/>
                <a:cs typeface="Poppins Semi-Bold"/>
                <a:sym typeface="Poppins Semi-Bold"/>
              </a:rPr>
              <a:t>P</a:t>
            </a:r>
            <a:r>
              <a:rPr lang="en-US" b="true" sz="5253">
                <a:solidFill>
                  <a:srgbClr val="F6F6F6"/>
                </a:solidFill>
                <a:latin typeface="Poppins Semi-Bold"/>
                <a:ea typeface="Poppins Semi-Bold"/>
                <a:cs typeface="Poppins Semi-Bold"/>
                <a:sym typeface="Poppins Semi-Bold"/>
              </a:rPr>
              <a:t>ricing Comparison Overview</a:t>
            </a:r>
          </a:p>
        </p:txBody>
      </p:sp>
      <p:sp>
        <p:nvSpPr>
          <p:cNvPr name="TextBox 17" id="17"/>
          <p:cNvSpPr txBox="true"/>
          <p:nvPr/>
        </p:nvSpPr>
        <p:spPr>
          <a:xfrm rot="0">
            <a:off x="1868076" y="3161031"/>
            <a:ext cx="8521570" cy="782319"/>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A COMPREHE</a:t>
            </a:r>
            <a:r>
              <a:rPr lang="en-US" sz="2200" i="true" spc="528">
                <a:solidFill>
                  <a:srgbClr val="F6F6F6"/>
                </a:solidFill>
                <a:latin typeface="Poppins Italics"/>
                <a:ea typeface="Poppins Italics"/>
                <a:cs typeface="Poppins Italics"/>
                <a:sym typeface="Poppins Italics"/>
              </a:rPr>
              <a:t>N</a:t>
            </a:r>
            <a:r>
              <a:rPr lang="en-US" sz="2200" i="true" spc="528">
                <a:solidFill>
                  <a:srgbClr val="F6F6F6"/>
                </a:solidFill>
                <a:latin typeface="Poppins Italics"/>
                <a:ea typeface="Poppins Italics"/>
                <a:cs typeface="Poppins Italics"/>
                <a:sym typeface="Poppins Italics"/>
              </a:rPr>
              <a:t>S</a:t>
            </a:r>
            <a:r>
              <a:rPr lang="en-US" sz="2200" i="true" spc="528">
                <a:solidFill>
                  <a:srgbClr val="F6F6F6"/>
                </a:solidFill>
                <a:latin typeface="Poppins Italics"/>
                <a:ea typeface="Poppins Italics"/>
                <a:cs typeface="Poppins Italics"/>
                <a:sym typeface="Poppins Italics"/>
              </a:rPr>
              <a:t>I</a:t>
            </a:r>
            <a:r>
              <a:rPr lang="en-US" sz="2200" i="true" spc="528">
                <a:solidFill>
                  <a:srgbClr val="F6F6F6"/>
                </a:solidFill>
                <a:latin typeface="Poppins Italics"/>
                <a:ea typeface="Poppins Italics"/>
                <a:cs typeface="Poppins Italics"/>
                <a:sym typeface="Poppins Italics"/>
              </a:rPr>
              <a:t>V</a:t>
            </a:r>
            <a:r>
              <a:rPr lang="en-US" sz="2200" i="true" spc="528">
                <a:solidFill>
                  <a:srgbClr val="F6F6F6"/>
                </a:solidFill>
                <a:latin typeface="Poppins Italics"/>
                <a:ea typeface="Poppins Italics"/>
                <a:cs typeface="Poppins Italics"/>
                <a:sym typeface="Poppins Italics"/>
              </a:rPr>
              <a:t>E </a:t>
            </a:r>
            <a:r>
              <a:rPr lang="en-US" sz="2200" i="true" spc="528">
                <a:solidFill>
                  <a:srgbClr val="F6F6F6"/>
                </a:solidFill>
                <a:latin typeface="Poppins Italics"/>
                <a:ea typeface="Poppins Italics"/>
                <a:cs typeface="Poppins Italics"/>
                <a:sym typeface="Poppins Italics"/>
              </a:rPr>
              <a:t>LOOK</a:t>
            </a:r>
            <a:r>
              <a:rPr lang="en-US" sz="2200" i="true" spc="528">
                <a:solidFill>
                  <a:srgbClr val="F6F6F6"/>
                </a:solidFill>
                <a:latin typeface="Poppins Italics"/>
                <a:ea typeface="Poppins Italics"/>
                <a:cs typeface="Poppins Italics"/>
                <a:sym typeface="Poppins Italics"/>
              </a:rPr>
              <a:t> AT</a:t>
            </a:r>
            <a:r>
              <a:rPr lang="en-US" sz="2200" i="true" spc="528">
                <a:solidFill>
                  <a:srgbClr val="F6F6F6"/>
                </a:solidFill>
                <a:latin typeface="Poppins Italics"/>
                <a:ea typeface="Poppins Italics"/>
                <a:cs typeface="Poppins Italics"/>
                <a:sym typeface="Poppins Italics"/>
              </a:rPr>
              <a:t> </a:t>
            </a:r>
            <a:r>
              <a:rPr lang="en-US" sz="2200" i="true" spc="528">
                <a:solidFill>
                  <a:srgbClr val="F6F6F6"/>
                </a:solidFill>
                <a:latin typeface="Poppins Italics"/>
                <a:ea typeface="Poppins Italics"/>
                <a:cs typeface="Poppins Italics"/>
                <a:sym typeface="Poppins Italics"/>
              </a:rPr>
              <a:t>OU</a:t>
            </a:r>
            <a:r>
              <a:rPr lang="en-US" sz="2200" i="true" spc="528">
                <a:solidFill>
                  <a:srgbClr val="F6F6F6"/>
                </a:solidFill>
                <a:latin typeface="Poppins Italics"/>
                <a:ea typeface="Poppins Italics"/>
                <a:cs typeface="Poppins Italics"/>
                <a:sym typeface="Poppins Italics"/>
              </a:rPr>
              <a:t>R</a:t>
            </a:r>
            <a:r>
              <a:rPr lang="en-US" sz="2200" i="true" spc="528">
                <a:solidFill>
                  <a:srgbClr val="F6F6F6"/>
                </a:solidFill>
                <a:latin typeface="Poppins Italics"/>
                <a:ea typeface="Poppins Italics"/>
                <a:cs typeface="Poppins Italics"/>
                <a:sym typeface="Poppins Italics"/>
              </a:rPr>
              <a:t> SERVIC</a:t>
            </a:r>
            <a:r>
              <a:rPr lang="en-US" sz="2200" i="true" spc="528">
                <a:solidFill>
                  <a:srgbClr val="F6F6F6"/>
                </a:solidFill>
                <a:latin typeface="Poppins Italics"/>
                <a:ea typeface="Poppins Italics"/>
                <a:cs typeface="Poppins Italics"/>
                <a:sym typeface="Poppins Italics"/>
              </a:rPr>
              <a:t>E PRIC</a:t>
            </a:r>
            <a:r>
              <a:rPr lang="en-US" sz="2200" i="true" spc="528">
                <a:solidFill>
                  <a:srgbClr val="F6F6F6"/>
                </a:solidFill>
                <a:latin typeface="Poppins Italics"/>
                <a:ea typeface="Poppins Italics"/>
                <a:cs typeface="Poppins Italics"/>
                <a:sym typeface="Poppins Italics"/>
              </a:rPr>
              <a:t>I</a:t>
            </a:r>
            <a:r>
              <a:rPr lang="en-US" sz="2200" i="true" spc="528">
                <a:solidFill>
                  <a:srgbClr val="F6F6F6"/>
                </a:solidFill>
                <a:latin typeface="Poppins Italics"/>
                <a:ea typeface="Poppins Italics"/>
                <a:cs typeface="Poppins Italics"/>
                <a:sym typeface="Poppins Italics"/>
              </a:rPr>
              <a:t>N</a:t>
            </a:r>
            <a:r>
              <a:rPr lang="en-US" sz="2200" i="true" spc="528">
                <a:solidFill>
                  <a:srgbClr val="F6F6F6"/>
                </a:solidFill>
                <a:latin typeface="Poppins Italics"/>
                <a:ea typeface="Poppins Italics"/>
                <a:cs typeface="Poppins Italics"/>
                <a:sym typeface="Poppins Italics"/>
              </a:rPr>
              <a:t>G</a:t>
            </a:r>
            <a:r>
              <a:rPr lang="en-US" sz="2200" i="true" spc="528">
                <a:solidFill>
                  <a:srgbClr val="F6F6F6"/>
                </a:solidFill>
                <a:latin typeface="Poppins Italics"/>
                <a:ea typeface="Poppins Italics"/>
                <a:cs typeface="Poppins Italics"/>
                <a:sym typeface="Poppins Italics"/>
              </a:rPr>
              <a:t>.</a:t>
            </a:r>
          </a:p>
        </p:txBody>
      </p:sp>
      <p:sp>
        <p:nvSpPr>
          <p:cNvPr name="TextBox 18" id="18"/>
          <p:cNvSpPr txBox="true"/>
          <p:nvPr/>
        </p:nvSpPr>
        <p:spPr>
          <a:xfrm rot="0">
            <a:off x="2408523" y="5001428"/>
            <a:ext cx="4322751" cy="352425"/>
          </a:xfrm>
          <a:prstGeom prst="rect">
            <a:avLst/>
          </a:prstGeom>
        </p:spPr>
        <p:txBody>
          <a:bodyPr anchor="t" rtlCol="false" tIns="0" lIns="0" bIns="0" rIns="0">
            <a:spAutoFit/>
          </a:bodyPr>
          <a:lstStyle/>
          <a:p>
            <a:pPr algn="l">
              <a:lnSpc>
                <a:spcPts val="2698"/>
              </a:lnSpc>
              <a:spcBef>
                <a:spcPct val="0"/>
              </a:spcBef>
            </a:pPr>
            <a:r>
              <a:rPr lang="en-US" sz="2248" b="true">
                <a:solidFill>
                  <a:srgbClr val="FFFFFF"/>
                </a:solidFill>
                <a:latin typeface="Poppins Bold"/>
                <a:ea typeface="Poppins Bold"/>
                <a:cs typeface="Poppins Bold"/>
                <a:sym typeface="Poppins Bold"/>
              </a:rPr>
              <a:t>Product</a:t>
            </a:r>
          </a:p>
        </p:txBody>
      </p:sp>
      <p:sp>
        <p:nvSpPr>
          <p:cNvPr name="TextBox 19" id="19"/>
          <p:cNvSpPr txBox="true"/>
          <p:nvPr/>
        </p:nvSpPr>
        <p:spPr>
          <a:xfrm rot="0">
            <a:off x="9999758" y="5001428"/>
            <a:ext cx="4322751" cy="352425"/>
          </a:xfrm>
          <a:prstGeom prst="rect">
            <a:avLst/>
          </a:prstGeom>
        </p:spPr>
        <p:txBody>
          <a:bodyPr anchor="t" rtlCol="false" tIns="0" lIns="0" bIns="0" rIns="0">
            <a:spAutoFit/>
          </a:bodyPr>
          <a:lstStyle/>
          <a:p>
            <a:pPr algn="l">
              <a:lnSpc>
                <a:spcPts val="2698"/>
              </a:lnSpc>
              <a:spcBef>
                <a:spcPct val="0"/>
              </a:spcBef>
            </a:pPr>
            <a:r>
              <a:rPr lang="en-US" sz="2248" b="true">
                <a:solidFill>
                  <a:srgbClr val="FFFFFF"/>
                </a:solidFill>
                <a:latin typeface="Poppins Bold"/>
                <a:ea typeface="Poppins Bold"/>
                <a:cs typeface="Poppins Bold"/>
                <a:sym typeface="Poppins Bold"/>
              </a:rPr>
              <a:t>Pricing</a:t>
            </a:r>
          </a:p>
        </p:txBody>
      </p:sp>
      <p:sp>
        <p:nvSpPr>
          <p:cNvPr name="TextBox 20" id="20"/>
          <p:cNvSpPr txBox="true"/>
          <p:nvPr/>
        </p:nvSpPr>
        <p:spPr>
          <a:xfrm rot="0">
            <a:off x="2408523" y="5496728"/>
            <a:ext cx="4322751" cy="2987024"/>
          </a:xfrm>
          <a:prstGeom prst="rect">
            <a:avLst/>
          </a:prstGeom>
        </p:spPr>
        <p:txBody>
          <a:bodyPr anchor="t" rtlCol="false" tIns="0" lIns="0" bIns="0" rIns="0">
            <a:spAutoFit/>
          </a:bodyPr>
          <a:lstStyle/>
          <a:p>
            <a:pPr algn="l">
              <a:lnSpc>
                <a:spcPts val="4048"/>
              </a:lnSpc>
            </a:pPr>
            <a:r>
              <a:rPr lang="en-US" sz="1848" b="true">
                <a:solidFill>
                  <a:srgbClr val="FFFFFF"/>
                </a:solidFill>
                <a:latin typeface="Poppins Medium"/>
                <a:ea typeface="Poppins Medium"/>
                <a:cs typeface="Poppins Medium"/>
                <a:sym typeface="Poppins Medium"/>
              </a:rPr>
              <a:t>Zip Code Targeting</a:t>
            </a:r>
          </a:p>
          <a:p>
            <a:pPr algn="l">
              <a:lnSpc>
                <a:spcPts val="4048"/>
              </a:lnSpc>
            </a:pPr>
            <a:r>
              <a:rPr lang="en-US" sz="1848" b="true">
                <a:solidFill>
                  <a:srgbClr val="FFFFFF"/>
                </a:solidFill>
                <a:latin typeface="Poppins Medium"/>
                <a:ea typeface="Poppins Medium"/>
                <a:cs typeface="Poppins Medium"/>
                <a:sym typeface="Poppins Medium"/>
              </a:rPr>
              <a:t>Bulk Intent Data</a:t>
            </a:r>
          </a:p>
          <a:p>
            <a:pPr algn="l">
              <a:lnSpc>
                <a:spcPts val="4048"/>
              </a:lnSpc>
            </a:pPr>
            <a:r>
              <a:rPr lang="en-US" sz="1848" b="true">
                <a:solidFill>
                  <a:srgbClr val="FFFFFF"/>
                </a:solidFill>
                <a:latin typeface="Poppins Medium"/>
                <a:ea typeface="Poppins Medium"/>
                <a:cs typeface="Poppins Medium"/>
                <a:sym typeface="Poppins Medium"/>
              </a:rPr>
              <a:t>Website Deanonymization</a:t>
            </a:r>
          </a:p>
          <a:p>
            <a:pPr algn="l">
              <a:lnSpc>
                <a:spcPts val="4048"/>
              </a:lnSpc>
            </a:pPr>
          </a:p>
          <a:p>
            <a:pPr algn="l">
              <a:lnSpc>
                <a:spcPts val="4048"/>
              </a:lnSpc>
            </a:pPr>
            <a:r>
              <a:rPr lang="en-US" sz="1848" b="true">
                <a:solidFill>
                  <a:srgbClr val="FFFFFF"/>
                </a:solidFill>
                <a:latin typeface="Poppins Medium"/>
                <a:ea typeface="Poppins Medium"/>
                <a:cs typeface="Poppins Medium"/>
                <a:sym typeface="Poppins Medium"/>
              </a:rPr>
              <a:t>Fractional CMO</a:t>
            </a:r>
          </a:p>
          <a:p>
            <a:pPr algn="l">
              <a:lnSpc>
                <a:spcPts val="4048"/>
              </a:lnSpc>
            </a:pPr>
            <a:r>
              <a:rPr lang="en-US" sz="1848" b="true">
                <a:solidFill>
                  <a:srgbClr val="FFFFFF"/>
                </a:solidFill>
                <a:latin typeface="Poppins Medium"/>
                <a:ea typeface="Poppins Medium"/>
                <a:cs typeface="Poppins Medium"/>
                <a:sym typeface="Poppins Medium"/>
              </a:rPr>
              <a:t>Marketing Audit &amp; DIY Blueprint</a:t>
            </a:r>
          </a:p>
        </p:txBody>
      </p:sp>
      <p:sp>
        <p:nvSpPr>
          <p:cNvPr name="TextBox 21" id="21"/>
          <p:cNvSpPr txBox="true"/>
          <p:nvPr/>
        </p:nvSpPr>
        <p:spPr>
          <a:xfrm rot="0">
            <a:off x="9999758" y="5496728"/>
            <a:ext cx="6087341" cy="2987024"/>
          </a:xfrm>
          <a:prstGeom prst="rect">
            <a:avLst/>
          </a:prstGeom>
        </p:spPr>
        <p:txBody>
          <a:bodyPr anchor="t" rtlCol="false" tIns="0" lIns="0" bIns="0" rIns="0">
            <a:spAutoFit/>
          </a:bodyPr>
          <a:lstStyle/>
          <a:p>
            <a:pPr algn="l">
              <a:lnSpc>
                <a:spcPts val="4048"/>
              </a:lnSpc>
            </a:pPr>
            <a:r>
              <a:rPr lang="en-US" sz="1848">
                <a:solidFill>
                  <a:srgbClr val="FFFFFF"/>
                </a:solidFill>
                <a:latin typeface="Poppins"/>
                <a:ea typeface="Poppins"/>
                <a:cs typeface="Poppins"/>
                <a:sym typeface="Poppins"/>
              </a:rPr>
              <a:t>$30 | $50 per zip, minimum spend $360 | $350</a:t>
            </a:r>
          </a:p>
          <a:p>
            <a:pPr algn="l">
              <a:lnSpc>
                <a:spcPts val="4048"/>
              </a:lnSpc>
            </a:pPr>
            <a:r>
              <a:rPr lang="en-US" sz="1848">
                <a:solidFill>
                  <a:srgbClr val="FFFFFF"/>
                </a:solidFill>
                <a:latin typeface="Poppins"/>
                <a:ea typeface="Poppins"/>
                <a:cs typeface="Poppins"/>
                <a:sym typeface="Poppins"/>
              </a:rPr>
              <a:t>$2,000/mo</a:t>
            </a:r>
          </a:p>
          <a:p>
            <a:pPr algn="l">
              <a:lnSpc>
                <a:spcPts val="4048"/>
              </a:lnSpc>
            </a:pPr>
            <a:r>
              <a:rPr lang="en-US" sz="1848">
                <a:solidFill>
                  <a:srgbClr val="FFFFFF"/>
                </a:solidFill>
                <a:latin typeface="Poppins"/>
                <a:ea typeface="Poppins"/>
                <a:cs typeface="Poppins"/>
                <a:sym typeface="Poppins"/>
              </a:rPr>
              <a:t>$1,000/mo (25k resolutions)</a:t>
            </a:r>
          </a:p>
          <a:p>
            <a:pPr algn="l">
              <a:lnSpc>
                <a:spcPts val="4048"/>
              </a:lnSpc>
            </a:pPr>
            <a:r>
              <a:rPr lang="en-US" sz="1848">
                <a:solidFill>
                  <a:srgbClr val="FFFFFF"/>
                </a:solidFill>
                <a:latin typeface="Poppins"/>
                <a:ea typeface="Poppins"/>
                <a:cs typeface="Poppins"/>
                <a:sym typeface="Poppins"/>
              </a:rPr>
              <a:t>$200 one-time setup then $0.08 per resolution</a:t>
            </a:r>
          </a:p>
          <a:p>
            <a:pPr algn="l">
              <a:lnSpc>
                <a:spcPts val="4048"/>
              </a:lnSpc>
            </a:pPr>
            <a:r>
              <a:rPr lang="en-US" sz="1848">
                <a:solidFill>
                  <a:srgbClr val="FFFFFF"/>
                </a:solidFill>
                <a:latin typeface="Poppins"/>
                <a:ea typeface="Poppins"/>
                <a:cs typeface="Poppins"/>
                <a:sym typeface="Poppins"/>
              </a:rPr>
              <a:t>$2,000/mo add-on</a:t>
            </a:r>
          </a:p>
          <a:p>
            <a:pPr algn="l">
              <a:lnSpc>
                <a:spcPts val="4048"/>
              </a:lnSpc>
            </a:pPr>
            <a:r>
              <a:rPr lang="en-US" sz="1848">
                <a:solidFill>
                  <a:srgbClr val="FFFFFF"/>
                </a:solidFill>
                <a:latin typeface="Poppins"/>
                <a:ea typeface="Poppins"/>
                <a:cs typeface="Poppins"/>
                <a:sym typeface="Poppins"/>
              </a:rPr>
              <a:t>$500 one time purchase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243841" y="5877712"/>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3">
              <a:alphaModFix amt="21999"/>
            </a:blip>
            <a:stretch>
              <a:fillRect l="0" t="0" r="0" b="0"/>
            </a:stretch>
          </a:blipFill>
        </p:spPr>
      </p:sp>
      <p:sp>
        <p:nvSpPr>
          <p:cNvPr name="Freeform 7" id="7"/>
          <p:cNvSpPr/>
          <p:nvPr/>
        </p:nvSpPr>
        <p:spPr>
          <a:xfrm flipH="false" flipV="false" rot="0">
            <a:off x="10711224" y="1600200"/>
            <a:ext cx="8064458" cy="8054378"/>
          </a:xfrm>
          <a:custGeom>
            <a:avLst/>
            <a:gdLst/>
            <a:ahLst/>
            <a:cxnLst/>
            <a:rect r="r" b="b" t="t" l="l"/>
            <a:pathLst>
              <a:path h="8054378" w="8064458">
                <a:moveTo>
                  <a:pt x="0" y="0"/>
                </a:moveTo>
                <a:lnTo>
                  <a:pt x="8064458" y="0"/>
                </a:lnTo>
                <a:lnTo>
                  <a:pt x="8064458" y="8054378"/>
                </a:lnTo>
                <a:lnTo>
                  <a:pt x="0" y="8054378"/>
                </a:lnTo>
                <a:lnTo>
                  <a:pt x="0" y="0"/>
                </a:lnTo>
                <a:close/>
              </a:path>
            </a:pathLst>
          </a:custGeom>
          <a:blipFill>
            <a:blip r:embed="rId4">
              <a:alphaModFix amt="51000"/>
            </a:blip>
            <a:stretch>
              <a:fillRect l="0" t="0" r="0" b="0"/>
            </a:stretch>
          </a:blipFill>
        </p:spPr>
      </p:sp>
      <p:sp>
        <p:nvSpPr>
          <p:cNvPr name="Freeform 8" id="8"/>
          <p:cNvSpPr/>
          <p:nvPr/>
        </p:nvSpPr>
        <p:spPr>
          <a:xfrm flipH="false" flipV="false" rot="0">
            <a:off x="-243841" y="1967341"/>
            <a:ext cx="8064458" cy="8054378"/>
          </a:xfrm>
          <a:custGeom>
            <a:avLst/>
            <a:gdLst/>
            <a:ahLst/>
            <a:cxnLst/>
            <a:rect r="r" b="b" t="t" l="l"/>
            <a:pathLst>
              <a:path h="8054378" w="8064458">
                <a:moveTo>
                  <a:pt x="0" y="0"/>
                </a:moveTo>
                <a:lnTo>
                  <a:pt x="8064458" y="0"/>
                </a:lnTo>
                <a:lnTo>
                  <a:pt x="8064458" y="8054378"/>
                </a:lnTo>
                <a:lnTo>
                  <a:pt x="0" y="8054378"/>
                </a:lnTo>
                <a:lnTo>
                  <a:pt x="0" y="0"/>
                </a:lnTo>
                <a:close/>
              </a:path>
            </a:pathLst>
          </a:custGeom>
          <a:blipFill>
            <a:blip r:embed="rId4">
              <a:alphaModFix amt="51000"/>
            </a:blip>
            <a:stretch>
              <a:fillRect l="0" t="0" r="0" b="0"/>
            </a:stretch>
          </a:blipFill>
        </p:spPr>
      </p:sp>
      <p:sp>
        <p:nvSpPr>
          <p:cNvPr name="Freeform 9" id="9"/>
          <p:cNvSpPr/>
          <p:nvPr/>
        </p:nvSpPr>
        <p:spPr>
          <a:xfrm flipH="false" flipV="false" rot="0">
            <a:off x="5303933" y="2148794"/>
            <a:ext cx="8064458" cy="8054378"/>
          </a:xfrm>
          <a:custGeom>
            <a:avLst/>
            <a:gdLst/>
            <a:ahLst/>
            <a:cxnLst/>
            <a:rect r="r" b="b" t="t" l="l"/>
            <a:pathLst>
              <a:path h="8054378" w="8064458">
                <a:moveTo>
                  <a:pt x="0" y="0"/>
                </a:moveTo>
                <a:lnTo>
                  <a:pt x="8064458" y="0"/>
                </a:lnTo>
                <a:lnTo>
                  <a:pt x="8064458" y="8054378"/>
                </a:lnTo>
                <a:lnTo>
                  <a:pt x="0" y="8054378"/>
                </a:lnTo>
                <a:lnTo>
                  <a:pt x="0" y="0"/>
                </a:lnTo>
                <a:close/>
              </a:path>
            </a:pathLst>
          </a:custGeom>
          <a:blipFill>
            <a:blip r:embed="rId4">
              <a:alphaModFix amt="51000"/>
            </a:blip>
            <a:stretch>
              <a:fillRect l="0" t="0" r="0" b="0"/>
            </a:stretch>
          </a:blipFill>
        </p:spPr>
      </p:sp>
      <p:sp>
        <p:nvSpPr>
          <p:cNvPr name="Freeform 10" id="10"/>
          <p:cNvSpPr/>
          <p:nvPr/>
        </p:nvSpPr>
        <p:spPr>
          <a:xfrm flipH="false" flipV="false" rot="0">
            <a:off x="295756" y="5090369"/>
            <a:ext cx="6435316" cy="3032643"/>
          </a:xfrm>
          <a:custGeom>
            <a:avLst/>
            <a:gdLst/>
            <a:ahLst/>
            <a:cxnLst/>
            <a:rect r="r" b="b" t="t" l="l"/>
            <a:pathLst>
              <a:path h="3032643" w="6435316">
                <a:moveTo>
                  <a:pt x="0" y="0"/>
                </a:moveTo>
                <a:lnTo>
                  <a:pt x="6435316" y="0"/>
                </a:lnTo>
                <a:lnTo>
                  <a:pt x="6435316" y="3032643"/>
                </a:lnTo>
                <a:lnTo>
                  <a:pt x="0" y="30326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6118504" y="5104695"/>
            <a:ext cx="6435316" cy="3032643"/>
          </a:xfrm>
          <a:custGeom>
            <a:avLst/>
            <a:gdLst/>
            <a:ahLst/>
            <a:cxnLst/>
            <a:rect r="r" b="b" t="t" l="l"/>
            <a:pathLst>
              <a:path h="3032643" w="6435316">
                <a:moveTo>
                  <a:pt x="0" y="0"/>
                </a:moveTo>
                <a:lnTo>
                  <a:pt x="6435316" y="0"/>
                </a:lnTo>
                <a:lnTo>
                  <a:pt x="6435316" y="3032642"/>
                </a:lnTo>
                <a:lnTo>
                  <a:pt x="0" y="30326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1769637" y="5106696"/>
            <a:ext cx="6435316" cy="3032643"/>
          </a:xfrm>
          <a:custGeom>
            <a:avLst/>
            <a:gdLst/>
            <a:ahLst/>
            <a:cxnLst/>
            <a:rect r="r" b="b" t="t" l="l"/>
            <a:pathLst>
              <a:path h="3032643" w="6435316">
                <a:moveTo>
                  <a:pt x="0" y="0"/>
                </a:moveTo>
                <a:lnTo>
                  <a:pt x="6435315" y="0"/>
                </a:lnTo>
                <a:lnTo>
                  <a:pt x="6435315" y="3032643"/>
                </a:lnTo>
                <a:lnTo>
                  <a:pt x="0" y="303264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2805455" y="4248408"/>
            <a:ext cx="1762704" cy="1762704"/>
            <a:chOff x="0" y="0"/>
            <a:chExt cx="588434" cy="588434"/>
          </a:xfrm>
        </p:grpSpPr>
        <p:sp>
          <p:nvSpPr>
            <p:cNvPr name="Freeform 14" id="14"/>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5" id="15"/>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16" id="16"/>
          <p:cNvGrpSpPr/>
          <p:nvPr/>
        </p:nvGrpSpPr>
        <p:grpSpPr>
          <a:xfrm rot="0">
            <a:off x="1845991" y="5675896"/>
            <a:ext cx="3681633" cy="1004688"/>
            <a:chOff x="0" y="0"/>
            <a:chExt cx="1229020" cy="335390"/>
          </a:xfrm>
        </p:grpSpPr>
        <p:sp>
          <p:nvSpPr>
            <p:cNvPr name="Freeform 17" id="17"/>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18" id="18"/>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grpSp>
        <p:nvGrpSpPr>
          <p:cNvPr name="Group 19" id="19"/>
          <p:cNvGrpSpPr/>
          <p:nvPr/>
        </p:nvGrpSpPr>
        <p:grpSpPr>
          <a:xfrm rot="0">
            <a:off x="14105942" y="4248152"/>
            <a:ext cx="1762704" cy="1762704"/>
            <a:chOff x="0" y="0"/>
            <a:chExt cx="588434" cy="588434"/>
          </a:xfrm>
        </p:grpSpPr>
        <p:sp>
          <p:nvSpPr>
            <p:cNvPr name="Freeform 20" id="20"/>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1" id="21"/>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2" id="22"/>
          <p:cNvGrpSpPr/>
          <p:nvPr/>
        </p:nvGrpSpPr>
        <p:grpSpPr>
          <a:xfrm rot="0">
            <a:off x="13146478" y="5675640"/>
            <a:ext cx="3681633" cy="1004688"/>
            <a:chOff x="0" y="0"/>
            <a:chExt cx="1229020" cy="335390"/>
          </a:xfrm>
        </p:grpSpPr>
        <p:sp>
          <p:nvSpPr>
            <p:cNvPr name="Freeform 23" id="23"/>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24" id="24"/>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Freeform 25" id="25"/>
          <p:cNvSpPr/>
          <p:nvPr/>
        </p:nvSpPr>
        <p:spPr>
          <a:xfrm flipH="true" flipV="false" rot="0">
            <a:off x="9494915" y="5104695"/>
            <a:ext cx="1972721" cy="692246"/>
          </a:xfrm>
          <a:custGeom>
            <a:avLst/>
            <a:gdLst/>
            <a:ahLst/>
            <a:cxnLst/>
            <a:rect r="r" b="b" t="t" l="l"/>
            <a:pathLst>
              <a:path h="692246" w="1972721">
                <a:moveTo>
                  <a:pt x="1972722" y="0"/>
                </a:moveTo>
                <a:lnTo>
                  <a:pt x="0" y="0"/>
                </a:lnTo>
                <a:lnTo>
                  <a:pt x="0" y="692245"/>
                </a:lnTo>
                <a:lnTo>
                  <a:pt x="1972722" y="692245"/>
                </a:lnTo>
                <a:lnTo>
                  <a:pt x="1972722"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6" id="26"/>
          <p:cNvGrpSpPr/>
          <p:nvPr/>
        </p:nvGrpSpPr>
        <p:grpSpPr>
          <a:xfrm rot="0">
            <a:off x="8454810" y="4246151"/>
            <a:ext cx="1762704" cy="1762704"/>
            <a:chOff x="0" y="0"/>
            <a:chExt cx="588434" cy="588434"/>
          </a:xfrm>
        </p:grpSpPr>
        <p:sp>
          <p:nvSpPr>
            <p:cNvPr name="Freeform 27" id="27"/>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8" id="28"/>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29" id="29"/>
          <p:cNvGrpSpPr/>
          <p:nvPr/>
        </p:nvGrpSpPr>
        <p:grpSpPr>
          <a:xfrm rot="0">
            <a:off x="7495346" y="5673639"/>
            <a:ext cx="3681633" cy="1004688"/>
            <a:chOff x="0" y="0"/>
            <a:chExt cx="1229020" cy="335390"/>
          </a:xfrm>
        </p:grpSpPr>
        <p:sp>
          <p:nvSpPr>
            <p:cNvPr name="Freeform 30" id="30"/>
            <p:cNvSpPr/>
            <p:nvPr/>
          </p:nvSpPr>
          <p:spPr>
            <a:xfrm flipH="false" flipV="false" rot="0">
              <a:off x="0" y="0"/>
              <a:ext cx="1229020" cy="335390"/>
            </a:xfrm>
            <a:custGeom>
              <a:avLst/>
              <a:gdLst/>
              <a:ahLst/>
              <a:cxnLst/>
              <a:rect r="r" b="b" t="t" l="l"/>
              <a:pathLst>
                <a:path h="335390" w="1229020">
                  <a:moveTo>
                    <a:pt x="167695" y="0"/>
                  </a:moveTo>
                  <a:lnTo>
                    <a:pt x="1061325" y="0"/>
                  </a:lnTo>
                  <a:cubicBezTo>
                    <a:pt x="1105801" y="0"/>
                    <a:pt x="1148454" y="17668"/>
                    <a:pt x="1179903" y="49117"/>
                  </a:cubicBezTo>
                  <a:cubicBezTo>
                    <a:pt x="1211352" y="80566"/>
                    <a:pt x="1229020" y="123219"/>
                    <a:pt x="1229020" y="167695"/>
                  </a:cubicBezTo>
                  <a:lnTo>
                    <a:pt x="1229020" y="167695"/>
                  </a:lnTo>
                  <a:cubicBezTo>
                    <a:pt x="1229020" y="260310"/>
                    <a:pt x="1153941" y="335390"/>
                    <a:pt x="1061325" y="335390"/>
                  </a:cubicBezTo>
                  <a:lnTo>
                    <a:pt x="167695" y="335390"/>
                  </a:lnTo>
                  <a:cubicBezTo>
                    <a:pt x="75080" y="335390"/>
                    <a:pt x="0" y="260310"/>
                    <a:pt x="0" y="167695"/>
                  </a:cubicBezTo>
                  <a:lnTo>
                    <a:pt x="0" y="167695"/>
                  </a:lnTo>
                  <a:cubicBezTo>
                    <a:pt x="0" y="75080"/>
                    <a:pt x="75080" y="0"/>
                    <a:pt x="167695" y="0"/>
                  </a:cubicBezTo>
                  <a:close/>
                </a:path>
              </a:pathLst>
            </a:custGeom>
            <a:solidFill>
              <a:srgbClr val="A0EEEB"/>
            </a:solidFill>
          </p:spPr>
        </p:sp>
        <p:sp>
          <p:nvSpPr>
            <p:cNvPr name="TextBox 31" id="31"/>
            <p:cNvSpPr txBox="true"/>
            <p:nvPr/>
          </p:nvSpPr>
          <p:spPr>
            <a:xfrm>
              <a:off x="0" y="-19050"/>
              <a:ext cx="1229020" cy="354440"/>
            </a:xfrm>
            <a:prstGeom prst="rect">
              <a:avLst/>
            </a:prstGeom>
          </p:spPr>
          <p:txBody>
            <a:bodyPr anchor="ctr" rtlCol="false" tIns="50800" lIns="50800" bIns="50800" rIns="50800"/>
            <a:lstStyle/>
            <a:p>
              <a:pPr algn="ctr">
                <a:lnSpc>
                  <a:spcPts val="2640"/>
                </a:lnSpc>
              </a:pPr>
            </a:p>
          </p:txBody>
        </p:sp>
      </p:grpSp>
      <p:sp>
        <p:nvSpPr>
          <p:cNvPr name="Freeform 32" id="32"/>
          <p:cNvSpPr/>
          <p:nvPr/>
        </p:nvSpPr>
        <p:spPr>
          <a:xfrm flipH="true" flipV="true" rot="0">
            <a:off x="14000934" y="3860866"/>
            <a:ext cx="1972721" cy="692246"/>
          </a:xfrm>
          <a:custGeom>
            <a:avLst/>
            <a:gdLst/>
            <a:ahLst/>
            <a:cxnLst/>
            <a:rect r="r" b="b" t="t" l="l"/>
            <a:pathLst>
              <a:path h="692246" w="1972721">
                <a:moveTo>
                  <a:pt x="1972721" y="692245"/>
                </a:moveTo>
                <a:lnTo>
                  <a:pt x="0" y="692245"/>
                </a:lnTo>
                <a:lnTo>
                  <a:pt x="0" y="0"/>
                </a:lnTo>
                <a:lnTo>
                  <a:pt x="1972721" y="0"/>
                </a:lnTo>
                <a:lnTo>
                  <a:pt x="1972721" y="692245"/>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3" id="33"/>
          <p:cNvSpPr/>
          <p:nvPr/>
        </p:nvSpPr>
        <p:spPr>
          <a:xfrm flipH="true" flipV="true" rot="0">
            <a:off x="1540693" y="5335193"/>
            <a:ext cx="1972721" cy="692246"/>
          </a:xfrm>
          <a:custGeom>
            <a:avLst/>
            <a:gdLst/>
            <a:ahLst/>
            <a:cxnLst/>
            <a:rect r="r" b="b" t="t" l="l"/>
            <a:pathLst>
              <a:path h="692246" w="1972721">
                <a:moveTo>
                  <a:pt x="1972721" y="692246"/>
                </a:moveTo>
                <a:lnTo>
                  <a:pt x="0" y="692246"/>
                </a:lnTo>
                <a:lnTo>
                  <a:pt x="0" y="0"/>
                </a:lnTo>
                <a:lnTo>
                  <a:pt x="1972721" y="0"/>
                </a:lnTo>
                <a:lnTo>
                  <a:pt x="1972721" y="692246"/>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4" id="34"/>
          <p:cNvSpPr txBox="true"/>
          <p:nvPr/>
        </p:nvSpPr>
        <p:spPr>
          <a:xfrm rot="0">
            <a:off x="8210288" y="5961155"/>
            <a:ext cx="2251749" cy="381956"/>
          </a:xfrm>
          <a:prstGeom prst="rect">
            <a:avLst/>
          </a:prstGeom>
        </p:spPr>
        <p:txBody>
          <a:bodyPr anchor="t" rtlCol="false" tIns="0" lIns="0" bIns="0" rIns="0">
            <a:spAutoFit/>
          </a:bodyPr>
          <a:lstStyle/>
          <a:p>
            <a:pPr algn="ctr">
              <a:lnSpc>
                <a:spcPts val="2887"/>
              </a:lnSpc>
              <a:spcBef>
                <a:spcPct val="0"/>
              </a:spcBef>
            </a:pPr>
            <a:r>
              <a:rPr lang="en-US" b="true" sz="2406">
                <a:solidFill>
                  <a:srgbClr val="000000"/>
                </a:solidFill>
                <a:latin typeface="Poppins Bold"/>
                <a:ea typeface="Poppins Bold"/>
                <a:cs typeface="Poppins Bold"/>
                <a:sym typeface="Poppins Bold"/>
              </a:rPr>
              <a:t>Cost-Effective</a:t>
            </a:r>
          </a:p>
        </p:txBody>
      </p:sp>
      <p:sp>
        <p:nvSpPr>
          <p:cNvPr name="TextBox 35" id="35"/>
          <p:cNvSpPr txBox="true"/>
          <p:nvPr/>
        </p:nvSpPr>
        <p:spPr>
          <a:xfrm rot="0">
            <a:off x="1181661" y="7092821"/>
            <a:ext cx="5010425" cy="628534"/>
          </a:xfrm>
          <a:prstGeom prst="rect">
            <a:avLst/>
          </a:prstGeom>
        </p:spPr>
        <p:txBody>
          <a:bodyPr anchor="t" rtlCol="false" tIns="0" lIns="0" bIns="0" rIns="0">
            <a:spAutoFit/>
          </a:bodyPr>
          <a:lstStyle/>
          <a:p>
            <a:pPr algn="ctr">
              <a:lnSpc>
                <a:spcPts val="2461"/>
              </a:lnSpc>
              <a:spcBef>
                <a:spcPct val="0"/>
              </a:spcBef>
            </a:pPr>
            <a:r>
              <a:rPr lang="en-US" sz="2050">
                <a:solidFill>
                  <a:srgbClr val="FFFFFF"/>
                </a:solidFill>
                <a:latin typeface="Poppins"/>
                <a:ea typeface="Poppins"/>
                <a:cs typeface="Poppins"/>
                <a:sym typeface="Poppins"/>
              </a:rPr>
              <a:t>We provide precise targeting through advanced algorithms.</a:t>
            </a:r>
          </a:p>
        </p:txBody>
      </p:sp>
      <p:sp>
        <p:nvSpPr>
          <p:cNvPr name="TextBox 36" id="36"/>
          <p:cNvSpPr txBox="true"/>
          <p:nvPr/>
        </p:nvSpPr>
        <p:spPr>
          <a:xfrm rot="0">
            <a:off x="6880908" y="7092821"/>
            <a:ext cx="5009457" cy="628534"/>
          </a:xfrm>
          <a:prstGeom prst="rect">
            <a:avLst/>
          </a:prstGeom>
        </p:spPr>
        <p:txBody>
          <a:bodyPr anchor="t" rtlCol="false" tIns="0" lIns="0" bIns="0" rIns="0">
            <a:spAutoFit/>
          </a:bodyPr>
          <a:lstStyle/>
          <a:p>
            <a:pPr algn="ctr">
              <a:lnSpc>
                <a:spcPts val="2461"/>
              </a:lnSpc>
              <a:spcBef>
                <a:spcPct val="0"/>
              </a:spcBef>
            </a:pPr>
            <a:r>
              <a:rPr lang="en-US" b="true" sz="2050">
                <a:solidFill>
                  <a:srgbClr val="FFFFFF"/>
                </a:solidFill>
                <a:latin typeface="Poppins Medium"/>
                <a:ea typeface="Poppins Medium"/>
                <a:cs typeface="Poppins Medium"/>
                <a:sym typeface="Poppins Medium"/>
              </a:rPr>
              <a:t>Achieve high ROI with our affordable pricing structures.</a:t>
            </a:r>
          </a:p>
        </p:txBody>
      </p:sp>
      <p:sp>
        <p:nvSpPr>
          <p:cNvPr name="TextBox 37" id="37"/>
          <p:cNvSpPr txBox="true"/>
          <p:nvPr/>
        </p:nvSpPr>
        <p:spPr>
          <a:xfrm rot="0">
            <a:off x="13829636" y="5961155"/>
            <a:ext cx="2315317" cy="381956"/>
          </a:xfrm>
          <a:prstGeom prst="rect">
            <a:avLst/>
          </a:prstGeom>
        </p:spPr>
        <p:txBody>
          <a:bodyPr anchor="t" rtlCol="false" tIns="0" lIns="0" bIns="0" rIns="0">
            <a:spAutoFit/>
          </a:bodyPr>
          <a:lstStyle/>
          <a:p>
            <a:pPr algn="ctr">
              <a:lnSpc>
                <a:spcPts val="2887"/>
              </a:lnSpc>
              <a:spcBef>
                <a:spcPct val="0"/>
              </a:spcBef>
            </a:pPr>
            <a:r>
              <a:rPr lang="en-US" b="true" sz="2406">
                <a:solidFill>
                  <a:srgbClr val="000000"/>
                </a:solidFill>
                <a:latin typeface="Poppins Bold"/>
                <a:ea typeface="Poppins Bold"/>
                <a:cs typeface="Poppins Bold"/>
                <a:sym typeface="Poppins Bold"/>
              </a:rPr>
              <a:t>Proven Results</a:t>
            </a:r>
          </a:p>
        </p:txBody>
      </p:sp>
      <p:sp>
        <p:nvSpPr>
          <p:cNvPr name="TextBox 38" id="38"/>
          <p:cNvSpPr txBox="true"/>
          <p:nvPr/>
        </p:nvSpPr>
        <p:spPr>
          <a:xfrm rot="0">
            <a:off x="12484059" y="7092821"/>
            <a:ext cx="5006604" cy="628534"/>
          </a:xfrm>
          <a:prstGeom prst="rect">
            <a:avLst/>
          </a:prstGeom>
        </p:spPr>
        <p:txBody>
          <a:bodyPr anchor="t" rtlCol="false" tIns="0" lIns="0" bIns="0" rIns="0">
            <a:spAutoFit/>
          </a:bodyPr>
          <a:lstStyle/>
          <a:p>
            <a:pPr algn="ctr">
              <a:lnSpc>
                <a:spcPts val="2461"/>
              </a:lnSpc>
              <a:spcBef>
                <a:spcPct val="0"/>
              </a:spcBef>
            </a:pPr>
            <a:r>
              <a:rPr lang="en-US" b="true" sz="2050">
                <a:solidFill>
                  <a:srgbClr val="FFFFFF"/>
                </a:solidFill>
                <a:latin typeface="Poppins Medium"/>
                <a:ea typeface="Poppins Medium"/>
                <a:cs typeface="Poppins Medium"/>
                <a:sym typeface="Poppins Medium"/>
              </a:rPr>
              <a:t>Our case studies demonstrate significant business growth.</a:t>
            </a:r>
          </a:p>
        </p:txBody>
      </p:sp>
      <p:sp>
        <p:nvSpPr>
          <p:cNvPr name="TextBox 39" id="39"/>
          <p:cNvSpPr txBox="true"/>
          <p:nvPr/>
        </p:nvSpPr>
        <p:spPr>
          <a:xfrm rot="0">
            <a:off x="1827066" y="5961155"/>
            <a:ext cx="3719483" cy="381956"/>
          </a:xfrm>
          <a:prstGeom prst="rect">
            <a:avLst/>
          </a:prstGeom>
        </p:spPr>
        <p:txBody>
          <a:bodyPr anchor="t" rtlCol="false" tIns="0" lIns="0" bIns="0" rIns="0">
            <a:spAutoFit/>
          </a:bodyPr>
          <a:lstStyle/>
          <a:p>
            <a:pPr algn="ctr">
              <a:lnSpc>
                <a:spcPts val="2887"/>
              </a:lnSpc>
              <a:spcBef>
                <a:spcPct val="0"/>
              </a:spcBef>
            </a:pPr>
            <a:r>
              <a:rPr lang="en-US" b="true" sz="2406">
                <a:solidFill>
                  <a:srgbClr val="000000"/>
                </a:solidFill>
                <a:latin typeface="Poppins Bold"/>
                <a:ea typeface="Poppins Bold"/>
                <a:cs typeface="Poppins Bold"/>
                <a:sym typeface="Poppins Bold"/>
              </a:rPr>
              <a:t>Accurate Insights</a:t>
            </a:r>
          </a:p>
        </p:txBody>
      </p:sp>
      <p:sp>
        <p:nvSpPr>
          <p:cNvPr name="TextBox 40" id="40"/>
          <p:cNvSpPr txBox="true"/>
          <p:nvPr/>
        </p:nvSpPr>
        <p:spPr>
          <a:xfrm rot="0">
            <a:off x="1868076" y="1428750"/>
            <a:ext cx="9355720" cy="796323"/>
          </a:xfrm>
          <a:prstGeom prst="rect">
            <a:avLst/>
          </a:prstGeom>
        </p:spPr>
        <p:txBody>
          <a:bodyPr anchor="t" rtlCol="false" tIns="0" lIns="0" bIns="0" rIns="0">
            <a:spAutoFit/>
          </a:bodyPr>
          <a:lstStyle/>
          <a:p>
            <a:pPr algn="l" marL="0" indent="0" lvl="0">
              <a:lnSpc>
                <a:spcPts val="5883"/>
              </a:lnSpc>
            </a:pPr>
            <a:r>
              <a:rPr lang="en-US" b="true" sz="5253">
                <a:solidFill>
                  <a:srgbClr val="F6F6F6"/>
                </a:solidFill>
                <a:latin typeface="Poppins Semi-Bold"/>
                <a:ea typeface="Poppins Semi-Bold"/>
                <a:cs typeface="Poppins Semi-Bold"/>
                <a:sym typeface="Poppins Semi-Bold"/>
              </a:rPr>
              <a:t>Why Choo</a:t>
            </a:r>
            <a:r>
              <a:rPr lang="en-US" b="true" sz="5253">
                <a:solidFill>
                  <a:srgbClr val="F6F6F6"/>
                </a:solidFill>
                <a:latin typeface="Poppins Semi-Bold"/>
                <a:ea typeface="Poppins Semi-Bold"/>
                <a:cs typeface="Poppins Semi-Bold"/>
                <a:sym typeface="Poppins Semi-Bold"/>
              </a:rPr>
              <a:t>se ByteBlink AI?</a:t>
            </a:r>
          </a:p>
        </p:txBody>
      </p:sp>
      <p:sp>
        <p:nvSpPr>
          <p:cNvPr name="TextBox 41" id="41"/>
          <p:cNvSpPr txBox="true"/>
          <p:nvPr/>
        </p:nvSpPr>
        <p:spPr>
          <a:xfrm rot="0">
            <a:off x="2948001" y="4515011"/>
            <a:ext cx="1477612" cy="1036416"/>
          </a:xfrm>
          <a:prstGeom prst="rect">
            <a:avLst/>
          </a:prstGeom>
        </p:spPr>
        <p:txBody>
          <a:bodyPr anchor="t" rtlCol="false" tIns="0" lIns="0" bIns="0" rIns="0">
            <a:spAutoFit/>
          </a:bodyPr>
          <a:lstStyle/>
          <a:p>
            <a:pPr algn="ctr">
              <a:lnSpc>
                <a:spcPts val="7791"/>
              </a:lnSpc>
              <a:spcBef>
                <a:spcPct val="0"/>
              </a:spcBef>
            </a:pPr>
            <a:r>
              <a:rPr lang="en-US" b="true" sz="6493">
                <a:solidFill>
                  <a:srgbClr val="000000"/>
                </a:solidFill>
                <a:latin typeface="Poppins Bold"/>
                <a:ea typeface="Poppins Bold"/>
                <a:cs typeface="Poppins Bold"/>
                <a:sym typeface="Poppins Bold"/>
              </a:rPr>
              <a:t>1</a:t>
            </a:r>
          </a:p>
        </p:txBody>
      </p:sp>
      <p:sp>
        <p:nvSpPr>
          <p:cNvPr name="TextBox 42" id="42"/>
          <p:cNvSpPr txBox="true"/>
          <p:nvPr/>
        </p:nvSpPr>
        <p:spPr>
          <a:xfrm rot="0">
            <a:off x="8597356" y="4515011"/>
            <a:ext cx="1477612" cy="1036416"/>
          </a:xfrm>
          <a:prstGeom prst="rect">
            <a:avLst/>
          </a:prstGeom>
        </p:spPr>
        <p:txBody>
          <a:bodyPr anchor="t" rtlCol="false" tIns="0" lIns="0" bIns="0" rIns="0">
            <a:spAutoFit/>
          </a:bodyPr>
          <a:lstStyle/>
          <a:p>
            <a:pPr algn="ctr">
              <a:lnSpc>
                <a:spcPts val="7791"/>
              </a:lnSpc>
              <a:spcBef>
                <a:spcPct val="0"/>
              </a:spcBef>
            </a:pPr>
            <a:r>
              <a:rPr lang="en-US" b="true" sz="6493">
                <a:solidFill>
                  <a:srgbClr val="000000"/>
                </a:solidFill>
                <a:latin typeface="Poppins Bold"/>
                <a:ea typeface="Poppins Bold"/>
                <a:cs typeface="Poppins Bold"/>
                <a:sym typeface="Poppins Bold"/>
              </a:rPr>
              <a:t>2</a:t>
            </a:r>
          </a:p>
        </p:txBody>
      </p:sp>
      <p:sp>
        <p:nvSpPr>
          <p:cNvPr name="TextBox 43" id="43"/>
          <p:cNvSpPr txBox="true"/>
          <p:nvPr/>
        </p:nvSpPr>
        <p:spPr>
          <a:xfrm rot="0">
            <a:off x="14252202" y="4543586"/>
            <a:ext cx="1477612" cy="1036416"/>
          </a:xfrm>
          <a:prstGeom prst="rect">
            <a:avLst/>
          </a:prstGeom>
        </p:spPr>
        <p:txBody>
          <a:bodyPr anchor="t" rtlCol="false" tIns="0" lIns="0" bIns="0" rIns="0">
            <a:spAutoFit/>
          </a:bodyPr>
          <a:lstStyle/>
          <a:p>
            <a:pPr algn="ctr">
              <a:lnSpc>
                <a:spcPts val="7791"/>
              </a:lnSpc>
              <a:spcBef>
                <a:spcPct val="0"/>
              </a:spcBef>
            </a:pPr>
            <a:r>
              <a:rPr lang="en-US" b="true" sz="6493">
                <a:solidFill>
                  <a:srgbClr val="000000"/>
                </a:solidFill>
                <a:latin typeface="Poppins Bold"/>
                <a:ea typeface="Poppins Bold"/>
                <a:cs typeface="Poppins Bold"/>
                <a:sym typeface="Poppins Bold"/>
              </a:rPr>
              <a:t>3</a:t>
            </a:r>
          </a:p>
        </p:txBody>
      </p:sp>
      <p:sp>
        <p:nvSpPr>
          <p:cNvPr name="TextBox 44" id="44"/>
          <p:cNvSpPr txBox="true"/>
          <p:nvPr/>
        </p:nvSpPr>
        <p:spPr>
          <a:xfrm rot="0">
            <a:off x="1868076" y="2383791"/>
            <a:ext cx="8521570" cy="1563369"/>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WE DELIVER P</a:t>
            </a:r>
            <a:r>
              <a:rPr lang="en-US" sz="2200" i="true" spc="528">
                <a:solidFill>
                  <a:srgbClr val="F6F6F6"/>
                </a:solidFill>
                <a:latin typeface="Poppins Italics"/>
                <a:ea typeface="Poppins Italics"/>
                <a:cs typeface="Poppins Italics"/>
                <a:sym typeface="Poppins Italics"/>
              </a:rPr>
              <a:t>RECISE INSIGHTS, AFFORDABLE ST</a:t>
            </a:r>
            <a:r>
              <a:rPr lang="en-US" sz="2200" i="true" spc="528">
                <a:solidFill>
                  <a:srgbClr val="F6F6F6"/>
                </a:solidFill>
                <a:latin typeface="Poppins Italics"/>
                <a:ea typeface="Poppins Italics"/>
                <a:cs typeface="Poppins Italics"/>
                <a:sym typeface="Poppins Italics"/>
              </a:rPr>
              <a:t>R</a:t>
            </a:r>
            <a:r>
              <a:rPr lang="en-US" sz="2200" i="true" spc="528">
                <a:solidFill>
                  <a:srgbClr val="F6F6F6"/>
                </a:solidFill>
                <a:latin typeface="Poppins Italics"/>
                <a:ea typeface="Poppins Italics"/>
                <a:cs typeface="Poppins Italics"/>
                <a:sym typeface="Poppins Italics"/>
              </a:rPr>
              <a:t>A</a:t>
            </a:r>
            <a:r>
              <a:rPr lang="en-US" sz="2200" i="true" spc="528">
                <a:solidFill>
                  <a:srgbClr val="F6F6F6"/>
                </a:solidFill>
                <a:latin typeface="Poppins Italics"/>
                <a:ea typeface="Poppins Italics"/>
                <a:cs typeface="Poppins Italics"/>
                <a:sym typeface="Poppins Italics"/>
              </a:rPr>
              <a:t>TE</a:t>
            </a:r>
            <a:r>
              <a:rPr lang="en-US" sz="2200" i="true" spc="528">
                <a:solidFill>
                  <a:srgbClr val="F6F6F6"/>
                </a:solidFill>
                <a:latin typeface="Poppins Italics"/>
                <a:ea typeface="Poppins Italics"/>
                <a:cs typeface="Poppins Italics"/>
                <a:sym typeface="Poppins Italics"/>
              </a:rPr>
              <a:t>GIES, AND </a:t>
            </a:r>
            <a:r>
              <a:rPr lang="en-US" b="true" sz="2200" i="true" spc="528">
                <a:solidFill>
                  <a:srgbClr val="F6F6F6"/>
                </a:solidFill>
                <a:latin typeface="Poppins Bold Italics"/>
                <a:ea typeface="Poppins Bold Italics"/>
                <a:cs typeface="Poppins Bold Italics"/>
                <a:sym typeface="Poppins Bold Italics"/>
              </a:rPr>
              <a:t>PROVEN RESULTS TO DRIVE </a:t>
            </a:r>
            <a:r>
              <a:rPr lang="en-US" b="true" sz="2200" i="true" spc="528">
                <a:solidFill>
                  <a:srgbClr val="A0EEEB"/>
                </a:solidFill>
                <a:latin typeface="Poppins Bold Italics"/>
                <a:ea typeface="Poppins Bold Italics"/>
                <a:cs typeface="Poppins Bold Italics"/>
                <a:sym typeface="Poppins Bold Italics"/>
              </a:rPr>
              <a:t>REAL GROWTH.</a:t>
            </a:r>
          </a:p>
          <a:p>
            <a:pPr algn="l" marL="0" indent="0" lvl="0">
              <a:lnSpc>
                <a:spcPts val="308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grpSp>
        <p:nvGrpSpPr>
          <p:cNvPr name="Group 3" id="3"/>
          <p:cNvGrpSpPr/>
          <p:nvPr/>
        </p:nvGrpSpPr>
        <p:grpSpPr>
          <a:xfrm rot="-10800000">
            <a:off x="0" y="5961540"/>
            <a:ext cx="18288000" cy="3687285"/>
            <a:chOff x="0" y="0"/>
            <a:chExt cx="4816593" cy="971137"/>
          </a:xfrm>
        </p:grpSpPr>
        <p:sp>
          <p:nvSpPr>
            <p:cNvPr name="Freeform 4" id="4"/>
            <p:cNvSpPr/>
            <p:nvPr/>
          </p:nvSpPr>
          <p:spPr>
            <a:xfrm flipH="false" flipV="false" rot="0">
              <a:off x="0" y="0"/>
              <a:ext cx="4816592" cy="971137"/>
            </a:xfrm>
            <a:custGeom>
              <a:avLst/>
              <a:gdLst/>
              <a:ahLst/>
              <a:cxnLst/>
              <a:rect r="r" b="b" t="t" l="l"/>
              <a:pathLst>
                <a:path h="971137" w="4816592">
                  <a:moveTo>
                    <a:pt x="0" y="0"/>
                  </a:moveTo>
                  <a:lnTo>
                    <a:pt x="4816592" y="0"/>
                  </a:lnTo>
                  <a:lnTo>
                    <a:pt x="4816592" y="971137"/>
                  </a:lnTo>
                  <a:lnTo>
                    <a:pt x="0" y="971137"/>
                  </a:lnTo>
                  <a:close/>
                </a:path>
              </a:pathLst>
            </a:custGeom>
            <a:gradFill rotWithShape="true">
              <a:gsLst>
                <a:gs pos="0">
                  <a:srgbClr val="000000">
                    <a:alpha val="100000"/>
                  </a:srgbClr>
                </a:gs>
                <a:gs pos="100000">
                  <a:srgbClr val="000000">
                    <a:alpha val="0"/>
                  </a:srgbClr>
                </a:gs>
              </a:gsLst>
              <a:lin ang="5400000"/>
            </a:gradFill>
          </p:spPr>
        </p:sp>
        <p:sp>
          <p:nvSpPr>
            <p:cNvPr name="TextBox 5" id="5"/>
            <p:cNvSpPr txBox="true"/>
            <p:nvPr/>
          </p:nvSpPr>
          <p:spPr>
            <a:xfrm>
              <a:off x="0" y="-19050"/>
              <a:ext cx="4816593" cy="990187"/>
            </a:xfrm>
            <a:prstGeom prst="rect">
              <a:avLst/>
            </a:prstGeom>
          </p:spPr>
          <p:txBody>
            <a:bodyPr anchor="ctr" rtlCol="false" tIns="50800" lIns="50800" bIns="50800" rIns="50800"/>
            <a:lstStyle/>
            <a:p>
              <a:pPr algn="ctr">
                <a:lnSpc>
                  <a:spcPts val="2640"/>
                </a:lnSpc>
              </a:pPr>
            </a:p>
          </p:txBody>
        </p:sp>
      </p:grpSp>
      <p:sp>
        <p:nvSpPr>
          <p:cNvPr name="Freeform 6" id="6"/>
          <p:cNvSpPr/>
          <p:nvPr/>
        </p:nvSpPr>
        <p:spPr>
          <a:xfrm flipH="false" flipV="false" rot="0">
            <a:off x="1292222" y="3194050"/>
            <a:ext cx="7851778" cy="3700150"/>
          </a:xfrm>
          <a:custGeom>
            <a:avLst/>
            <a:gdLst/>
            <a:ahLst/>
            <a:cxnLst/>
            <a:rect r="r" b="b" t="t" l="l"/>
            <a:pathLst>
              <a:path h="3700150" w="7851778">
                <a:moveTo>
                  <a:pt x="0" y="0"/>
                </a:moveTo>
                <a:lnTo>
                  <a:pt x="7851778" y="0"/>
                </a:lnTo>
                <a:lnTo>
                  <a:pt x="7851778" y="3700150"/>
                </a:lnTo>
                <a:lnTo>
                  <a:pt x="0" y="3700150"/>
                </a:lnTo>
                <a:lnTo>
                  <a:pt x="0" y="0"/>
                </a:lnTo>
                <a:close/>
              </a:path>
            </a:pathLst>
          </a:custGeom>
          <a:blipFill>
            <a:blip r:embed="rId3">
              <a:alphaModFix amt="41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true" rot="0">
            <a:off x="1446450" y="4194029"/>
            <a:ext cx="1581567" cy="554986"/>
          </a:xfrm>
          <a:custGeom>
            <a:avLst/>
            <a:gdLst/>
            <a:ahLst/>
            <a:cxnLst/>
            <a:rect r="r" b="b" t="t" l="l"/>
            <a:pathLst>
              <a:path h="554986" w="1581567">
                <a:moveTo>
                  <a:pt x="0" y="554986"/>
                </a:moveTo>
                <a:lnTo>
                  <a:pt x="1581567" y="554986"/>
                </a:lnTo>
                <a:lnTo>
                  <a:pt x="1581567" y="0"/>
                </a:lnTo>
                <a:lnTo>
                  <a:pt x="0" y="0"/>
                </a:lnTo>
                <a:lnTo>
                  <a:pt x="0" y="554986"/>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2806276" y="4276267"/>
            <a:ext cx="6068959" cy="1670629"/>
            <a:chOff x="0" y="0"/>
            <a:chExt cx="2527032" cy="695627"/>
          </a:xfrm>
        </p:grpSpPr>
        <p:sp>
          <p:nvSpPr>
            <p:cNvPr name="Freeform 9" id="9"/>
            <p:cNvSpPr/>
            <p:nvPr/>
          </p:nvSpPr>
          <p:spPr>
            <a:xfrm flipH="false" flipV="false" rot="0">
              <a:off x="0" y="0"/>
              <a:ext cx="2527032" cy="695627"/>
            </a:xfrm>
            <a:custGeom>
              <a:avLst/>
              <a:gdLst/>
              <a:ahLst/>
              <a:cxnLst/>
              <a:rect r="r" b="b" t="t" l="l"/>
              <a:pathLst>
                <a:path h="695627" w="2527032">
                  <a:moveTo>
                    <a:pt x="29340" y="0"/>
                  </a:moveTo>
                  <a:lnTo>
                    <a:pt x="2497692" y="0"/>
                  </a:lnTo>
                  <a:cubicBezTo>
                    <a:pt x="2505473" y="0"/>
                    <a:pt x="2512936" y="3091"/>
                    <a:pt x="2518438" y="8594"/>
                  </a:cubicBezTo>
                  <a:cubicBezTo>
                    <a:pt x="2523941" y="14096"/>
                    <a:pt x="2527032" y="21559"/>
                    <a:pt x="2527032" y="29340"/>
                  </a:cubicBezTo>
                  <a:lnTo>
                    <a:pt x="2527032" y="666287"/>
                  </a:lnTo>
                  <a:cubicBezTo>
                    <a:pt x="2527032" y="682491"/>
                    <a:pt x="2513896" y="695627"/>
                    <a:pt x="2497692" y="695627"/>
                  </a:cubicBezTo>
                  <a:lnTo>
                    <a:pt x="29340" y="695627"/>
                  </a:lnTo>
                  <a:cubicBezTo>
                    <a:pt x="13136" y="695627"/>
                    <a:pt x="0" y="682491"/>
                    <a:pt x="0" y="666287"/>
                  </a:cubicBezTo>
                  <a:lnTo>
                    <a:pt x="0" y="29340"/>
                  </a:lnTo>
                  <a:cubicBezTo>
                    <a:pt x="0" y="13136"/>
                    <a:pt x="13136" y="0"/>
                    <a:pt x="29340" y="0"/>
                  </a:cubicBezTo>
                  <a:close/>
                </a:path>
              </a:pathLst>
            </a:custGeom>
            <a:solidFill>
              <a:srgbClr val="A0EEEB">
                <a:alpha val="40784"/>
              </a:srgbClr>
            </a:solidFill>
            <a:ln w="85725" cap="rnd">
              <a:solidFill>
                <a:srgbClr val="A0EEEB">
                  <a:alpha val="40784"/>
                </a:srgbClr>
              </a:solidFill>
              <a:prstDash val="solid"/>
              <a:round/>
            </a:ln>
          </p:spPr>
        </p:sp>
        <p:sp>
          <p:nvSpPr>
            <p:cNvPr name="TextBox 10" id="10"/>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11" id="11"/>
          <p:cNvGrpSpPr/>
          <p:nvPr/>
        </p:nvGrpSpPr>
        <p:grpSpPr>
          <a:xfrm rot="0">
            <a:off x="1631081" y="4423271"/>
            <a:ext cx="1413193" cy="1413193"/>
            <a:chOff x="0" y="0"/>
            <a:chExt cx="588434" cy="588434"/>
          </a:xfrm>
        </p:grpSpPr>
        <p:sp>
          <p:nvSpPr>
            <p:cNvPr name="Freeform 12" id="12"/>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13" id="13"/>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TextBox 14" id="14"/>
          <p:cNvSpPr txBox="true"/>
          <p:nvPr/>
        </p:nvSpPr>
        <p:spPr>
          <a:xfrm rot="0">
            <a:off x="1868076" y="2383791"/>
            <a:ext cx="8521570" cy="1563369"/>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FROM LE</a:t>
            </a:r>
            <a:r>
              <a:rPr lang="en-US" sz="2200" i="true" spc="528">
                <a:solidFill>
                  <a:srgbClr val="F6F6F6"/>
                </a:solidFill>
                <a:latin typeface="Poppins Italics"/>
                <a:ea typeface="Poppins Italics"/>
                <a:cs typeface="Poppins Italics"/>
                <a:sym typeface="Poppins Italics"/>
              </a:rPr>
              <a:t>AD LISTS TO CMO-LEVEL STRATEGY, OUR SMART TOOLS HELP YOU </a:t>
            </a:r>
            <a:r>
              <a:rPr lang="en-US" b="true" sz="2200" i="true" spc="528">
                <a:solidFill>
                  <a:srgbClr val="F6F6F6"/>
                </a:solidFill>
                <a:latin typeface="Poppins Bold Italics"/>
                <a:ea typeface="Poppins Bold Italics"/>
                <a:cs typeface="Poppins Bold Italics"/>
                <a:sym typeface="Poppins Bold Italics"/>
              </a:rPr>
              <a:t>MARKET SMARTER AND SCALE FASTER.</a:t>
            </a:r>
          </a:p>
          <a:p>
            <a:pPr algn="l" marL="0" indent="0" lvl="0">
              <a:lnSpc>
                <a:spcPts val="3080"/>
              </a:lnSpc>
            </a:pPr>
          </a:p>
        </p:txBody>
      </p:sp>
      <p:sp>
        <p:nvSpPr>
          <p:cNvPr name="TextBox 15" id="15"/>
          <p:cNvSpPr txBox="true"/>
          <p:nvPr/>
        </p:nvSpPr>
        <p:spPr>
          <a:xfrm rot="0">
            <a:off x="3409786" y="4995250"/>
            <a:ext cx="5115320" cy="681517"/>
          </a:xfrm>
          <a:prstGeom prst="rect">
            <a:avLst/>
          </a:prstGeom>
        </p:spPr>
        <p:txBody>
          <a:bodyPr anchor="t" rtlCol="false" tIns="0" lIns="0" bIns="0" rIns="0">
            <a:spAutoFit/>
          </a:bodyPr>
          <a:lstStyle/>
          <a:p>
            <a:pPr algn="l">
              <a:lnSpc>
                <a:spcPts val="2625"/>
              </a:lnSpc>
              <a:spcBef>
                <a:spcPct val="0"/>
              </a:spcBef>
            </a:pPr>
            <a:r>
              <a:rPr lang="en-US" sz="2187" b="true">
                <a:solidFill>
                  <a:srgbClr val="FFFFFF"/>
                </a:solidFill>
                <a:latin typeface="Poppins Medium"/>
                <a:ea typeface="Poppins Medium"/>
                <a:cs typeface="Poppins Medium"/>
                <a:sym typeface="Poppins Medium"/>
              </a:rPr>
              <a:t>Get tailored solutions for your unique needs.</a:t>
            </a:r>
          </a:p>
        </p:txBody>
      </p:sp>
      <p:sp>
        <p:nvSpPr>
          <p:cNvPr name="Freeform 16" id="16"/>
          <p:cNvSpPr/>
          <p:nvPr/>
        </p:nvSpPr>
        <p:spPr>
          <a:xfrm flipH="false" flipV="false" rot="0">
            <a:off x="1292222" y="5294576"/>
            <a:ext cx="7851778" cy="3700150"/>
          </a:xfrm>
          <a:custGeom>
            <a:avLst/>
            <a:gdLst/>
            <a:ahLst/>
            <a:cxnLst/>
            <a:rect r="r" b="b" t="t" l="l"/>
            <a:pathLst>
              <a:path h="3700150" w="7851778">
                <a:moveTo>
                  <a:pt x="0" y="0"/>
                </a:moveTo>
                <a:lnTo>
                  <a:pt x="7851778" y="0"/>
                </a:lnTo>
                <a:lnTo>
                  <a:pt x="7851778" y="3700150"/>
                </a:lnTo>
                <a:lnTo>
                  <a:pt x="0" y="37001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true" rot="0">
            <a:off x="1446450" y="6294554"/>
            <a:ext cx="1581567" cy="554986"/>
          </a:xfrm>
          <a:custGeom>
            <a:avLst/>
            <a:gdLst/>
            <a:ahLst/>
            <a:cxnLst/>
            <a:rect r="r" b="b" t="t" l="l"/>
            <a:pathLst>
              <a:path h="554986" w="1581567">
                <a:moveTo>
                  <a:pt x="0" y="554987"/>
                </a:moveTo>
                <a:lnTo>
                  <a:pt x="1581567" y="554987"/>
                </a:lnTo>
                <a:lnTo>
                  <a:pt x="1581567" y="0"/>
                </a:lnTo>
                <a:lnTo>
                  <a:pt x="0" y="0"/>
                </a:lnTo>
                <a:lnTo>
                  <a:pt x="0" y="554987"/>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2806276" y="6376793"/>
            <a:ext cx="6068959" cy="1670629"/>
            <a:chOff x="0" y="0"/>
            <a:chExt cx="2527032" cy="695627"/>
          </a:xfrm>
        </p:grpSpPr>
        <p:sp>
          <p:nvSpPr>
            <p:cNvPr name="Freeform 19" id="19"/>
            <p:cNvSpPr/>
            <p:nvPr/>
          </p:nvSpPr>
          <p:spPr>
            <a:xfrm flipH="false" flipV="false" rot="0">
              <a:off x="0" y="0"/>
              <a:ext cx="2527032" cy="695627"/>
            </a:xfrm>
            <a:custGeom>
              <a:avLst/>
              <a:gdLst/>
              <a:ahLst/>
              <a:cxnLst/>
              <a:rect r="r" b="b" t="t" l="l"/>
              <a:pathLst>
                <a:path h="695627" w="2527032">
                  <a:moveTo>
                    <a:pt x="29340" y="0"/>
                  </a:moveTo>
                  <a:lnTo>
                    <a:pt x="2497692" y="0"/>
                  </a:lnTo>
                  <a:cubicBezTo>
                    <a:pt x="2505473" y="0"/>
                    <a:pt x="2512936" y="3091"/>
                    <a:pt x="2518438" y="8594"/>
                  </a:cubicBezTo>
                  <a:cubicBezTo>
                    <a:pt x="2523941" y="14096"/>
                    <a:pt x="2527032" y="21559"/>
                    <a:pt x="2527032" y="29340"/>
                  </a:cubicBezTo>
                  <a:lnTo>
                    <a:pt x="2527032" y="666287"/>
                  </a:lnTo>
                  <a:cubicBezTo>
                    <a:pt x="2527032" y="682491"/>
                    <a:pt x="2513896" y="695627"/>
                    <a:pt x="2497692" y="695627"/>
                  </a:cubicBezTo>
                  <a:lnTo>
                    <a:pt x="29340" y="695627"/>
                  </a:lnTo>
                  <a:cubicBezTo>
                    <a:pt x="13136" y="695627"/>
                    <a:pt x="0" y="682491"/>
                    <a:pt x="0" y="666287"/>
                  </a:cubicBezTo>
                  <a:lnTo>
                    <a:pt x="0" y="29340"/>
                  </a:lnTo>
                  <a:cubicBezTo>
                    <a:pt x="0" y="13136"/>
                    <a:pt x="13136" y="0"/>
                    <a:pt x="29340" y="0"/>
                  </a:cubicBezTo>
                  <a:close/>
                </a:path>
              </a:pathLst>
            </a:custGeom>
            <a:solidFill>
              <a:srgbClr val="A0EEEB">
                <a:alpha val="40784"/>
              </a:srgbClr>
            </a:solidFill>
            <a:ln w="85725" cap="rnd">
              <a:solidFill>
                <a:srgbClr val="A0EEEB">
                  <a:alpha val="40784"/>
                </a:srgbClr>
              </a:solidFill>
              <a:prstDash val="solid"/>
              <a:round/>
            </a:ln>
          </p:spPr>
        </p:sp>
        <p:sp>
          <p:nvSpPr>
            <p:cNvPr name="TextBox 20" id="20"/>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21" id="21"/>
          <p:cNvGrpSpPr/>
          <p:nvPr/>
        </p:nvGrpSpPr>
        <p:grpSpPr>
          <a:xfrm rot="0">
            <a:off x="1631081" y="6523797"/>
            <a:ext cx="1413193" cy="1413193"/>
            <a:chOff x="0" y="0"/>
            <a:chExt cx="588434" cy="588434"/>
          </a:xfrm>
        </p:grpSpPr>
        <p:sp>
          <p:nvSpPr>
            <p:cNvPr name="Freeform 22" id="22"/>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3" id="23"/>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24" id="24"/>
          <p:cNvSpPr/>
          <p:nvPr/>
        </p:nvSpPr>
        <p:spPr>
          <a:xfrm flipH="false" flipV="false" rot="0">
            <a:off x="9144000" y="3194050"/>
            <a:ext cx="7851778" cy="3700150"/>
          </a:xfrm>
          <a:custGeom>
            <a:avLst/>
            <a:gdLst/>
            <a:ahLst/>
            <a:cxnLst/>
            <a:rect r="r" b="b" t="t" l="l"/>
            <a:pathLst>
              <a:path h="3700150" w="7851778">
                <a:moveTo>
                  <a:pt x="0" y="0"/>
                </a:moveTo>
                <a:lnTo>
                  <a:pt x="7851778" y="0"/>
                </a:lnTo>
                <a:lnTo>
                  <a:pt x="7851778" y="3700150"/>
                </a:lnTo>
                <a:lnTo>
                  <a:pt x="0" y="37001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true" rot="0">
            <a:off x="9298227" y="4194029"/>
            <a:ext cx="1581567" cy="554986"/>
          </a:xfrm>
          <a:custGeom>
            <a:avLst/>
            <a:gdLst/>
            <a:ahLst/>
            <a:cxnLst/>
            <a:rect r="r" b="b" t="t" l="l"/>
            <a:pathLst>
              <a:path h="554986" w="1581567">
                <a:moveTo>
                  <a:pt x="0" y="554986"/>
                </a:moveTo>
                <a:lnTo>
                  <a:pt x="1581567" y="554986"/>
                </a:lnTo>
                <a:lnTo>
                  <a:pt x="1581567" y="0"/>
                </a:lnTo>
                <a:lnTo>
                  <a:pt x="0" y="0"/>
                </a:lnTo>
                <a:lnTo>
                  <a:pt x="0" y="554986"/>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6" id="26"/>
          <p:cNvGrpSpPr/>
          <p:nvPr/>
        </p:nvGrpSpPr>
        <p:grpSpPr>
          <a:xfrm rot="0">
            <a:off x="10658053" y="4276267"/>
            <a:ext cx="6068959" cy="1670629"/>
            <a:chOff x="0" y="0"/>
            <a:chExt cx="2527032" cy="695627"/>
          </a:xfrm>
        </p:grpSpPr>
        <p:sp>
          <p:nvSpPr>
            <p:cNvPr name="Freeform 27" id="27"/>
            <p:cNvSpPr/>
            <p:nvPr/>
          </p:nvSpPr>
          <p:spPr>
            <a:xfrm flipH="false" flipV="false" rot="0">
              <a:off x="0" y="0"/>
              <a:ext cx="2527032" cy="695627"/>
            </a:xfrm>
            <a:custGeom>
              <a:avLst/>
              <a:gdLst/>
              <a:ahLst/>
              <a:cxnLst/>
              <a:rect r="r" b="b" t="t" l="l"/>
              <a:pathLst>
                <a:path h="695627" w="2527032">
                  <a:moveTo>
                    <a:pt x="29340" y="0"/>
                  </a:moveTo>
                  <a:lnTo>
                    <a:pt x="2497692" y="0"/>
                  </a:lnTo>
                  <a:cubicBezTo>
                    <a:pt x="2505473" y="0"/>
                    <a:pt x="2512936" y="3091"/>
                    <a:pt x="2518438" y="8594"/>
                  </a:cubicBezTo>
                  <a:cubicBezTo>
                    <a:pt x="2523941" y="14096"/>
                    <a:pt x="2527032" y="21559"/>
                    <a:pt x="2527032" y="29340"/>
                  </a:cubicBezTo>
                  <a:lnTo>
                    <a:pt x="2527032" y="666287"/>
                  </a:lnTo>
                  <a:cubicBezTo>
                    <a:pt x="2527032" y="682491"/>
                    <a:pt x="2513896" y="695627"/>
                    <a:pt x="2497692" y="695627"/>
                  </a:cubicBezTo>
                  <a:lnTo>
                    <a:pt x="29340" y="695627"/>
                  </a:lnTo>
                  <a:cubicBezTo>
                    <a:pt x="13136" y="695627"/>
                    <a:pt x="0" y="682491"/>
                    <a:pt x="0" y="666287"/>
                  </a:cubicBezTo>
                  <a:lnTo>
                    <a:pt x="0" y="29340"/>
                  </a:lnTo>
                  <a:cubicBezTo>
                    <a:pt x="0" y="13136"/>
                    <a:pt x="13136" y="0"/>
                    <a:pt x="29340" y="0"/>
                  </a:cubicBezTo>
                  <a:close/>
                </a:path>
              </a:pathLst>
            </a:custGeom>
            <a:solidFill>
              <a:srgbClr val="A0EEEB">
                <a:alpha val="40784"/>
              </a:srgbClr>
            </a:solidFill>
            <a:ln w="85725" cap="rnd">
              <a:solidFill>
                <a:srgbClr val="A0EEEB">
                  <a:alpha val="40784"/>
                </a:srgbClr>
              </a:solidFill>
              <a:prstDash val="solid"/>
              <a:round/>
            </a:ln>
          </p:spPr>
        </p:sp>
        <p:sp>
          <p:nvSpPr>
            <p:cNvPr name="TextBox 28" id="28"/>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29" id="29"/>
          <p:cNvGrpSpPr/>
          <p:nvPr/>
        </p:nvGrpSpPr>
        <p:grpSpPr>
          <a:xfrm rot="0">
            <a:off x="9482859" y="4423271"/>
            <a:ext cx="1413193" cy="1413193"/>
            <a:chOff x="0" y="0"/>
            <a:chExt cx="588434" cy="588434"/>
          </a:xfrm>
        </p:grpSpPr>
        <p:sp>
          <p:nvSpPr>
            <p:cNvPr name="Freeform 30" id="30"/>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31" id="31"/>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32" id="32"/>
          <p:cNvSpPr/>
          <p:nvPr/>
        </p:nvSpPr>
        <p:spPr>
          <a:xfrm flipH="false" flipV="false" rot="0">
            <a:off x="9144000" y="5294576"/>
            <a:ext cx="7851778" cy="3700150"/>
          </a:xfrm>
          <a:custGeom>
            <a:avLst/>
            <a:gdLst/>
            <a:ahLst/>
            <a:cxnLst/>
            <a:rect r="r" b="b" t="t" l="l"/>
            <a:pathLst>
              <a:path h="3700150" w="7851778">
                <a:moveTo>
                  <a:pt x="0" y="0"/>
                </a:moveTo>
                <a:lnTo>
                  <a:pt x="7851778" y="0"/>
                </a:lnTo>
                <a:lnTo>
                  <a:pt x="7851778" y="3700150"/>
                </a:lnTo>
                <a:lnTo>
                  <a:pt x="0" y="37001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3" id="33"/>
          <p:cNvSpPr/>
          <p:nvPr/>
        </p:nvSpPr>
        <p:spPr>
          <a:xfrm flipH="false" flipV="true" rot="0">
            <a:off x="9298227" y="6294554"/>
            <a:ext cx="1581567" cy="554986"/>
          </a:xfrm>
          <a:custGeom>
            <a:avLst/>
            <a:gdLst/>
            <a:ahLst/>
            <a:cxnLst/>
            <a:rect r="r" b="b" t="t" l="l"/>
            <a:pathLst>
              <a:path h="554986" w="1581567">
                <a:moveTo>
                  <a:pt x="0" y="554987"/>
                </a:moveTo>
                <a:lnTo>
                  <a:pt x="1581567" y="554987"/>
                </a:lnTo>
                <a:lnTo>
                  <a:pt x="1581567" y="0"/>
                </a:lnTo>
                <a:lnTo>
                  <a:pt x="0" y="0"/>
                </a:lnTo>
                <a:lnTo>
                  <a:pt x="0" y="554987"/>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4" id="34"/>
          <p:cNvGrpSpPr/>
          <p:nvPr/>
        </p:nvGrpSpPr>
        <p:grpSpPr>
          <a:xfrm rot="0">
            <a:off x="10658053" y="6376793"/>
            <a:ext cx="6068959" cy="1670629"/>
            <a:chOff x="0" y="0"/>
            <a:chExt cx="2527032" cy="695627"/>
          </a:xfrm>
        </p:grpSpPr>
        <p:sp>
          <p:nvSpPr>
            <p:cNvPr name="Freeform 35" id="35"/>
            <p:cNvSpPr/>
            <p:nvPr/>
          </p:nvSpPr>
          <p:spPr>
            <a:xfrm flipH="false" flipV="false" rot="0">
              <a:off x="0" y="0"/>
              <a:ext cx="2527032" cy="695627"/>
            </a:xfrm>
            <a:custGeom>
              <a:avLst/>
              <a:gdLst/>
              <a:ahLst/>
              <a:cxnLst/>
              <a:rect r="r" b="b" t="t" l="l"/>
              <a:pathLst>
                <a:path h="695627" w="2527032">
                  <a:moveTo>
                    <a:pt x="29340" y="0"/>
                  </a:moveTo>
                  <a:lnTo>
                    <a:pt x="2497692" y="0"/>
                  </a:lnTo>
                  <a:cubicBezTo>
                    <a:pt x="2505473" y="0"/>
                    <a:pt x="2512936" y="3091"/>
                    <a:pt x="2518438" y="8594"/>
                  </a:cubicBezTo>
                  <a:cubicBezTo>
                    <a:pt x="2523941" y="14096"/>
                    <a:pt x="2527032" y="21559"/>
                    <a:pt x="2527032" y="29340"/>
                  </a:cubicBezTo>
                  <a:lnTo>
                    <a:pt x="2527032" y="666287"/>
                  </a:lnTo>
                  <a:cubicBezTo>
                    <a:pt x="2527032" y="682491"/>
                    <a:pt x="2513896" y="695627"/>
                    <a:pt x="2497692" y="695627"/>
                  </a:cubicBezTo>
                  <a:lnTo>
                    <a:pt x="29340" y="695627"/>
                  </a:lnTo>
                  <a:cubicBezTo>
                    <a:pt x="13136" y="695627"/>
                    <a:pt x="0" y="682491"/>
                    <a:pt x="0" y="666287"/>
                  </a:cubicBezTo>
                  <a:lnTo>
                    <a:pt x="0" y="29340"/>
                  </a:lnTo>
                  <a:cubicBezTo>
                    <a:pt x="0" y="13136"/>
                    <a:pt x="13136" y="0"/>
                    <a:pt x="29340" y="0"/>
                  </a:cubicBezTo>
                  <a:close/>
                </a:path>
              </a:pathLst>
            </a:custGeom>
            <a:solidFill>
              <a:srgbClr val="A0EEEB">
                <a:alpha val="40784"/>
              </a:srgbClr>
            </a:solidFill>
            <a:ln w="85725" cap="rnd">
              <a:solidFill>
                <a:srgbClr val="A0EEEB">
                  <a:alpha val="40784"/>
                </a:srgbClr>
              </a:solidFill>
              <a:prstDash val="solid"/>
              <a:round/>
            </a:ln>
          </p:spPr>
        </p:sp>
        <p:sp>
          <p:nvSpPr>
            <p:cNvPr name="TextBox 36" id="36"/>
            <p:cNvSpPr txBox="true"/>
            <p:nvPr/>
          </p:nvSpPr>
          <p:spPr>
            <a:xfrm>
              <a:off x="0" y="-19050"/>
              <a:ext cx="2527032" cy="714677"/>
            </a:xfrm>
            <a:prstGeom prst="rect">
              <a:avLst/>
            </a:prstGeom>
          </p:spPr>
          <p:txBody>
            <a:bodyPr anchor="ctr" rtlCol="false" tIns="50800" lIns="50800" bIns="50800" rIns="50800"/>
            <a:lstStyle/>
            <a:p>
              <a:pPr algn="ctr">
                <a:lnSpc>
                  <a:spcPts val="2640"/>
                </a:lnSpc>
              </a:pPr>
            </a:p>
          </p:txBody>
        </p:sp>
      </p:grpSp>
      <p:grpSp>
        <p:nvGrpSpPr>
          <p:cNvPr name="Group 37" id="37"/>
          <p:cNvGrpSpPr/>
          <p:nvPr/>
        </p:nvGrpSpPr>
        <p:grpSpPr>
          <a:xfrm rot="0">
            <a:off x="9482859" y="6523797"/>
            <a:ext cx="1413193" cy="1413193"/>
            <a:chOff x="0" y="0"/>
            <a:chExt cx="588434" cy="588434"/>
          </a:xfrm>
        </p:grpSpPr>
        <p:sp>
          <p:nvSpPr>
            <p:cNvPr name="Freeform 38" id="38"/>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39" id="39"/>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40" id="40"/>
          <p:cNvSpPr/>
          <p:nvPr/>
        </p:nvSpPr>
        <p:spPr>
          <a:xfrm flipH="false" flipV="false" rot="0">
            <a:off x="9927154" y="4765310"/>
            <a:ext cx="524602" cy="692544"/>
          </a:xfrm>
          <a:custGeom>
            <a:avLst/>
            <a:gdLst/>
            <a:ahLst/>
            <a:cxnLst/>
            <a:rect r="r" b="b" t="t" l="l"/>
            <a:pathLst>
              <a:path h="692544" w="524602">
                <a:moveTo>
                  <a:pt x="0" y="0"/>
                </a:moveTo>
                <a:lnTo>
                  <a:pt x="524603" y="0"/>
                </a:lnTo>
                <a:lnTo>
                  <a:pt x="524603" y="692544"/>
                </a:lnTo>
                <a:lnTo>
                  <a:pt x="0" y="6925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1" id="41"/>
          <p:cNvSpPr/>
          <p:nvPr/>
        </p:nvSpPr>
        <p:spPr>
          <a:xfrm flipH="false" flipV="false" rot="0">
            <a:off x="1970180" y="4854893"/>
            <a:ext cx="700168" cy="549949"/>
          </a:xfrm>
          <a:custGeom>
            <a:avLst/>
            <a:gdLst/>
            <a:ahLst/>
            <a:cxnLst/>
            <a:rect r="r" b="b" t="t" l="l"/>
            <a:pathLst>
              <a:path h="549949" w="700168">
                <a:moveTo>
                  <a:pt x="0" y="0"/>
                </a:moveTo>
                <a:lnTo>
                  <a:pt x="700168" y="0"/>
                </a:lnTo>
                <a:lnTo>
                  <a:pt x="700168" y="549949"/>
                </a:lnTo>
                <a:lnTo>
                  <a:pt x="0" y="54994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42" id="42"/>
          <p:cNvSpPr/>
          <p:nvPr/>
        </p:nvSpPr>
        <p:spPr>
          <a:xfrm flipH="false" flipV="false" rot="0">
            <a:off x="1760015" y="6811840"/>
            <a:ext cx="954437" cy="800534"/>
          </a:xfrm>
          <a:custGeom>
            <a:avLst/>
            <a:gdLst/>
            <a:ahLst/>
            <a:cxnLst/>
            <a:rect r="r" b="b" t="t" l="l"/>
            <a:pathLst>
              <a:path h="800534" w="954437">
                <a:moveTo>
                  <a:pt x="0" y="0"/>
                </a:moveTo>
                <a:lnTo>
                  <a:pt x="954437" y="0"/>
                </a:lnTo>
                <a:lnTo>
                  <a:pt x="954437" y="800534"/>
                </a:lnTo>
                <a:lnTo>
                  <a:pt x="0" y="80053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43" id="43"/>
          <p:cNvSpPr/>
          <p:nvPr/>
        </p:nvSpPr>
        <p:spPr>
          <a:xfrm flipH="false" flipV="false" rot="0">
            <a:off x="9859974" y="6946215"/>
            <a:ext cx="658963" cy="568356"/>
          </a:xfrm>
          <a:custGeom>
            <a:avLst/>
            <a:gdLst/>
            <a:ahLst/>
            <a:cxnLst/>
            <a:rect r="r" b="b" t="t" l="l"/>
            <a:pathLst>
              <a:path h="568356" w="658963">
                <a:moveTo>
                  <a:pt x="0" y="0"/>
                </a:moveTo>
                <a:lnTo>
                  <a:pt x="658963" y="0"/>
                </a:lnTo>
                <a:lnTo>
                  <a:pt x="658963" y="568356"/>
                </a:lnTo>
                <a:lnTo>
                  <a:pt x="0" y="56835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4" id="44"/>
          <p:cNvSpPr txBox="true"/>
          <p:nvPr/>
        </p:nvSpPr>
        <p:spPr>
          <a:xfrm rot="0">
            <a:off x="3409786" y="4517821"/>
            <a:ext cx="5115320" cy="407778"/>
          </a:xfrm>
          <a:prstGeom prst="rect">
            <a:avLst/>
          </a:prstGeom>
        </p:spPr>
        <p:txBody>
          <a:bodyPr anchor="t" rtlCol="false" tIns="0" lIns="0" bIns="0" rIns="0">
            <a:spAutoFit/>
          </a:bodyPr>
          <a:lstStyle/>
          <a:p>
            <a:pPr algn="l">
              <a:lnSpc>
                <a:spcPts val="3022"/>
              </a:lnSpc>
              <a:spcBef>
                <a:spcPct val="0"/>
              </a:spcBef>
            </a:pPr>
            <a:r>
              <a:rPr lang="en-US" sz="2518" b="true">
                <a:solidFill>
                  <a:srgbClr val="FFFFFF"/>
                </a:solidFill>
                <a:latin typeface="Poppins Bold"/>
                <a:ea typeface="Poppins Bold"/>
                <a:cs typeface="Poppins Bold"/>
                <a:sym typeface="Poppins Bold"/>
              </a:rPr>
              <a:t>Personalized Strategy</a:t>
            </a:r>
          </a:p>
        </p:txBody>
      </p:sp>
      <p:sp>
        <p:nvSpPr>
          <p:cNvPr name="TextBox 45" id="45"/>
          <p:cNvSpPr txBox="true"/>
          <p:nvPr/>
        </p:nvSpPr>
        <p:spPr>
          <a:xfrm rot="0">
            <a:off x="1868076" y="1343025"/>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Let’s Get</a:t>
            </a:r>
            <a:r>
              <a:rPr lang="en-US" b="true" sz="5253">
                <a:solidFill>
                  <a:srgbClr val="F6F6F6"/>
                </a:solidFill>
                <a:latin typeface="Poppins Semi-Bold"/>
                <a:ea typeface="Poppins Semi-Bold"/>
                <a:cs typeface="Poppins Semi-Bold"/>
                <a:sym typeface="Poppins Semi-Bold"/>
              </a:rPr>
              <a:t> Started</a:t>
            </a:r>
          </a:p>
        </p:txBody>
      </p:sp>
      <p:sp>
        <p:nvSpPr>
          <p:cNvPr name="TextBox 46" id="46"/>
          <p:cNvSpPr txBox="true"/>
          <p:nvPr/>
        </p:nvSpPr>
        <p:spPr>
          <a:xfrm rot="0">
            <a:off x="3409786" y="6636632"/>
            <a:ext cx="5115320" cy="407778"/>
          </a:xfrm>
          <a:prstGeom prst="rect">
            <a:avLst/>
          </a:prstGeom>
        </p:spPr>
        <p:txBody>
          <a:bodyPr anchor="t" rtlCol="false" tIns="0" lIns="0" bIns="0" rIns="0">
            <a:spAutoFit/>
          </a:bodyPr>
          <a:lstStyle/>
          <a:p>
            <a:pPr algn="l">
              <a:lnSpc>
                <a:spcPts val="3022"/>
              </a:lnSpc>
              <a:spcBef>
                <a:spcPct val="0"/>
              </a:spcBef>
            </a:pPr>
            <a:r>
              <a:rPr lang="en-US" sz="2518" b="true">
                <a:solidFill>
                  <a:srgbClr val="FFFFFF"/>
                </a:solidFill>
                <a:latin typeface="Poppins Bold"/>
                <a:ea typeface="Poppins Bold"/>
                <a:cs typeface="Poppins Bold"/>
                <a:sym typeface="Poppins Bold"/>
              </a:rPr>
              <a:t>Immediate Impact</a:t>
            </a:r>
          </a:p>
        </p:txBody>
      </p:sp>
      <p:sp>
        <p:nvSpPr>
          <p:cNvPr name="TextBox 47" id="47"/>
          <p:cNvSpPr txBox="true"/>
          <p:nvPr/>
        </p:nvSpPr>
        <p:spPr>
          <a:xfrm rot="0">
            <a:off x="3409786" y="7114062"/>
            <a:ext cx="5115320" cy="681517"/>
          </a:xfrm>
          <a:prstGeom prst="rect">
            <a:avLst/>
          </a:prstGeom>
        </p:spPr>
        <p:txBody>
          <a:bodyPr anchor="t" rtlCol="false" tIns="0" lIns="0" bIns="0" rIns="0">
            <a:spAutoFit/>
          </a:bodyPr>
          <a:lstStyle/>
          <a:p>
            <a:pPr algn="l">
              <a:lnSpc>
                <a:spcPts val="2625"/>
              </a:lnSpc>
              <a:spcBef>
                <a:spcPct val="0"/>
              </a:spcBef>
            </a:pPr>
            <a:r>
              <a:rPr lang="en-US" sz="2187" b="true">
                <a:solidFill>
                  <a:srgbClr val="FFFFFF"/>
                </a:solidFill>
                <a:latin typeface="Poppins Medium"/>
                <a:ea typeface="Poppins Medium"/>
                <a:cs typeface="Poppins Medium"/>
                <a:sym typeface="Poppins Medium"/>
              </a:rPr>
              <a:t>Quick wins: days for maps, weeks for  bulk data.</a:t>
            </a:r>
          </a:p>
        </p:txBody>
      </p:sp>
      <p:sp>
        <p:nvSpPr>
          <p:cNvPr name="TextBox 48" id="48"/>
          <p:cNvSpPr txBox="true"/>
          <p:nvPr/>
        </p:nvSpPr>
        <p:spPr>
          <a:xfrm rot="0">
            <a:off x="11447237" y="4517821"/>
            <a:ext cx="5115320" cy="407778"/>
          </a:xfrm>
          <a:prstGeom prst="rect">
            <a:avLst/>
          </a:prstGeom>
        </p:spPr>
        <p:txBody>
          <a:bodyPr anchor="t" rtlCol="false" tIns="0" lIns="0" bIns="0" rIns="0">
            <a:spAutoFit/>
          </a:bodyPr>
          <a:lstStyle/>
          <a:p>
            <a:pPr algn="l">
              <a:lnSpc>
                <a:spcPts val="3022"/>
              </a:lnSpc>
              <a:spcBef>
                <a:spcPct val="0"/>
              </a:spcBef>
            </a:pPr>
            <a:r>
              <a:rPr lang="en-US" sz="2518" b="true">
                <a:solidFill>
                  <a:srgbClr val="FFFFFF"/>
                </a:solidFill>
                <a:latin typeface="Poppins Bold"/>
                <a:ea typeface="Poppins Bold"/>
                <a:cs typeface="Poppins Bold"/>
                <a:sym typeface="Poppins Bold"/>
              </a:rPr>
              <a:t>Expert Consultation</a:t>
            </a:r>
          </a:p>
        </p:txBody>
      </p:sp>
      <p:sp>
        <p:nvSpPr>
          <p:cNvPr name="TextBox 49" id="49"/>
          <p:cNvSpPr txBox="true"/>
          <p:nvPr/>
        </p:nvSpPr>
        <p:spPr>
          <a:xfrm rot="0">
            <a:off x="11429452" y="4982233"/>
            <a:ext cx="5115320" cy="681517"/>
          </a:xfrm>
          <a:prstGeom prst="rect">
            <a:avLst/>
          </a:prstGeom>
        </p:spPr>
        <p:txBody>
          <a:bodyPr anchor="t" rtlCol="false" tIns="0" lIns="0" bIns="0" rIns="0">
            <a:spAutoFit/>
          </a:bodyPr>
          <a:lstStyle/>
          <a:p>
            <a:pPr algn="l">
              <a:lnSpc>
                <a:spcPts val="2625"/>
              </a:lnSpc>
              <a:spcBef>
                <a:spcPct val="0"/>
              </a:spcBef>
            </a:pPr>
            <a:r>
              <a:rPr lang="en-US" sz="2187" b="true">
                <a:solidFill>
                  <a:srgbClr val="FFFFFF"/>
                </a:solidFill>
                <a:latin typeface="Poppins Medium"/>
                <a:ea typeface="Poppins Medium"/>
                <a:cs typeface="Poppins Medium"/>
                <a:sym typeface="Poppins Medium"/>
              </a:rPr>
              <a:t>Speak with industry experts to maximize results.</a:t>
            </a:r>
          </a:p>
        </p:txBody>
      </p:sp>
      <p:sp>
        <p:nvSpPr>
          <p:cNvPr name="TextBox 50" id="50"/>
          <p:cNvSpPr txBox="true"/>
          <p:nvPr/>
        </p:nvSpPr>
        <p:spPr>
          <a:xfrm rot="0">
            <a:off x="11447237" y="6623614"/>
            <a:ext cx="5115320" cy="407778"/>
          </a:xfrm>
          <a:prstGeom prst="rect">
            <a:avLst/>
          </a:prstGeom>
        </p:spPr>
        <p:txBody>
          <a:bodyPr anchor="t" rtlCol="false" tIns="0" lIns="0" bIns="0" rIns="0">
            <a:spAutoFit/>
          </a:bodyPr>
          <a:lstStyle/>
          <a:p>
            <a:pPr algn="l">
              <a:lnSpc>
                <a:spcPts val="3022"/>
              </a:lnSpc>
              <a:spcBef>
                <a:spcPct val="0"/>
              </a:spcBef>
            </a:pPr>
            <a:r>
              <a:rPr lang="en-US" sz="2518" b="true">
                <a:solidFill>
                  <a:srgbClr val="FFFFFF"/>
                </a:solidFill>
                <a:latin typeface="Poppins Bold"/>
                <a:ea typeface="Poppins Bold"/>
                <a:cs typeface="Poppins Bold"/>
                <a:sym typeface="Poppins Bold"/>
              </a:rPr>
              <a:t>Long-Term Growth</a:t>
            </a:r>
          </a:p>
        </p:txBody>
      </p:sp>
      <p:sp>
        <p:nvSpPr>
          <p:cNvPr name="TextBox 51" id="51"/>
          <p:cNvSpPr txBox="true"/>
          <p:nvPr/>
        </p:nvSpPr>
        <p:spPr>
          <a:xfrm rot="0">
            <a:off x="11447237" y="7101044"/>
            <a:ext cx="4594651" cy="681517"/>
          </a:xfrm>
          <a:prstGeom prst="rect">
            <a:avLst/>
          </a:prstGeom>
        </p:spPr>
        <p:txBody>
          <a:bodyPr anchor="t" rtlCol="false" tIns="0" lIns="0" bIns="0" rIns="0">
            <a:spAutoFit/>
          </a:bodyPr>
          <a:lstStyle/>
          <a:p>
            <a:pPr algn="l">
              <a:lnSpc>
                <a:spcPts val="2625"/>
              </a:lnSpc>
              <a:spcBef>
                <a:spcPct val="0"/>
              </a:spcBef>
            </a:pPr>
            <a:r>
              <a:rPr lang="en-US" sz="2187" b="true">
                <a:solidFill>
                  <a:srgbClr val="FFFFFF"/>
                </a:solidFill>
                <a:latin typeface="Poppins Medium"/>
                <a:ea typeface="Poppins Medium"/>
                <a:cs typeface="Poppins Medium"/>
                <a:sym typeface="Poppins Medium"/>
              </a:rPr>
              <a:t>Build sustainable success with data-driven strategies.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p:spPr>
      </p:sp>
      <p:sp>
        <p:nvSpPr>
          <p:cNvPr name="Freeform 3" id="3"/>
          <p:cNvSpPr/>
          <p:nvPr/>
        </p:nvSpPr>
        <p:spPr>
          <a:xfrm flipH="false" flipV="true" rot="0">
            <a:off x="10413368" y="4075865"/>
            <a:ext cx="1155653" cy="405529"/>
          </a:xfrm>
          <a:custGeom>
            <a:avLst/>
            <a:gdLst/>
            <a:ahLst/>
            <a:cxnLst/>
            <a:rect r="r" b="b" t="t" l="l"/>
            <a:pathLst>
              <a:path h="405529" w="1155653">
                <a:moveTo>
                  <a:pt x="0" y="405529"/>
                </a:moveTo>
                <a:lnTo>
                  <a:pt x="1155652" y="405529"/>
                </a:lnTo>
                <a:lnTo>
                  <a:pt x="1155652" y="0"/>
                </a:lnTo>
                <a:lnTo>
                  <a:pt x="0" y="0"/>
                </a:lnTo>
                <a:lnTo>
                  <a:pt x="0" y="40552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52500" y="3385185"/>
            <a:ext cx="12865394" cy="6062817"/>
          </a:xfrm>
          <a:custGeom>
            <a:avLst/>
            <a:gdLst/>
            <a:ahLst/>
            <a:cxnLst/>
            <a:rect r="r" b="b" t="t" l="l"/>
            <a:pathLst>
              <a:path h="6062817" w="12865394">
                <a:moveTo>
                  <a:pt x="0" y="0"/>
                </a:moveTo>
                <a:lnTo>
                  <a:pt x="12865394" y="0"/>
                </a:lnTo>
                <a:lnTo>
                  <a:pt x="12865394" y="6062817"/>
                </a:lnTo>
                <a:lnTo>
                  <a:pt x="0" y="60628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828489" y="4266365"/>
            <a:ext cx="10000635" cy="1032621"/>
            <a:chOff x="0" y="0"/>
            <a:chExt cx="3248151" cy="335390"/>
          </a:xfrm>
        </p:grpSpPr>
        <p:sp>
          <p:nvSpPr>
            <p:cNvPr name="Freeform 6" id="6"/>
            <p:cNvSpPr/>
            <p:nvPr/>
          </p:nvSpPr>
          <p:spPr>
            <a:xfrm flipH="false" flipV="false" rot="0">
              <a:off x="0" y="0"/>
              <a:ext cx="3248151" cy="335390"/>
            </a:xfrm>
            <a:custGeom>
              <a:avLst/>
              <a:gdLst/>
              <a:ahLst/>
              <a:cxnLst/>
              <a:rect r="r" b="b" t="t" l="l"/>
              <a:pathLst>
                <a:path h="335390" w="3248151">
                  <a:moveTo>
                    <a:pt x="77414" y="0"/>
                  </a:moveTo>
                  <a:lnTo>
                    <a:pt x="3170737" y="0"/>
                  </a:lnTo>
                  <a:cubicBezTo>
                    <a:pt x="3191269" y="0"/>
                    <a:pt x="3210959" y="8156"/>
                    <a:pt x="3225477" y="22674"/>
                  </a:cubicBezTo>
                  <a:cubicBezTo>
                    <a:pt x="3239995" y="37192"/>
                    <a:pt x="3248151" y="56883"/>
                    <a:pt x="3248151" y="77414"/>
                  </a:cubicBezTo>
                  <a:lnTo>
                    <a:pt x="3248151" y="257975"/>
                  </a:lnTo>
                  <a:cubicBezTo>
                    <a:pt x="3248151" y="278507"/>
                    <a:pt x="3239995" y="298198"/>
                    <a:pt x="3225477" y="312716"/>
                  </a:cubicBezTo>
                  <a:cubicBezTo>
                    <a:pt x="3210959" y="327234"/>
                    <a:pt x="3191269" y="335390"/>
                    <a:pt x="3170737" y="335390"/>
                  </a:cubicBezTo>
                  <a:lnTo>
                    <a:pt x="77414" y="335390"/>
                  </a:lnTo>
                  <a:cubicBezTo>
                    <a:pt x="56883" y="335390"/>
                    <a:pt x="37192" y="327234"/>
                    <a:pt x="22674" y="312716"/>
                  </a:cubicBezTo>
                  <a:cubicBezTo>
                    <a:pt x="8156" y="298198"/>
                    <a:pt x="0" y="278507"/>
                    <a:pt x="0" y="257975"/>
                  </a:cubicBezTo>
                  <a:lnTo>
                    <a:pt x="0" y="77414"/>
                  </a:lnTo>
                  <a:cubicBezTo>
                    <a:pt x="0" y="56883"/>
                    <a:pt x="8156" y="37192"/>
                    <a:pt x="22674" y="22674"/>
                  </a:cubicBezTo>
                  <a:cubicBezTo>
                    <a:pt x="37192" y="8156"/>
                    <a:pt x="56883" y="0"/>
                    <a:pt x="77414" y="0"/>
                  </a:cubicBezTo>
                  <a:close/>
                </a:path>
              </a:pathLst>
            </a:custGeom>
            <a:solidFill>
              <a:srgbClr val="A0EEEB">
                <a:alpha val="40784"/>
              </a:srgbClr>
            </a:solidFill>
          </p:spPr>
        </p:sp>
        <p:sp>
          <p:nvSpPr>
            <p:cNvPr name="TextBox 7" id="7"/>
            <p:cNvSpPr txBox="true"/>
            <p:nvPr/>
          </p:nvSpPr>
          <p:spPr>
            <a:xfrm>
              <a:off x="0" y="-19050"/>
              <a:ext cx="3248151" cy="354440"/>
            </a:xfrm>
            <a:prstGeom prst="rect">
              <a:avLst/>
            </a:prstGeom>
          </p:spPr>
          <p:txBody>
            <a:bodyPr anchor="ctr" rtlCol="false" tIns="50800" lIns="50800" bIns="50800" rIns="50800"/>
            <a:lstStyle/>
            <a:p>
              <a:pPr algn="ctr">
                <a:lnSpc>
                  <a:spcPts val="2640"/>
                </a:lnSpc>
              </a:pPr>
            </a:p>
          </p:txBody>
        </p:sp>
      </p:grpSp>
      <p:grpSp>
        <p:nvGrpSpPr>
          <p:cNvPr name="Group 8" id="8"/>
          <p:cNvGrpSpPr/>
          <p:nvPr/>
        </p:nvGrpSpPr>
        <p:grpSpPr>
          <a:xfrm rot="0">
            <a:off x="1875455" y="4313331"/>
            <a:ext cx="938689" cy="938689"/>
            <a:chOff x="0" y="0"/>
            <a:chExt cx="534908" cy="534908"/>
          </a:xfrm>
        </p:grpSpPr>
        <p:sp>
          <p:nvSpPr>
            <p:cNvPr name="Freeform 9" id="9"/>
            <p:cNvSpPr/>
            <p:nvPr/>
          </p:nvSpPr>
          <p:spPr>
            <a:xfrm flipH="false" flipV="false" rot="0">
              <a:off x="0" y="0"/>
              <a:ext cx="534908" cy="534908"/>
            </a:xfrm>
            <a:custGeom>
              <a:avLst/>
              <a:gdLst/>
              <a:ahLst/>
              <a:cxnLst/>
              <a:rect r="r" b="b" t="t" l="l"/>
              <a:pathLst>
                <a:path h="534908" w="534908">
                  <a:moveTo>
                    <a:pt x="267454" y="0"/>
                  </a:moveTo>
                  <a:lnTo>
                    <a:pt x="267454" y="0"/>
                  </a:lnTo>
                  <a:cubicBezTo>
                    <a:pt x="338387" y="0"/>
                    <a:pt x="406415" y="28178"/>
                    <a:pt x="456572" y="78335"/>
                  </a:cubicBezTo>
                  <a:cubicBezTo>
                    <a:pt x="506729" y="128493"/>
                    <a:pt x="534908" y="196521"/>
                    <a:pt x="534908" y="267454"/>
                  </a:cubicBezTo>
                  <a:lnTo>
                    <a:pt x="534908" y="267454"/>
                  </a:lnTo>
                  <a:cubicBezTo>
                    <a:pt x="534908" y="338387"/>
                    <a:pt x="506729" y="406415"/>
                    <a:pt x="456572" y="456572"/>
                  </a:cubicBezTo>
                  <a:cubicBezTo>
                    <a:pt x="406415" y="506729"/>
                    <a:pt x="338387" y="534908"/>
                    <a:pt x="267454" y="534908"/>
                  </a:cubicBezTo>
                  <a:lnTo>
                    <a:pt x="267454" y="534908"/>
                  </a:lnTo>
                  <a:cubicBezTo>
                    <a:pt x="196521" y="534908"/>
                    <a:pt x="128493" y="506729"/>
                    <a:pt x="78335" y="456572"/>
                  </a:cubicBezTo>
                  <a:cubicBezTo>
                    <a:pt x="28178" y="406415"/>
                    <a:pt x="0" y="338387"/>
                    <a:pt x="0" y="267454"/>
                  </a:cubicBezTo>
                  <a:lnTo>
                    <a:pt x="0" y="267454"/>
                  </a:lnTo>
                  <a:cubicBezTo>
                    <a:pt x="0" y="196521"/>
                    <a:pt x="28178" y="128493"/>
                    <a:pt x="78335" y="78335"/>
                  </a:cubicBezTo>
                  <a:cubicBezTo>
                    <a:pt x="128493" y="28178"/>
                    <a:pt x="196521" y="0"/>
                    <a:pt x="267454" y="0"/>
                  </a:cubicBezTo>
                  <a:close/>
                </a:path>
              </a:pathLst>
            </a:custGeom>
            <a:solidFill>
              <a:srgbClr val="FFFFFF"/>
            </a:solidFill>
            <a:ln cap="rnd">
              <a:noFill/>
              <a:prstDash val="solid"/>
              <a:round/>
            </a:ln>
          </p:spPr>
        </p:sp>
        <p:sp>
          <p:nvSpPr>
            <p:cNvPr name="TextBox 10" id="10"/>
            <p:cNvSpPr txBox="true"/>
            <p:nvPr/>
          </p:nvSpPr>
          <p:spPr>
            <a:xfrm>
              <a:off x="0" y="-19050"/>
              <a:ext cx="534908" cy="553958"/>
            </a:xfrm>
            <a:prstGeom prst="rect">
              <a:avLst/>
            </a:prstGeom>
          </p:spPr>
          <p:txBody>
            <a:bodyPr anchor="ctr" rtlCol="false" tIns="50800" lIns="50800" bIns="50800" rIns="50800"/>
            <a:lstStyle/>
            <a:p>
              <a:pPr algn="ctr">
                <a:lnSpc>
                  <a:spcPts val="2640"/>
                </a:lnSpc>
              </a:pPr>
            </a:p>
          </p:txBody>
        </p:sp>
      </p:grpSp>
      <p:sp>
        <p:nvSpPr>
          <p:cNvPr name="Freeform 11" id="11"/>
          <p:cNvSpPr/>
          <p:nvPr/>
        </p:nvSpPr>
        <p:spPr>
          <a:xfrm flipH="false" flipV="false" rot="0">
            <a:off x="2136807" y="4574683"/>
            <a:ext cx="415986" cy="415986"/>
          </a:xfrm>
          <a:custGeom>
            <a:avLst/>
            <a:gdLst/>
            <a:ahLst/>
            <a:cxnLst/>
            <a:rect r="r" b="b" t="t" l="l"/>
            <a:pathLst>
              <a:path h="415986" w="415986">
                <a:moveTo>
                  <a:pt x="0" y="0"/>
                </a:moveTo>
                <a:lnTo>
                  <a:pt x="415985" y="0"/>
                </a:lnTo>
                <a:lnTo>
                  <a:pt x="415985" y="415986"/>
                </a:lnTo>
                <a:lnTo>
                  <a:pt x="0" y="415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1868076" y="2383791"/>
            <a:ext cx="8521570" cy="782319"/>
          </a:xfrm>
          <a:prstGeom prst="rect">
            <a:avLst/>
          </a:prstGeom>
        </p:spPr>
        <p:txBody>
          <a:bodyPr anchor="t" rtlCol="false" tIns="0" lIns="0" bIns="0" rIns="0">
            <a:spAutoFit/>
          </a:bodyPr>
          <a:lstStyle/>
          <a:p>
            <a:pPr algn="l" marL="0" indent="0" lvl="0">
              <a:lnSpc>
                <a:spcPts val="3080"/>
              </a:lnSpc>
            </a:pPr>
            <a:r>
              <a:rPr lang="en-US" sz="2200" i="true" spc="528">
                <a:solidFill>
                  <a:srgbClr val="FEFDFD"/>
                </a:solidFill>
                <a:latin typeface="Poppins Italics"/>
                <a:ea typeface="Poppins Italics"/>
                <a:cs typeface="Poppins Italics"/>
                <a:sym typeface="Poppins Italics"/>
              </a:rPr>
              <a:t>LET’S TALK ABOUT HOW BYTEBLINK AI </a:t>
            </a:r>
            <a:r>
              <a:rPr lang="en-US" sz="2200" i="true" spc="528">
                <a:solidFill>
                  <a:srgbClr val="FEFDFD"/>
                </a:solidFill>
                <a:latin typeface="Poppins Italics"/>
                <a:ea typeface="Poppins Italics"/>
                <a:cs typeface="Poppins Italics"/>
                <a:sym typeface="Poppins Italics"/>
              </a:rPr>
              <a:t>CA</a:t>
            </a:r>
            <a:r>
              <a:rPr lang="en-US" sz="2200" i="true" spc="528">
                <a:solidFill>
                  <a:srgbClr val="FEFDFD"/>
                </a:solidFill>
                <a:latin typeface="Poppins Italics"/>
                <a:ea typeface="Poppins Italics"/>
                <a:cs typeface="Poppins Italics"/>
                <a:sym typeface="Poppins Italics"/>
              </a:rPr>
              <a:t>N</a:t>
            </a:r>
            <a:r>
              <a:rPr lang="en-US" sz="2200" i="true" spc="528">
                <a:solidFill>
                  <a:srgbClr val="FEFDFD"/>
                </a:solidFill>
                <a:latin typeface="Poppins Italics"/>
                <a:ea typeface="Poppins Italics"/>
                <a:cs typeface="Poppins Italics"/>
                <a:sym typeface="Poppins Italics"/>
              </a:rPr>
              <a:t> </a:t>
            </a:r>
            <a:r>
              <a:rPr lang="en-US" b="true" sz="2200" i="true" spc="528">
                <a:solidFill>
                  <a:srgbClr val="FEFDFD"/>
                </a:solidFill>
                <a:latin typeface="Poppins Bold Italics"/>
                <a:ea typeface="Poppins Bold Italics"/>
                <a:cs typeface="Poppins Bold Italics"/>
                <a:sym typeface="Poppins Bold Italics"/>
              </a:rPr>
              <a:t>HE</a:t>
            </a:r>
            <a:r>
              <a:rPr lang="en-US" b="true" sz="2200" i="true" spc="528">
                <a:solidFill>
                  <a:srgbClr val="FEFDFD"/>
                </a:solidFill>
                <a:latin typeface="Poppins Bold Italics"/>
                <a:ea typeface="Poppins Bold Italics"/>
                <a:cs typeface="Poppins Bold Italics"/>
                <a:sym typeface="Poppins Bold Italics"/>
              </a:rPr>
              <a:t>LP YOUR BUSINESS GROW.</a:t>
            </a:r>
          </a:p>
        </p:txBody>
      </p:sp>
      <p:sp>
        <p:nvSpPr>
          <p:cNvPr name="TextBox 13" id="13"/>
          <p:cNvSpPr txBox="true"/>
          <p:nvPr/>
        </p:nvSpPr>
        <p:spPr>
          <a:xfrm rot="0">
            <a:off x="1868076" y="1343025"/>
            <a:ext cx="8521570" cy="879291"/>
          </a:xfrm>
          <a:prstGeom prst="rect">
            <a:avLst/>
          </a:prstGeom>
        </p:spPr>
        <p:txBody>
          <a:bodyPr anchor="t" rtlCol="false" tIns="0" lIns="0" bIns="0" rIns="0">
            <a:spAutoFit/>
          </a:bodyPr>
          <a:lstStyle/>
          <a:p>
            <a:pPr algn="l" marL="0" indent="0" lvl="0">
              <a:lnSpc>
                <a:spcPts val="6724"/>
              </a:lnSpc>
            </a:pPr>
            <a:r>
              <a:rPr lang="en-US" b="true" sz="5253">
                <a:solidFill>
                  <a:srgbClr val="F6F6F6"/>
                </a:solidFill>
                <a:latin typeface="Poppins Semi-Bold"/>
                <a:ea typeface="Poppins Semi-Bold"/>
                <a:cs typeface="Poppins Semi-Bold"/>
                <a:sym typeface="Poppins Semi-Bold"/>
              </a:rPr>
              <a:t>Contact Us</a:t>
            </a:r>
          </a:p>
        </p:txBody>
      </p:sp>
      <p:sp>
        <p:nvSpPr>
          <p:cNvPr name="TextBox 14" id="14"/>
          <p:cNvSpPr txBox="true"/>
          <p:nvPr/>
        </p:nvSpPr>
        <p:spPr>
          <a:xfrm rot="0">
            <a:off x="3372734" y="4567603"/>
            <a:ext cx="4706850" cy="401571"/>
          </a:xfrm>
          <a:prstGeom prst="rect">
            <a:avLst/>
          </a:prstGeom>
        </p:spPr>
        <p:txBody>
          <a:bodyPr anchor="t" rtlCol="false" tIns="0" lIns="0" bIns="0" rIns="0">
            <a:spAutoFit/>
          </a:bodyPr>
          <a:lstStyle/>
          <a:p>
            <a:pPr algn="ctr">
              <a:lnSpc>
                <a:spcPts val="2967"/>
              </a:lnSpc>
              <a:spcBef>
                <a:spcPct val="0"/>
              </a:spcBef>
            </a:pPr>
            <a:r>
              <a:rPr lang="en-US" b="true" sz="2473">
                <a:solidFill>
                  <a:srgbClr val="FFFFFF"/>
                </a:solidFill>
                <a:latin typeface="Poppins Bold"/>
                <a:ea typeface="Poppins Bold"/>
                <a:cs typeface="Poppins Bold"/>
                <a:sym typeface="Poppins Bold"/>
              </a:rPr>
              <a:t>Email: vanessa@byteblink.ai</a:t>
            </a:r>
          </a:p>
        </p:txBody>
      </p:sp>
      <p:sp>
        <p:nvSpPr>
          <p:cNvPr name="Freeform 15" id="15"/>
          <p:cNvSpPr/>
          <p:nvPr/>
        </p:nvSpPr>
        <p:spPr>
          <a:xfrm flipH="false" flipV="true" rot="0">
            <a:off x="1705457" y="5518061"/>
            <a:ext cx="1155653" cy="405529"/>
          </a:xfrm>
          <a:custGeom>
            <a:avLst/>
            <a:gdLst/>
            <a:ahLst/>
            <a:cxnLst/>
            <a:rect r="r" b="b" t="t" l="l"/>
            <a:pathLst>
              <a:path h="405529" w="1155653">
                <a:moveTo>
                  <a:pt x="0" y="405529"/>
                </a:moveTo>
                <a:lnTo>
                  <a:pt x="1155653" y="405529"/>
                </a:lnTo>
                <a:lnTo>
                  <a:pt x="1155653" y="0"/>
                </a:lnTo>
                <a:lnTo>
                  <a:pt x="0" y="0"/>
                </a:lnTo>
                <a:lnTo>
                  <a:pt x="0" y="405529"/>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6" id="16"/>
          <p:cNvGrpSpPr/>
          <p:nvPr/>
        </p:nvGrpSpPr>
        <p:grpSpPr>
          <a:xfrm rot="0">
            <a:off x="1828489" y="5720826"/>
            <a:ext cx="10000635" cy="1032621"/>
            <a:chOff x="0" y="0"/>
            <a:chExt cx="3248151" cy="335390"/>
          </a:xfrm>
        </p:grpSpPr>
        <p:sp>
          <p:nvSpPr>
            <p:cNvPr name="Freeform 17" id="17"/>
            <p:cNvSpPr/>
            <p:nvPr/>
          </p:nvSpPr>
          <p:spPr>
            <a:xfrm flipH="false" flipV="false" rot="0">
              <a:off x="0" y="0"/>
              <a:ext cx="3248151" cy="335390"/>
            </a:xfrm>
            <a:custGeom>
              <a:avLst/>
              <a:gdLst/>
              <a:ahLst/>
              <a:cxnLst/>
              <a:rect r="r" b="b" t="t" l="l"/>
              <a:pathLst>
                <a:path h="335390" w="3248151">
                  <a:moveTo>
                    <a:pt x="77414" y="0"/>
                  </a:moveTo>
                  <a:lnTo>
                    <a:pt x="3170737" y="0"/>
                  </a:lnTo>
                  <a:cubicBezTo>
                    <a:pt x="3191269" y="0"/>
                    <a:pt x="3210959" y="8156"/>
                    <a:pt x="3225477" y="22674"/>
                  </a:cubicBezTo>
                  <a:cubicBezTo>
                    <a:pt x="3239995" y="37192"/>
                    <a:pt x="3248151" y="56883"/>
                    <a:pt x="3248151" y="77414"/>
                  </a:cubicBezTo>
                  <a:lnTo>
                    <a:pt x="3248151" y="257975"/>
                  </a:lnTo>
                  <a:cubicBezTo>
                    <a:pt x="3248151" y="278507"/>
                    <a:pt x="3239995" y="298198"/>
                    <a:pt x="3225477" y="312716"/>
                  </a:cubicBezTo>
                  <a:cubicBezTo>
                    <a:pt x="3210959" y="327234"/>
                    <a:pt x="3191269" y="335390"/>
                    <a:pt x="3170737" y="335390"/>
                  </a:cubicBezTo>
                  <a:lnTo>
                    <a:pt x="77414" y="335390"/>
                  </a:lnTo>
                  <a:cubicBezTo>
                    <a:pt x="56883" y="335390"/>
                    <a:pt x="37192" y="327234"/>
                    <a:pt x="22674" y="312716"/>
                  </a:cubicBezTo>
                  <a:cubicBezTo>
                    <a:pt x="8156" y="298198"/>
                    <a:pt x="0" y="278507"/>
                    <a:pt x="0" y="257975"/>
                  </a:cubicBezTo>
                  <a:lnTo>
                    <a:pt x="0" y="77414"/>
                  </a:lnTo>
                  <a:cubicBezTo>
                    <a:pt x="0" y="56883"/>
                    <a:pt x="8156" y="37192"/>
                    <a:pt x="22674" y="22674"/>
                  </a:cubicBezTo>
                  <a:cubicBezTo>
                    <a:pt x="37192" y="8156"/>
                    <a:pt x="56883" y="0"/>
                    <a:pt x="77414" y="0"/>
                  </a:cubicBezTo>
                  <a:close/>
                </a:path>
              </a:pathLst>
            </a:custGeom>
            <a:solidFill>
              <a:srgbClr val="2F8586">
                <a:alpha val="40784"/>
              </a:srgbClr>
            </a:solidFill>
          </p:spPr>
        </p:sp>
        <p:sp>
          <p:nvSpPr>
            <p:cNvPr name="TextBox 18" id="18"/>
            <p:cNvSpPr txBox="true"/>
            <p:nvPr/>
          </p:nvSpPr>
          <p:spPr>
            <a:xfrm>
              <a:off x="0" y="-19050"/>
              <a:ext cx="3248151" cy="354440"/>
            </a:xfrm>
            <a:prstGeom prst="rect">
              <a:avLst/>
            </a:prstGeom>
          </p:spPr>
          <p:txBody>
            <a:bodyPr anchor="ctr" rtlCol="false" tIns="50800" lIns="50800" bIns="50800" rIns="50800"/>
            <a:lstStyle/>
            <a:p>
              <a:pPr algn="ctr">
                <a:lnSpc>
                  <a:spcPts val="2640"/>
                </a:lnSpc>
              </a:pPr>
            </a:p>
          </p:txBody>
        </p:sp>
      </p:grpSp>
      <p:grpSp>
        <p:nvGrpSpPr>
          <p:cNvPr name="Group 19" id="19"/>
          <p:cNvGrpSpPr/>
          <p:nvPr/>
        </p:nvGrpSpPr>
        <p:grpSpPr>
          <a:xfrm rot="0">
            <a:off x="1875455" y="5767792"/>
            <a:ext cx="938689" cy="938689"/>
            <a:chOff x="0" y="0"/>
            <a:chExt cx="534908" cy="534908"/>
          </a:xfrm>
        </p:grpSpPr>
        <p:sp>
          <p:nvSpPr>
            <p:cNvPr name="Freeform 20" id="20"/>
            <p:cNvSpPr/>
            <p:nvPr/>
          </p:nvSpPr>
          <p:spPr>
            <a:xfrm flipH="false" flipV="false" rot="0">
              <a:off x="0" y="0"/>
              <a:ext cx="534908" cy="534908"/>
            </a:xfrm>
            <a:custGeom>
              <a:avLst/>
              <a:gdLst/>
              <a:ahLst/>
              <a:cxnLst/>
              <a:rect r="r" b="b" t="t" l="l"/>
              <a:pathLst>
                <a:path h="534908" w="534908">
                  <a:moveTo>
                    <a:pt x="267454" y="0"/>
                  </a:moveTo>
                  <a:lnTo>
                    <a:pt x="267454" y="0"/>
                  </a:lnTo>
                  <a:cubicBezTo>
                    <a:pt x="338387" y="0"/>
                    <a:pt x="406415" y="28178"/>
                    <a:pt x="456572" y="78335"/>
                  </a:cubicBezTo>
                  <a:cubicBezTo>
                    <a:pt x="506729" y="128493"/>
                    <a:pt x="534908" y="196521"/>
                    <a:pt x="534908" y="267454"/>
                  </a:cubicBezTo>
                  <a:lnTo>
                    <a:pt x="534908" y="267454"/>
                  </a:lnTo>
                  <a:cubicBezTo>
                    <a:pt x="534908" y="338387"/>
                    <a:pt x="506729" y="406415"/>
                    <a:pt x="456572" y="456572"/>
                  </a:cubicBezTo>
                  <a:cubicBezTo>
                    <a:pt x="406415" y="506729"/>
                    <a:pt x="338387" y="534908"/>
                    <a:pt x="267454" y="534908"/>
                  </a:cubicBezTo>
                  <a:lnTo>
                    <a:pt x="267454" y="534908"/>
                  </a:lnTo>
                  <a:cubicBezTo>
                    <a:pt x="196521" y="534908"/>
                    <a:pt x="128493" y="506729"/>
                    <a:pt x="78335" y="456572"/>
                  </a:cubicBezTo>
                  <a:cubicBezTo>
                    <a:pt x="28178" y="406415"/>
                    <a:pt x="0" y="338387"/>
                    <a:pt x="0" y="267454"/>
                  </a:cubicBezTo>
                  <a:lnTo>
                    <a:pt x="0" y="267454"/>
                  </a:lnTo>
                  <a:cubicBezTo>
                    <a:pt x="0" y="196521"/>
                    <a:pt x="28178" y="128493"/>
                    <a:pt x="78335" y="78335"/>
                  </a:cubicBezTo>
                  <a:cubicBezTo>
                    <a:pt x="128493" y="28178"/>
                    <a:pt x="196521" y="0"/>
                    <a:pt x="267454" y="0"/>
                  </a:cubicBezTo>
                  <a:close/>
                </a:path>
              </a:pathLst>
            </a:custGeom>
            <a:solidFill>
              <a:srgbClr val="FFFFFF"/>
            </a:solidFill>
            <a:ln cap="rnd">
              <a:noFill/>
              <a:prstDash val="solid"/>
              <a:round/>
            </a:ln>
          </p:spPr>
        </p:sp>
        <p:sp>
          <p:nvSpPr>
            <p:cNvPr name="TextBox 21" id="21"/>
            <p:cNvSpPr txBox="true"/>
            <p:nvPr/>
          </p:nvSpPr>
          <p:spPr>
            <a:xfrm>
              <a:off x="0" y="-19050"/>
              <a:ext cx="534908" cy="553958"/>
            </a:xfrm>
            <a:prstGeom prst="rect">
              <a:avLst/>
            </a:prstGeom>
          </p:spPr>
          <p:txBody>
            <a:bodyPr anchor="ctr" rtlCol="false" tIns="50800" lIns="50800" bIns="50800" rIns="50800"/>
            <a:lstStyle/>
            <a:p>
              <a:pPr algn="ctr">
                <a:lnSpc>
                  <a:spcPts val="2640"/>
                </a:lnSpc>
              </a:pPr>
            </a:p>
          </p:txBody>
        </p:sp>
      </p:grpSp>
      <p:sp>
        <p:nvSpPr>
          <p:cNvPr name="TextBox 22" id="22"/>
          <p:cNvSpPr txBox="true"/>
          <p:nvPr/>
        </p:nvSpPr>
        <p:spPr>
          <a:xfrm rot="0">
            <a:off x="3372734" y="6022064"/>
            <a:ext cx="7464367" cy="401571"/>
          </a:xfrm>
          <a:prstGeom prst="rect">
            <a:avLst/>
          </a:prstGeom>
        </p:spPr>
        <p:txBody>
          <a:bodyPr anchor="t" rtlCol="false" tIns="0" lIns="0" bIns="0" rIns="0">
            <a:spAutoFit/>
          </a:bodyPr>
          <a:lstStyle/>
          <a:p>
            <a:pPr algn="ctr">
              <a:lnSpc>
                <a:spcPts val="2967"/>
              </a:lnSpc>
              <a:spcBef>
                <a:spcPct val="0"/>
              </a:spcBef>
            </a:pPr>
            <a:r>
              <a:rPr lang="en-US" b="true" sz="2473">
                <a:solidFill>
                  <a:srgbClr val="FFFFFF"/>
                </a:solidFill>
                <a:latin typeface="Poppins Bold"/>
                <a:ea typeface="Poppins Bold"/>
                <a:cs typeface="Poppins Bold"/>
                <a:sym typeface="Poppins Bold"/>
              </a:rPr>
              <a:t>Social Media | Facebook, Instagram &amp; LinkedIn</a:t>
            </a:r>
          </a:p>
        </p:txBody>
      </p:sp>
      <p:sp>
        <p:nvSpPr>
          <p:cNvPr name="Freeform 23" id="23"/>
          <p:cNvSpPr/>
          <p:nvPr/>
        </p:nvSpPr>
        <p:spPr>
          <a:xfrm flipH="false" flipV="false" rot="0">
            <a:off x="2097989" y="5994611"/>
            <a:ext cx="493620" cy="446950"/>
          </a:xfrm>
          <a:custGeom>
            <a:avLst/>
            <a:gdLst/>
            <a:ahLst/>
            <a:cxnLst/>
            <a:rect r="r" b="b" t="t" l="l"/>
            <a:pathLst>
              <a:path h="446950" w="493620">
                <a:moveTo>
                  <a:pt x="0" y="0"/>
                </a:moveTo>
                <a:lnTo>
                  <a:pt x="493620" y="0"/>
                </a:lnTo>
                <a:lnTo>
                  <a:pt x="493620" y="446951"/>
                </a:lnTo>
                <a:lnTo>
                  <a:pt x="0" y="4469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4" id="24"/>
          <p:cNvSpPr/>
          <p:nvPr/>
        </p:nvSpPr>
        <p:spPr>
          <a:xfrm flipH="false" flipV="true" rot="10474217">
            <a:off x="10656878" y="7960806"/>
            <a:ext cx="1155653" cy="405529"/>
          </a:xfrm>
          <a:custGeom>
            <a:avLst/>
            <a:gdLst/>
            <a:ahLst/>
            <a:cxnLst/>
            <a:rect r="r" b="b" t="t" l="l"/>
            <a:pathLst>
              <a:path h="405529" w="1155653">
                <a:moveTo>
                  <a:pt x="0" y="405529"/>
                </a:moveTo>
                <a:lnTo>
                  <a:pt x="1155652" y="405529"/>
                </a:lnTo>
                <a:lnTo>
                  <a:pt x="1155652" y="0"/>
                </a:lnTo>
                <a:lnTo>
                  <a:pt x="0" y="0"/>
                </a:lnTo>
                <a:lnTo>
                  <a:pt x="0" y="405529"/>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5" id="25"/>
          <p:cNvGrpSpPr/>
          <p:nvPr/>
        </p:nvGrpSpPr>
        <p:grpSpPr>
          <a:xfrm rot="0">
            <a:off x="1828489" y="7182735"/>
            <a:ext cx="10000635" cy="1032621"/>
            <a:chOff x="0" y="0"/>
            <a:chExt cx="3248151" cy="335390"/>
          </a:xfrm>
        </p:grpSpPr>
        <p:sp>
          <p:nvSpPr>
            <p:cNvPr name="Freeform 26" id="26"/>
            <p:cNvSpPr/>
            <p:nvPr/>
          </p:nvSpPr>
          <p:spPr>
            <a:xfrm flipH="false" flipV="false" rot="0">
              <a:off x="0" y="0"/>
              <a:ext cx="3248151" cy="335390"/>
            </a:xfrm>
            <a:custGeom>
              <a:avLst/>
              <a:gdLst/>
              <a:ahLst/>
              <a:cxnLst/>
              <a:rect r="r" b="b" t="t" l="l"/>
              <a:pathLst>
                <a:path h="335390" w="3248151">
                  <a:moveTo>
                    <a:pt x="77414" y="0"/>
                  </a:moveTo>
                  <a:lnTo>
                    <a:pt x="3170737" y="0"/>
                  </a:lnTo>
                  <a:cubicBezTo>
                    <a:pt x="3191269" y="0"/>
                    <a:pt x="3210959" y="8156"/>
                    <a:pt x="3225477" y="22674"/>
                  </a:cubicBezTo>
                  <a:cubicBezTo>
                    <a:pt x="3239995" y="37192"/>
                    <a:pt x="3248151" y="56883"/>
                    <a:pt x="3248151" y="77414"/>
                  </a:cubicBezTo>
                  <a:lnTo>
                    <a:pt x="3248151" y="257975"/>
                  </a:lnTo>
                  <a:cubicBezTo>
                    <a:pt x="3248151" y="278507"/>
                    <a:pt x="3239995" y="298198"/>
                    <a:pt x="3225477" y="312716"/>
                  </a:cubicBezTo>
                  <a:cubicBezTo>
                    <a:pt x="3210959" y="327234"/>
                    <a:pt x="3191269" y="335390"/>
                    <a:pt x="3170737" y="335390"/>
                  </a:cubicBezTo>
                  <a:lnTo>
                    <a:pt x="77414" y="335390"/>
                  </a:lnTo>
                  <a:cubicBezTo>
                    <a:pt x="56883" y="335390"/>
                    <a:pt x="37192" y="327234"/>
                    <a:pt x="22674" y="312716"/>
                  </a:cubicBezTo>
                  <a:cubicBezTo>
                    <a:pt x="8156" y="298198"/>
                    <a:pt x="0" y="278507"/>
                    <a:pt x="0" y="257975"/>
                  </a:cubicBezTo>
                  <a:lnTo>
                    <a:pt x="0" y="77414"/>
                  </a:lnTo>
                  <a:cubicBezTo>
                    <a:pt x="0" y="56883"/>
                    <a:pt x="8156" y="37192"/>
                    <a:pt x="22674" y="22674"/>
                  </a:cubicBezTo>
                  <a:cubicBezTo>
                    <a:pt x="37192" y="8156"/>
                    <a:pt x="56883" y="0"/>
                    <a:pt x="77414" y="0"/>
                  </a:cubicBezTo>
                  <a:close/>
                </a:path>
              </a:pathLst>
            </a:custGeom>
            <a:solidFill>
              <a:srgbClr val="A0EEEB">
                <a:alpha val="40784"/>
              </a:srgbClr>
            </a:solidFill>
          </p:spPr>
        </p:sp>
        <p:sp>
          <p:nvSpPr>
            <p:cNvPr name="TextBox 27" id="27"/>
            <p:cNvSpPr txBox="true"/>
            <p:nvPr/>
          </p:nvSpPr>
          <p:spPr>
            <a:xfrm>
              <a:off x="0" y="-19050"/>
              <a:ext cx="3248151" cy="354440"/>
            </a:xfrm>
            <a:prstGeom prst="rect">
              <a:avLst/>
            </a:prstGeom>
          </p:spPr>
          <p:txBody>
            <a:bodyPr anchor="ctr" rtlCol="false" tIns="50800" lIns="50800" bIns="50800" rIns="50800"/>
            <a:lstStyle/>
            <a:p>
              <a:pPr algn="ctr">
                <a:lnSpc>
                  <a:spcPts val="2640"/>
                </a:lnSpc>
              </a:pPr>
            </a:p>
          </p:txBody>
        </p:sp>
      </p:grpSp>
      <p:grpSp>
        <p:nvGrpSpPr>
          <p:cNvPr name="Group 28" id="28"/>
          <p:cNvGrpSpPr/>
          <p:nvPr/>
        </p:nvGrpSpPr>
        <p:grpSpPr>
          <a:xfrm rot="0">
            <a:off x="1875455" y="7229701"/>
            <a:ext cx="938689" cy="938689"/>
            <a:chOff x="0" y="0"/>
            <a:chExt cx="534908" cy="534908"/>
          </a:xfrm>
        </p:grpSpPr>
        <p:sp>
          <p:nvSpPr>
            <p:cNvPr name="Freeform 29" id="29"/>
            <p:cNvSpPr/>
            <p:nvPr/>
          </p:nvSpPr>
          <p:spPr>
            <a:xfrm flipH="false" flipV="false" rot="0">
              <a:off x="0" y="0"/>
              <a:ext cx="534908" cy="534908"/>
            </a:xfrm>
            <a:custGeom>
              <a:avLst/>
              <a:gdLst/>
              <a:ahLst/>
              <a:cxnLst/>
              <a:rect r="r" b="b" t="t" l="l"/>
              <a:pathLst>
                <a:path h="534908" w="534908">
                  <a:moveTo>
                    <a:pt x="267454" y="0"/>
                  </a:moveTo>
                  <a:lnTo>
                    <a:pt x="267454" y="0"/>
                  </a:lnTo>
                  <a:cubicBezTo>
                    <a:pt x="338387" y="0"/>
                    <a:pt x="406415" y="28178"/>
                    <a:pt x="456572" y="78335"/>
                  </a:cubicBezTo>
                  <a:cubicBezTo>
                    <a:pt x="506729" y="128493"/>
                    <a:pt x="534908" y="196521"/>
                    <a:pt x="534908" y="267454"/>
                  </a:cubicBezTo>
                  <a:lnTo>
                    <a:pt x="534908" y="267454"/>
                  </a:lnTo>
                  <a:cubicBezTo>
                    <a:pt x="534908" y="338387"/>
                    <a:pt x="506729" y="406415"/>
                    <a:pt x="456572" y="456572"/>
                  </a:cubicBezTo>
                  <a:cubicBezTo>
                    <a:pt x="406415" y="506729"/>
                    <a:pt x="338387" y="534908"/>
                    <a:pt x="267454" y="534908"/>
                  </a:cubicBezTo>
                  <a:lnTo>
                    <a:pt x="267454" y="534908"/>
                  </a:lnTo>
                  <a:cubicBezTo>
                    <a:pt x="196521" y="534908"/>
                    <a:pt x="128493" y="506729"/>
                    <a:pt x="78335" y="456572"/>
                  </a:cubicBezTo>
                  <a:cubicBezTo>
                    <a:pt x="28178" y="406415"/>
                    <a:pt x="0" y="338387"/>
                    <a:pt x="0" y="267454"/>
                  </a:cubicBezTo>
                  <a:lnTo>
                    <a:pt x="0" y="267454"/>
                  </a:lnTo>
                  <a:cubicBezTo>
                    <a:pt x="0" y="196521"/>
                    <a:pt x="28178" y="128493"/>
                    <a:pt x="78335" y="78335"/>
                  </a:cubicBezTo>
                  <a:cubicBezTo>
                    <a:pt x="128493" y="28178"/>
                    <a:pt x="196521" y="0"/>
                    <a:pt x="267454" y="0"/>
                  </a:cubicBezTo>
                  <a:close/>
                </a:path>
              </a:pathLst>
            </a:custGeom>
            <a:solidFill>
              <a:srgbClr val="FFFFFF"/>
            </a:solidFill>
            <a:ln cap="rnd">
              <a:noFill/>
              <a:prstDash val="solid"/>
              <a:round/>
            </a:ln>
          </p:spPr>
        </p:sp>
        <p:sp>
          <p:nvSpPr>
            <p:cNvPr name="TextBox 30" id="30"/>
            <p:cNvSpPr txBox="true"/>
            <p:nvPr/>
          </p:nvSpPr>
          <p:spPr>
            <a:xfrm>
              <a:off x="0" y="-19050"/>
              <a:ext cx="534908" cy="553958"/>
            </a:xfrm>
            <a:prstGeom prst="rect">
              <a:avLst/>
            </a:prstGeom>
          </p:spPr>
          <p:txBody>
            <a:bodyPr anchor="ctr" rtlCol="false" tIns="50800" lIns="50800" bIns="50800" rIns="50800"/>
            <a:lstStyle/>
            <a:p>
              <a:pPr algn="ctr">
                <a:lnSpc>
                  <a:spcPts val="2640"/>
                </a:lnSpc>
              </a:pPr>
            </a:p>
          </p:txBody>
        </p:sp>
      </p:grpSp>
      <p:sp>
        <p:nvSpPr>
          <p:cNvPr name="Freeform 31" id="31"/>
          <p:cNvSpPr/>
          <p:nvPr/>
        </p:nvSpPr>
        <p:spPr>
          <a:xfrm flipH="false" flipV="false" rot="0">
            <a:off x="2136807" y="7491053"/>
            <a:ext cx="415986" cy="415986"/>
          </a:xfrm>
          <a:custGeom>
            <a:avLst/>
            <a:gdLst/>
            <a:ahLst/>
            <a:cxnLst/>
            <a:rect r="r" b="b" t="t" l="l"/>
            <a:pathLst>
              <a:path h="415986" w="415986">
                <a:moveTo>
                  <a:pt x="0" y="0"/>
                </a:moveTo>
                <a:lnTo>
                  <a:pt x="415985" y="0"/>
                </a:lnTo>
                <a:lnTo>
                  <a:pt x="415985" y="415986"/>
                </a:lnTo>
                <a:lnTo>
                  <a:pt x="0" y="415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2" id="32"/>
          <p:cNvSpPr txBox="true"/>
          <p:nvPr/>
        </p:nvSpPr>
        <p:spPr>
          <a:xfrm rot="0">
            <a:off x="3372734" y="7483973"/>
            <a:ext cx="3518002" cy="401571"/>
          </a:xfrm>
          <a:prstGeom prst="rect">
            <a:avLst/>
          </a:prstGeom>
        </p:spPr>
        <p:txBody>
          <a:bodyPr anchor="t" rtlCol="false" tIns="0" lIns="0" bIns="0" rIns="0">
            <a:spAutoFit/>
          </a:bodyPr>
          <a:lstStyle/>
          <a:p>
            <a:pPr algn="ctr">
              <a:lnSpc>
                <a:spcPts val="2967"/>
              </a:lnSpc>
              <a:spcBef>
                <a:spcPct val="0"/>
              </a:spcBef>
            </a:pPr>
            <a:r>
              <a:rPr lang="en-US" b="true" sz="2473">
                <a:solidFill>
                  <a:srgbClr val="FFFFFF"/>
                </a:solidFill>
                <a:latin typeface="Poppins Bold"/>
                <a:ea typeface="Poppins Bold"/>
                <a:cs typeface="Poppins Bold"/>
                <a:sym typeface="Poppins Bold"/>
              </a:rPr>
              <a:t>Phone: 864-837-5643</a:t>
            </a:r>
          </a:p>
        </p:txBody>
      </p:sp>
      <p:sp>
        <p:nvSpPr>
          <p:cNvPr name="Freeform 33" id="33"/>
          <p:cNvSpPr/>
          <p:nvPr/>
        </p:nvSpPr>
        <p:spPr>
          <a:xfrm flipH="false" flipV="false" rot="0">
            <a:off x="14637044" y="6586523"/>
            <a:ext cx="2622256" cy="2671777"/>
          </a:xfrm>
          <a:custGeom>
            <a:avLst/>
            <a:gdLst/>
            <a:ahLst/>
            <a:cxnLst/>
            <a:rect r="r" b="b" t="t" l="l"/>
            <a:pathLst>
              <a:path h="2671777" w="2622256">
                <a:moveTo>
                  <a:pt x="0" y="0"/>
                </a:moveTo>
                <a:lnTo>
                  <a:pt x="2622256" y="0"/>
                </a:lnTo>
                <a:lnTo>
                  <a:pt x="2622256" y="2671777"/>
                </a:lnTo>
                <a:lnTo>
                  <a:pt x="0" y="2671777"/>
                </a:lnTo>
                <a:lnTo>
                  <a:pt x="0" y="0"/>
                </a:lnTo>
                <a:close/>
              </a:path>
            </a:pathLst>
          </a:custGeom>
          <a:blipFill>
            <a:blip r:embed="rId11"/>
            <a:stretch>
              <a:fillRect l="-59160" t="-76950" r="-59993" b="-20492"/>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a:ln w="85725" cap="sq">
            <a:solidFill>
              <a:srgbClr val="000000">
                <a:alpha val="43922"/>
              </a:srgbClr>
            </a:solidFill>
            <a:prstDash val="solid"/>
            <a:miter/>
          </a:ln>
        </p:spPr>
      </p:sp>
      <p:sp>
        <p:nvSpPr>
          <p:cNvPr name="Freeform 3" id="3"/>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3">
              <a:alphaModFix amt="21999"/>
            </a:blip>
            <a:stretch>
              <a:fillRect l="0" t="0" r="0" b="0"/>
            </a:stretch>
          </a:blipFill>
        </p:spPr>
      </p:sp>
      <p:grpSp>
        <p:nvGrpSpPr>
          <p:cNvPr name="Group 4" id="4"/>
          <p:cNvGrpSpPr/>
          <p:nvPr/>
        </p:nvGrpSpPr>
        <p:grpSpPr>
          <a:xfrm rot="0">
            <a:off x="1736594" y="3931507"/>
            <a:ext cx="14814811" cy="4492998"/>
            <a:chOff x="0" y="0"/>
            <a:chExt cx="8185119" cy="2482362"/>
          </a:xfrm>
        </p:grpSpPr>
        <p:sp>
          <p:nvSpPr>
            <p:cNvPr name="Freeform 5" id="5"/>
            <p:cNvSpPr/>
            <p:nvPr/>
          </p:nvSpPr>
          <p:spPr>
            <a:xfrm flipH="false" flipV="false" rot="0">
              <a:off x="0" y="0"/>
              <a:ext cx="8185119" cy="2482362"/>
            </a:xfrm>
            <a:custGeom>
              <a:avLst/>
              <a:gdLst/>
              <a:ahLst/>
              <a:cxnLst/>
              <a:rect r="r" b="b" t="t" l="l"/>
              <a:pathLst>
                <a:path h="2482362" w="8185119">
                  <a:moveTo>
                    <a:pt x="12019" y="0"/>
                  </a:moveTo>
                  <a:lnTo>
                    <a:pt x="8173100" y="0"/>
                  </a:lnTo>
                  <a:cubicBezTo>
                    <a:pt x="8179738" y="0"/>
                    <a:pt x="8185119" y="5381"/>
                    <a:pt x="8185119" y="12019"/>
                  </a:cubicBezTo>
                  <a:lnTo>
                    <a:pt x="8185119" y="2470342"/>
                  </a:lnTo>
                  <a:cubicBezTo>
                    <a:pt x="8185119" y="2476981"/>
                    <a:pt x="8179738" y="2482362"/>
                    <a:pt x="8173100" y="2482362"/>
                  </a:cubicBezTo>
                  <a:lnTo>
                    <a:pt x="12019" y="2482362"/>
                  </a:lnTo>
                  <a:cubicBezTo>
                    <a:pt x="5381" y="2482362"/>
                    <a:pt x="0" y="2476981"/>
                    <a:pt x="0" y="2470342"/>
                  </a:cubicBezTo>
                  <a:lnTo>
                    <a:pt x="0" y="12019"/>
                  </a:lnTo>
                  <a:cubicBezTo>
                    <a:pt x="0" y="5381"/>
                    <a:pt x="5381" y="0"/>
                    <a:pt x="12019" y="0"/>
                  </a:cubicBezTo>
                  <a:close/>
                </a:path>
              </a:pathLst>
            </a:custGeom>
            <a:solidFill>
              <a:srgbClr val="1B474C">
                <a:alpha val="40784"/>
              </a:srgbClr>
            </a:solidFill>
            <a:ln cap="rnd">
              <a:noFill/>
              <a:prstDash val="solid"/>
              <a:round/>
            </a:ln>
          </p:spPr>
        </p:sp>
        <p:sp>
          <p:nvSpPr>
            <p:cNvPr name="TextBox 6" id="6"/>
            <p:cNvSpPr txBox="true"/>
            <p:nvPr/>
          </p:nvSpPr>
          <p:spPr>
            <a:xfrm>
              <a:off x="0" y="-19050"/>
              <a:ext cx="8185119" cy="2501412"/>
            </a:xfrm>
            <a:prstGeom prst="rect">
              <a:avLst/>
            </a:prstGeom>
          </p:spPr>
          <p:txBody>
            <a:bodyPr anchor="ctr" rtlCol="false" tIns="50800" lIns="50800" bIns="50800" rIns="50800"/>
            <a:lstStyle/>
            <a:p>
              <a:pPr algn="ctr">
                <a:lnSpc>
                  <a:spcPts val="2640"/>
                </a:lnSpc>
              </a:pPr>
            </a:p>
          </p:txBody>
        </p:sp>
      </p:grpSp>
      <p:grpSp>
        <p:nvGrpSpPr>
          <p:cNvPr name="Group 7" id="7"/>
          <p:cNvGrpSpPr/>
          <p:nvPr/>
        </p:nvGrpSpPr>
        <p:grpSpPr>
          <a:xfrm rot="0">
            <a:off x="1736594" y="4991391"/>
            <a:ext cx="14814811" cy="470077"/>
            <a:chOff x="0" y="0"/>
            <a:chExt cx="3901843" cy="123806"/>
          </a:xfrm>
        </p:grpSpPr>
        <p:sp>
          <p:nvSpPr>
            <p:cNvPr name="Freeform 8" id="8"/>
            <p:cNvSpPr/>
            <p:nvPr/>
          </p:nvSpPr>
          <p:spPr>
            <a:xfrm flipH="false" flipV="false" rot="0">
              <a:off x="0" y="0"/>
              <a:ext cx="3901843" cy="123806"/>
            </a:xfrm>
            <a:custGeom>
              <a:avLst/>
              <a:gdLst/>
              <a:ahLst/>
              <a:cxnLst/>
              <a:rect r="r" b="b" t="t" l="l"/>
              <a:pathLst>
                <a:path h="123806" w="3901843">
                  <a:moveTo>
                    <a:pt x="0" y="0"/>
                  </a:moveTo>
                  <a:lnTo>
                    <a:pt x="3901843" y="0"/>
                  </a:lnTo>
                  <a:lnTo>
                    <a:pt x="3901843" y="123806"/>
                  </a:lnTo>
                  <a:lnTo>
                    <a:pt x="0" y="123806"/>
                  </a:lnTo>
                  <a:close/>
                </a:path>
              </a:pathLst>
            </a:custGeom>
            <a:solidFill>
              <a:srgbClr val="FFFFFF">
                <a:alpha val="9804"/>
              </a:srgbClr>
            </a:solidFill>
          </p:spPr>
        </p:sp>
        <p:sp>
          <p:nvSpPr>
            <p:cNvPr name="TextBox 9" id="9"/>
            <p:cNvSpPr txBox="true"/>
            <p:nvPr/>
          </p:nvSpPr>
          <p:spPr>
            <a:xfrm>
              <a:off x="0" y="-104775"/>
              <a:ext cx="3901843" cy="228581"/>
            </a:xfrm>
            <a:prstGeom prst="rect">
              <a:avLst/>
            </a:prstGeom>
          </p:spPr>
          <p:txBody>
            <a:bodyPr anchor="ctr" rtlCol="false" tIns="50800" lIns="50800" bIns="50800" rIns="50800"/>
            <a:lstStyle/>
            <a:p>
              <a:pPr algn="ctr">
                <a:lnSpc>
                  <a:spcPts val="3378"/>
                </a:lnSpc>
              </a:pPr>
            </a:p>
          </p:txBody>
        </p:sp>
      </p:grpSp>
      <p:grpSp>
        <p:nvGrpSpPr>
          <p:cNvPr name="Group 10" id="10"/>
          <p:cNvGrpSpPr/>
          <p:nvPr/>
        </p:nvGrpSpPr>
        <p:grpSpPr>
          <a:xfrm rot="0">
            <a:off x="1736594" y="5993952"/>
            <a:ext cx="14814811" cy="960967"/>
            <a:chOff x="0" y="0"/>
            <a:chExt cx="3901843" cy="253094"/>
          </a:xfrm>
        </p:grpSpPr>
        <p:sp>
          <p:nvSpPr>
            <p:cNvPr name="Freeform 11" id="11"/>
            <p:cNvSpPr/>
            <p:nvPr/>
          </p:nvSpPr>
          <p:spPr>
            <a:xfrm flipH="false" flipV="false" rot="0">
              <a:off x="0" y="0"/>
              <a:ext cx="3901843" cy="253094"/>
            </a:xfrm>
            <a:custGeom>
              <a:avLst/>
              <a:gdLst/>
              <a:ahLst/>
              <a:cxnLst/>
              <a:rect r="r" b="b" t="t" l="l"/>
              <a:pathLst>
                <a:path h="253094" w="3901843">
                  <a:moveTo>
                    <a:pt x="0" y="0"/>
                  </a:moveTo>
                  <a:lnTo>
                    <a:pt x="3901843" y="0"/>
                  </a:lnTo>
                  <a:lnTo>
                    <a:pt x="3901843" y="253094"/>
                  </a:lnTo>
                  <a:lnTo>
                    <a:pt x="0" y="253094"/>
                  </a:lnTo>
                  <a:close/>
                </a:path>
              </a:pathLst>
            </a:custGeom>
            <a:solidFill>
              <a:srgbClr val="FFFFFF">
                <a:alpha val="9804"/>
              </a:srgbClr>
            </a:solidFill>
          </p:spPr>
        </p:sp>
        <p:sp>
          <p:nvSpPr>
            <p:cNvPr name="TextBox 12" id="12"/>
            <p:cNvSpPr txBox="true"/>
            <p:nvPr/>
          </p:nvSpPr>
          <p:spPr>
            <a:xfrm>
              <a:off x="0" y="-104775"/>
              <a:ext cx="3901843" cy="357869"/>
            </a:xfrm>
            <a:prstGeom prst="rect">
              <a:avLst/>
            </a:prstGeom>
          </p:spPr>
          <p:txBody>
            <a:bodyPr anchor="ctr" rtlCol="false" tIns="50800" lIns="50800" bIns="50800" rIns="50800"/>
            <a:lstStyle/>
            <a:p>
              <a:pPr algn="ctr">
                <a:lnSpc>
                  <a:spcPts val="3378"/>
                </a:lnSpc>
              </a:pPr>
            </a:p>
          </p:txBody>
        </p:sp>
      </p:grpSp>
      <p:grpSp>
        <p:nvGrpSpPr>
          <p:cNvPr name="Group 13" id="13"/>
          <p:cNvGrpSpPr/>
          <p:nvPr/>
        </p:nvGrpSpPr>
        <p:grpSpPr>
          <a:xfrm rot="0">
            <a:off x="1736594" y="7523150"/>
            <a:ext cx="14814811" cy="448864"/>
            <a:chOff x="0" y="0"/>
            <a:chExt cx="3901843" cy="118219"/>
          </a:xfrm>
        </p:grpSpPr>
        <p:sp>
          <p:nvSpPr>
            <p:cNvPr name="Freeform 14" id="14"/>
            <p:cNvSpPr/>
            <p:nvPr/>
          </p:nvSpPr>
          <p:spPr>
            <a:xfrm flipH="false" flipV="false" rot="0">
              <a:off x="0" y="0"/>
              <a:ext cx="3901843" cy="118219"/>
            </a:xfrm>
            <a:custGeom>
              <a:avLst/>
              <a:gdLst/>
              <a:ahLst/>
              <a:cxnLst/>
              <a:rect r="r" b="b" t="t" l="l"/>
              <a:pathLst>
                <a:path h="118219" w="3901843">
                  <a:moveTo>
                    <a:pt x="0" y="0"/>
                  </a:moveTo>
                  <a:lnTo>
                    <a:pt x="3901843" y="0"/>
                  </a:lnTo>
                  <a:lnTo>
                    <a:pt x="3901843" y="118219"/>
                  </a:lnTo>
                  <a:lnTo>
                    <a:pt x="0" y="118219"/>
                  </a:lnTo>
                  <a:close/>
                </a:path>
              </a:pathLst>
            </a:custGeom>
            <a:solidFill>
              <a:srgbClr val="FFFFFF">
                <a:alpha val="9804"/>
              </a:srgbClr>
            </a:solidFill>
          </p:spPr>
        </p:sp>
        <p:sp>
          <p:nvSpPr>
            <p:cNvPr name="TextBox 15" id="15"/>
            <p:cNvSpPr txBox="true"/>
            <p:nvPr/>
          </p:nvSpPr>
          <p:spPr>
            <a:xfrm>
              <a:off x="0" y="-104775"/>
              <a:ext cx="3901843" cy="222994"/>
            </a:xfrm>
            <a:prstGeom prst="rect">
              <a:avLst/>
            </a:prstGeom>
          </p:spPr>
          <p:txBody>
            <a:bodyPr anchor="ctr" rtlCol="false" tIns="50800" lIns="50800" bIns="50800" rIns="50800"/>
            <a:lstStyle/>
            <a:p>
              <a:pPr algn="ctr">
                <a:lnSpc>
                  <a:spcPts val="3378"/>
                </a:lnSpc>
              </a:pPr>
            </a:p>
          </p:txBody>
        </p:sp>
      </p:grpSp>
      <p:sp>
        <p:nvSpPr>
          <p:cNvPr name="TextBox 16" id="16"/>
          <p:cNvSpPr txBox="true"/>
          <p:nvPr/>
        </p:nvSpPr>
        <p:spPr>
          <a:xfrm rot="0">
            <a:off x="1858551" y="1428750"/>
            <a:ext cx="9003139" cy="796323"/>
          </a:xfrm>
          <a:prstGeom prst="rect">
            <a:avLst/>
          </a:prstGeom>
        </p:spPr>
        <p:txBody>
          <a:bodyPr anchor="t" rtlCol="false" tIns="0" lIns="0" bIns="0" rIns="0">
            <a:spAutoFit/>
          </a:bodyPr>
          <a:lstStyle/>
          <a:p>
            <a:pPr algn="l" marL="0" indent="0" lvl="0">
              <a:lnSpc>
                <a:spcPts val="5883"/>
              </a:lnSpc>
            </a:pPr>
            <a:r>
              <a:rPr lang="en-US" b="true" sz="5253">
                <a:solidFill>
                  <a:srgbClr val="F6F6F6"/>
                </a:solidFill>
                <a:latin typeface="Poppins Semi-Bold"/>
                <a:ea typeface="Poppins Semi-Bold"/>
                <a:cs typeface="Poppins Semi-Bold"/>
                <a:sym typeface="Poppins Semi-Bold"/>
              </a:rPr>
              <a:t>Referrals</a:t>
            </a:r>
          </a:p>
        </p:txBody>
      </p:sp>
      <p:sp>
        <p:nvSpPr>
          <p:cNvPr name="TextBox 17" id="17"/>
          <p:cNvSpPr txBox="true"/>
          <p:nvPr/>
        </p:nvSpPr>
        <p:spPr>
          <a:xfrm rot="0">
            <a:off x="1858551" y="2383791"/>
            <a:ext cx="8521570" cy="782319"/>
          </a:xfrm>
          <a:prstGeom prst="rect">
            <a:avLst/>
          </a:prstGeom>
        </p:spPr>
        <p:txBody>
          <a:bodyPr anchor="t" rtlCol="false" tIns="0" lIns="0" bIns="0" rIns="0">
            <a:spAutoFit/>
          </a:bodyPr>
          <a:lstStyle/>
          <a:p>
            <a:pPr algn="l" marL="0" indent="0" lvl="0">
              <a:lnSpc>
                <a:spcPts val="3080"/>
              </a:lnSpc>
            </a:pPr>
            <a:r>
              <a:rPr lang="en-US" sz="2200" i="true" spc="528">
                <a:solidFill>
                  <a:srgbClr val="F6F6F6"/>
                </a:solidFill>
                <a:latin typeface="Poppins Italics"/>
                <a:ea typeface="Poppins Italics"/>
                <a:cs typeface="Poppins Italics"/>
                <a:sym typeface="Poppins Italics"/>
              </a:rPr>
              <a:t>REFERRALS PRICING AND RESIDUAL COMPENSATION BREAKDOWN.</a:t>
            </a:r>
          </a:p>
        </p:txBody>
      </p:sp>
      <p:sp>
        <p:nvSpPr>
          <p:cNvPr name="TextBox 18" id="18"/>
          <p:cNvSpPr txBox="true"/>
          <p:nvPr/>
        </p:nvSpPr>
        <p:spPr>
          <a:xfrm rot="0">
            <a:off x="2164742" y="4391316"/>
            <a:ext cx="4322751" cy="352425"/>
          </a:xfrm>
          <a:prstGeom prst="rect">
            <a:avLst/>
          </a:prstGeom>
        </p:spPr>
        <p:txBody>
          <a:bodyPr anchor="t" rtlCol="false" tIns="0" lIns="0" bIns="0" rIns="0">
            <a:spAutoFit/>
          </a:bodyPr>
          <a:lstStyle/>
          <a:p>
            <a:pPr algn="l">
              <a:lnSpc>
                <a:spcPts val="2698"/>
              </a:lnSpc>
              <a:spcBef>
                <a:spcPct val="0"/>
              </a:spcBef>
            </a:pPr>
            <a:r>
              <a:rPr lang="en-US" sz="2248" b="true">
                <a:solidFill>
                  <a:srgbClr val="FFFFFF"/>
                </a:solidFill>
                <a:latin typeface="Poppins Bold"/>
                <a:ea typeface="Poppins Bold"/>
                <a:cs typeface="Poppins Bold"/>
                <a:sym typeface="Poppins Bold"/>
              </a:rPr>
              <a:t>Product</a:t>
            </a:r>
          </a:p>
        </p:txBody>
      </p:sp>
      <p:sp>
        <p:nvSpPr>
          <p:cNvPr name="TextBox 19" id="19"/>
          <p:cNvSpPr txBox="true"/>
          <p:nvPr/>
        </p:nvSpPr>
        <p:spPr>
          <a:xfrm rot="0">
            <a:off x="6249368" y="4427319"/>
            <a:ext cx="4322751" cy="352425"/>
          </a:xfrm>
          <a:prstGeom prst="rect">
            <a:avLst/>
          </a:prstGeom>
        </p:spPr>
        <p:txBody>
          <a:bodyPr anchor="t" rtlCol="false" tIns="0" lIns="0" bIns="0" rIns="0">
            <a:spAutoFit/>
          </a:bodyPr>
          <a:lstStyle/>
          <a:p>
            <a:pPr algn="l">
              <a:lnSpc>
                <a:spcPts val="2698"/>
              </a:lnSpc>
              <a:spcBef>
                <a:spcPct val="0"/>
              </a:spcBef>
            </a:pPr>
            <a:r>
              <a:rPr lang="en-US" sz="2248" b="true">
                <a:solidFill>
                  <a:srgbClr val="FFFFFF"/>
                </a:solidFill>
                <a:latin typeface="Poppins Bold"/>
                <a:ea typeface="Poppins Bold"/>
                <a:cs typeface="Poppins Bold"/>
                <a:sym typeface="Poppins Bold"/>
              </a:rPr>
              <a:t>Pricing</a:t>
            </a:r>
          </a:p>
        </p:txBody>
      </p:sp>
      <p:sp>
        <p:nvSpPr>
          <p:cNvPr name="TextBox 20" id="20"/>
          <p:cNvSpPr txBox="true"/>
          <p:nvPr/>
        </p:nvSpPr>
        <p:spPr>
          <a:xfrm rot="0">
            <a:off x="2164742" y="4886616"/>
            <a:ext cx="4322751" cy="2987024"/>
          </a:xfrm>
          <a:prstGeom prst="rect">
            <a:avLst/>
          </a:prstGeom>
        </p:spPr>
        <p:txBody>
          <a:bodyPr anchor="t" rtlCol="false" tIns="0" lIns="0" bIns="0" rIns="0">
            <a:spAutoFit/>
          </a:bodyPr>
          <a:lstStyle/>
          <a:p>
            <a:pPr algn="l">
              <a:lnSpc>
                <a:spcPts val="4048"/>
              </a:lnSpc>
            </a:pPr>
            <a:r>
              <a:rPr lang="en-US" sz="1848" b="true">
                <a:solidFill>
                  <a:srgbClr val="FFFFFF"/>
                </a:solidFill>
                <a:latin typeface="Poppins Medium"/>
                <a:ea typeface="Poppins Medium"/>
                <a:cs typeface="Poppins Medium"/>
                <a:sym typeface="Poppins Medium"/>
              </a:rPr>
              <a:t>Zip Code Targeting</a:t>
            </a:r>
          </a:p>
          <a:p>
            <a:pPr algn="l">
              <a:lnSpc>
                <a:spcPts val="4048"/>
              </a:lnSpc>
            </a:pPr>
            <a:r>
              <a:rPr lang="en-US" sz="1848" b="true">
                <a:solidFill>
                  <a:srgbClr val="FFFFFF"/>
                </a:solidFill>
                <a:latin typeface="Poppins Medium"/>
                <a:ea typeface="Poppins Medium"/>
                <a:cs typeface="Poppins Medium"/>
                <a:sym typeface="Poppins Medium"/>
              </a:rPr>
              <a:t>Bulk Intent Data</a:t>
            </a:r>
          </a:p>
          <a:p>
            <a:pPr algn="l">
              <a:lnSpc>
                <a:spcPts val="4048"/>
              </a:lnSpc>
            </a:pPr>
            <a:r>
              <a:rPr lang="en-US" sz="1848" b="true">
                <a:solidFill>
                  <a:srgbClr val="FFFFFF"/>
                </a:solidFill>
                <a:latin typeface="Poppins Medium"/>
                <a:ea typeface="Poppins Medium"/>
                <a:cs typeface="Poppins Medium"/>
                <a:sym typeface="Poppins Medium"/>
              </a:rPr>
              <a:t>Website Deanonymization</a:t>
            </a:r>
          </a:p>
          <a:p>
            <a:pPr algn="l">
              <a:lnSpc>
                <a:spcPts val="4048"/>
              </a:lnSpc>
            </a:pPr>
          </a:p>
          <a:p>
            <a:pPr algn="l">
              <a:lnSpc>
                <a:spcPts val="4048"/>
              </a:lnSpc>
            </a:pPr>
            <a:r>
              <a:rPr lang="en-US" sz="1848" b="true">
                <a:solidFill>
                  <a:srgbClr val="FFFFFF"/>
                </a:solidFill>
                <a:latin typeface="Poppins Medium"/>
                <a:ea typeface="Poppins Medium"/>
                <a:cs typeface="Poppins Medium"/>
                <a:sym typeface="Poppins Medium"/>
              </a:rPr>
              <a:t>Fractional CMO</a:t>
            </a:r>
          </a:p>
          <a:p>
            <a:pPr algn="l">
              <a:lnSpc>
                <a:spcPts val="4048"/>
              </a:lnSpc>
            </a:pPr>
            <a:r>
              <a:rPr lang="en-US" sz="1848" b="true">
                <a:solidFill>
                  <a:srgbClr val="FFFFFF"/>
                </a:solidFill>
                <a:latin typeface="Poppins Medium"/>
                <a:ea typeface="Poppins Medium"/>
                <a:cs typeface="Poppins Medium"/>
                <a:sym typeface="Poppins Medium"/>
              </a:rPr>
              <a:t>Marketing Audit &amp; DIY Blueprint</a:t>
            </a:r>
          </a:p>
        </p:txBody>
      </p:sp>
      <p:sp>
        <p:nvSpPr>
          <p:cNvPr name="TextBox 21" id="21"/>
          <p:cNvSpPr txBox="true"/>
          <p:nvPr/>
        </p:nvSpPr>
        <p:spPr>
          <a:xfrm rot="0">
            <a:off x="6249368" y="4922619"/>
            <a:ext cx="6087341" cy="2987024"/>
          </a:xfrm>
          <a:prstGeom prst="rect">
            <a:avLst/>
          </a:prstGeom>
        </p:spPr>
        <p:txBody>
          <a:bodyPr anchor="t" rtlCol="false" tIns="0" lIns="0" bIns="0" rIns="0">
            <a:spAutoFit/>
          </a:bodyPr>
          <a:lstStyle/>
          <a:p>
            <a:pPr algn="l">
              <a:lnSpc>
                <a:spcPts val="4048"/>
              </a:lnSpc>
            </a:pPr>
            <a:r>
              <a:rPr lang="en-US" sz="1848">
                <a:solidFill>
                  <a:srgbClr val="FFFFFF"/>
                </a:solidFill>
                <a:latin typeface="Poppins"/>
                <a:ea typeface="Poppins"/>
                <a:cs typeface="Poppins"/>
                <a:sym typeface="Poppins"/>
              </a:rPr>
              <a:t>$30 | $50 per zip, minimum spend $360 | $350</a:t>
            </a:r>
          </a:p>
          <a:p>
            <a:pPr algn="l">
              <a:lnSpc>
                <a:spcPts val="4048"/>
              </a:lnSpc>
            </a:pPr>
            <a:r>
              <a:rPr lang="en-US" sz="1848">
                <a:solidFill>
                  <a:srgbClr val="FFFFFF"/>
                </a:solidFill>
                <a:latin typeface="Poppins"/>
                <a:ea typeface="Poppins"/>
                <a:cs typeface="Poppins"/>
                <a:sym typeface="Poppins"/>
              </a:rPr>
              <a:t>$2,000/mo</a:t>
            </a:r>
          </a:p>
          <a:p>
            <a:pPr algn="l">
              <a:lnSpc>
                <a:spcPts val="4048"/>
              </a:lnSpc>
            </a:pPr>
            <a:r>
              <a:rPr lang="en-US" sz="1848">
                <a:solidFill>
                  <a:srgbClr val="FFFFFF"/>
                </a:solidFill>
                <a:latin typeface="Poppins"/>
                <a:ea typeface="Poppins"/>
                <a:cs typeface="Poppins"/>
                <a:sym typeface="Poppins"/>
              </a:rPr>
              <a:t>$1,000/mo (25k resolutions)</a:t>
            </a:r>
          </a:p>
          <a:p>
            <a:pPr algn="l">
              <a:lnSpc>
                <a:spcPts val="4048"/>
              </a:lnSpc>
            </a:pPr>
            <a:r>
              <a:rPr lang="en-US" sz="1848">
                <a:solidFill>
                  <a:srgbClr val="FFFFFF"/>
                </a:solidFill>
                <a:latin typeface="Poppins"/>
                <a:ea typeface="Poppins"/>
                <a:cs typeface="Poppins"/>
                <a:sym typeface="Poppins"/>
              </a:rPr>
              <a:t>$200 one-time setup then $0.08 per resolution</a:t>
            </a:r>
          </a:p>
          <a:p>
            <a:pPr algn="l">
              <a:lnSpc>
                <a:spcPts val="4048"/>
              </a:lnSpc>
            </a:pPr>
            <a:r>
              <a:rPr lang="en-US" sz="1848">
                <a:solidFill>
                  <a:srgbClr val="FFFFFF"/>
                </a:solidFill>
                <a:latin typeface="Poppins"/>
                <a:ea typeface="Poppins"/>
                <a:cs typeface="Poppins"/>
                <a:sym typeface="Poppins"/>
              </a:rPr>
              <a:t>$2,000/mo add-on</a:t>
            </a:r>
          </a:p>
          <a:p>
            <a:pPr algn="l">
              <a:lnSpc>
                <a:spcPts val="4048"/>
              </a:lnSpc>
            </a:pPr>
            <a:r>
              <a:rPr lang="en-US" sz="1848">
                <a:solidFill>
                  <a:srgbClr val="FFFFFF"/>
                </a:solidFill>
                <a:latin typeface="Poppins"/>
                <a:ea typeface="Poppins"/>
                <a:cs typeface="Poppins"/>
                <a:sym typeface="Poppins"/>
              </a:rPr>
              <a:t>$500 one time purchase</a:t>
            </a:r>
          </a:p>
        </p:txBody>
      </p:sp>
      <p:sp>
        <p:nvSpPr>
          <p:cNvPr name="TextBox 22" id="22"/>
          <p:cNvSpPr txBox="true"/>
          <p:nvPr/>
        </p:nvSpPr>
        <p:spPr>
          <a:xfrm rot="0">
            <a:off x="12336709" y="4427319"/>
            <a:ext cx="4322751" cy="352425"/>
          </a:xfrm>
          <a:prstGeom prst="rect">
            <a:avLst/>
          </a:prstGeom>
        </p:spPr>
        <p:txBody>
          <a:bodyPr anchor="t" rtlCol="false" tIns="0" lIns="0" bIns="0" rIns="0">
            <a:spAutoFit/>
          </a:bodyPr>
          <a:lstStyle/>
          <a:p>
            <a:pPr algn="l">
              <a:lnSpc>
                <a:spcPts val="2698"/>
              </a:lnSpc>
              <a:spcBef>
                <a:spcPct val="0"/>
              </a:spcBef>
            </a:pPr>
            <a:r>
              <a:rPr lang="en-US" sz="2248" b="true">
                <a:solidFill>
                  <a:srgbClr val="FFFFFF"/>
                </a:solidFill>
                <a:latin typeface="Poppins Bold"/>
                <a:ea typeface="Poppins Bold"/>
                <a:cs typeface="Poppins Bold"/>
                <a:sym typeface="Poppins Bold"/>
              </a:rPr>
              <a:t>Pricing</a:t>
            </a:r>
          </a:p>
        </p:txBody>
      </p:sp>
      <p:sp>
        <p:nvSpPr>
          <p:cNvPr name="TextBox 23" id="23"/>
          <p:cNvSpPr txBox="true"/>
          <p:nvPr/>
        </p:nvSpPr>
        <p:spPr>
          <a:xfrm rot="0">
            <a:off x="12336709" y="4922619"/>
            <a:ext cx="6087341" cy="2987024"/>
          </a:xfrm>
          <a:prstGeom prst="rect">
            <a:avLst/>
          </a:prstGeom>
        </p:spPr>
        <p:txBody>
          <a:bodyPr anchor="t" rtlCol="false" tIns="0" lIns="0" bIns="0" rIns="0">
            <a:spAutoFit/>
          </a:bodyPr>
          <a:lstStyle/>
          <a:p>
            <a:pPr algn="l">
              <a:lnSpc>
                <a:spcPts val="4048"/>
              </a:lnSpc>
            </a:pPr>
            <a:r>
              <a:rPr lang="en-US" sz="1848">
                <a:solidFill>
                  <a:srgbClr val="FFFFFF"/>
                </a:solidFill>
                <a:latin typeface="Poppins"/>
                <a:ea typeface="Poppins"/>
                <a:cs typeface="Poppins"/>
                <a:sym typeface="Poppins"/>
              </a:rPr>
              <a:t>$100/mo until $500/mo then 20%</a:t>
            </a:r>
          </a:p>
          <a:p>
            <a:pPr algn="l">
              <a:lnSpc>
                <a:spcPts val="4048"/>
              </a:lnSpc>
            </a:pPr>
            <a:r>
              <a:rPr lang="en-US" sz="1848">
                <a:solidFill>
                  <a:srgbClr val="FFFFFF"/>
                </a:solidFill>
                <a:latin typeface="Poppins"/>
                <a:ea typeface="Poppins"/>
                <a:cs typeface="Poppins"/>
                <a:sym typeface="Poppins"/>
              </a:rPr>
              <a:t>20%/mo</a:t>
            </a:r>
          </a:p>
          <a:p>
            <a:pPr algn="l">
              <a:lnSpc>
                <a:spcPts val="4048"/>
              </a:lnSpc>
            </a:pPr>
            <a:r>
              <a:rPr lang="en-US" sz="1848">
                <a:solidFill>
                  <a:srgbClr val="FFFFFF"/>
                </a:solidFill>
                <a:latin typeface="Poppins"/>
                <a:ea typeface="Poppins"/>
                <a:cs typeface="Poppins"/>
                <a:sym typeface="Poppins"/>
              </a:rPr>
              <a:t>20%/mo</a:t>
            </a:r>
          </a:p>
          <a:p>
            <a:pPr algn="l">
              <a:lnSpc>
                <a:spcPts val="4048"/>
              </a:lnSpc>
            </a:pPr>
            <a:r>
              <a:rPr lang="en-US" sz="1848">
                <a:solidFill>
                  <a:srgbClr val="FFFFFF"/>
                </a:solidFill>
                <a:latin typeface="Poppins"/>
                <a:ea typeface="Poppins"/>
                <a:cs typeface="Poppins"/>
                <a:sym typeface="Poppins"/>
              </a:rPr>
              <a:t>$25 one time</a:t>
            </a:r>
          </a:p>
          <a:p>
            <a:pPr algn="l">
              <a:lnSpc>
                <a:spcPts val="4048"/>
              </a:lnSpc>
            </a:pPr>
            <a:r>
              <a:rPr lang="en-US" sz="1848">
                <a:solidFill>
                  <a:srgbClr val="FFFFFF"/>
                </a:solidFill>
                <a:latin typeface="Poppins"/>
                <a:ea typeface="Poppins"/>
                <a:cs typeface="Poppins"/>
                <a:sym typeface="Poppins"/>
              </a:rPr>
              <a:t>5%/mo</a:t>
            </a:r>
          </a:p>
          <a:p>
            <a:pPr algn="l">
              <a:lnSpc>
                <a:spcPts val="4048"/>
              </a:lnSpc>
            </a:pPr>
            <a:r>
              <a:rPr lang="en-US" sz="1848">
                <a:solidFill>
                  <a:srgbClr val="FFFFFF"/>
                </a:solidFill>
                <a:latin typeface="Poppins"/>
                <a:ea typeface="Poppins"/>
                <a:cs typeface="Poppins"/>
                <a:sym typeface="Poppins"/>
              </a:rPr>
              <a:t>$50 one time</a:t>
            </a:r>
          </a:p>
        </p:txBody>
      </p:sp>
      <p:sp>
        <p:nvSpPr>
          <p:cNvPr name="TextBox 24" id="24"/>
          <p:cNvSpPr txBox="true"/>
          <p:nvPr/>
        </p:nvSpPr>
        <p:spPr>
          <a:xfrm rot="0">
            <a:off x="1872904" y="8903970"/>
            <a:ext cx="15108623" cy="354330"/>
          </a:xfrm>
          <a:prstGeom prst="rect">
            <a:avLst/>
          </a:prstGeom>
        </p:spPr>
        <p:txBody>
          <a:bodyPr anchor="t" rtlCol="false" tIns="0" lIns="0" bIns="0" rIns="0">
            <a:spAutoFit/>
          </a:bodyPr>
          <a:lstStyle/>
          <a:p>
            <a:pPr algn="l" marL="0" indent="0" lvl="0">
              <a:lnSpc>
                <a:spcPts val="2730"/>
              </a:lnSpc>
              <a:spcBef>
                <a:spcPct val="0"/>
              </a:spcBef>
            </a:pPr>
            <a:r>
              <a:rPr lang="en-US" b="true" sz="2100" spc="35">
                <a:solidFill>
                  <a:srgbClr val="D9D9D9"/>
                </a:solidFill>
                <a:latin typeface="Poppins Bold"/>
                <a:ea typeface="Poppins Bold"/>
                <a:cs typeface="Poppins Bold"/>
                <a:sym typeface="Poppins Bold"/>
              </a:rPr>
              <a:t>A</a:t>
            </a:r>
            <a:r>
              <a:rPr lang="en-US" b="true" sz="2100" spc="35">
                <a:solidFill>
                  <a:srgbClr val="D9D9D9"/>
                </a:solidFill>
                <a:latin typeface="Poppins Bold"/>
                <a:ea typeface="Poppins Bold"/>
                <a:cs typeface="Poppins Bold"/>
                <a:sym typeface="Poppins Bold"/>
              </a:rPr>
              <a:t> comp</a:t>
            </a:r>
            <a:r>
              <a:rPr lang="en-US" b="true" sz="2100" spc="35">
                <a:solidFill>
                  <a:srgbClr val="D9D9D9"/>
                </a:solidFill>
                <a:latin typeface="Poppins Bold"/>
                <a:ea typeface="Poppins Bold"/>
                <a:cs typeface="Poppins Bold"/>
                <a:sym typeface="Poppins Bold"/>
              </a:rPr>
              <a:t>re</a:t>
            </a:r>
            <a:r>
              <a:rPr lang="en-US" b="true" sz="2100" spc="35">
                <a:solidFill>
                  <a:srgbClr val="D9D9D9"/>
                </a:solidFill>
                <a:latin typeface="Poppins Bold"/>
                <a:ea typeface="Poppins Bold"/>
                <a:cs typeface="Poppins Bold"/>
                <a:sym typeface="Poppins Bold"/>
              </a:rPr>
              <a:t>he</a:t>
            </a:r>
            <a:r>
              <a:rPr lang="en-US" b="true" sz="2100" spc="35">
                <a:solidFill>
                  <a:srgbClr val="D9D9D9"/>
                </a:solidFill>
                <a:latin typeface="Poppins Bold"/>
                <a:ea typeface="Poppins Bold"/>
                <a:cs typeface="Poppins Bold"/>
                <a:sym typeface="Poppins Bold"/>
              </a:rPr>
              <a:t>n</a:t>
            </a:r>
            <a:r>
              <a:rPr lang="en-US" b="true" sz="2100" spc="35">
                <a:solidFill>
                  <a:srgbClr val="D9D9D9"/>
                </a:solidFill>
                <a:latin typeface="Poppins Bold"/>
                <a:ea typeface="Poppins Bold"/>
                <a:cs typeface="Poppins Bold"/>
                <a:sym typeface="Poppins Bold"/>
              </a:rPr>
              <a:t>sive look at our service pricing.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a:ln w="85725" cap="sq">
            <a:solidFill>
              <a:srgbClr val="000000">
                <a:alpha val="43922"/>
              </a:srgbClr>
            </a:solidFill>
            <a:prstDash val="solid"/>
            <a:miter/>
          </a:ln>
        </p:spPr>
      </p:sp>
      <p:sp>
        <p:nvSpPr>
          <p:cNvPr name="Freeform 3" id="3"/>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3">
              <a:alphaModFix amt="21999"/>
            </a:blip>
            <a:stretch>
              <a:fillRect l="0" t="0" r="0" b="0"/>
            </a:stretch>
          </a:blipFill>
        </p:spPr>
      </p:sp>
      <p:grpSp>
        <p:nvGrpSpPr>
          <p:cNvPr name="Group 4" id="4"/>
          <p:cNvGrpSpPr/>
          <p:nvPr/>
        </p:nvGrpSpPr>
        <p:grpSpPr>
          <a:xfrm rot="0">
            <a:off x="1858551" y="6638799"/>
            <a:ext cx="14515294" cy="1263456"/>
            <a:chOff x="0" y="0"/>
            <a:chExt cx="4829549" cy="420379"/>
          </a:xfrm>
        </p:grpSpPr>
        <p:sp>
          <p:nvSpPr>
            <p:cNvPr name="Freeform 5" id="5"/>
            <p:cNvSpPr/>
            <p:nvPr/>
          </p:nvSpPr>
          <p:spPr>
            <a:xfrm flipH="false" flipV="false" rot="0">
              <a:off x="0" y="0"/>
              <a:ext cx="4829549" cy="420379"/>
            </a:xfrm>
            <a:custGeom>
              <a:avLst/>
              <a:gdLst/>
              <a:ahLst/>
              <a:cxnLst/>
              <a:rect r="r" b="b" t="t" l="l"/>
              <a:pathLst>
                <a:path h="420379" w="4829549">
                  <a:moveTo>
                    <a:pt x="53336" y="0"/>
                  </a:moveTo>
                  <a:lnTo>
                    <a:pt x="4776212" y="0"/>
                  </a:lnTo>
                  <a:cubicBezTo>
                    <a:pt x="4790358" y="0"/>
                    <a:pt x="4803924" y="5619"/>
                    <a:pt x="4813927" y="15622"/>
                  </a:cubicBezTo>
                  <a:cubicBezTo>
                    <a:pt x="4823929" y="25624"/>
                    <a:pt x="4829549" y="39191"/>
                    <a:pt x="4829549" y="53336"/>
                  </a:cubicBezTo>
                  <a:lnTo>
                    <a:pt x="4829549" y="367042"/>
                  </a:lnTo>
                  <a:cubicBezTo>
                    <a:pt x="4829549" y="381188"/>
                    <a:pt x="4823929" y="394754"/>
                    <a:pt x="4813927" y="404757"/>
                  </a:cubicBezTo>
                  <a:cubicBezTo>
                    <a:pt x="4803924" y="414759"/>
                    <a:pt x="4790358" y="420379"/>
                    <a:pt x="4776212" y="420379"/>
                  </a:cubicBezTo>
                  <a:lnTo>
                    <a:pt x="53336" y="420379"/>
                  </a:lnTo>
                  <a:cubicBezTo>
                    <a:pt x="39191" y="420379"/>
                    <a:pt x="25624" y="414759"/>
                    <a:pt x="15622" y="404757"/>
                  </a:cubicBezTo>
                  <a:cubicBezTo>
                    <a:pt x="5619" y="394754"/>
                    <a:pt x="0" y="381188"/>
                    <a:pt x="0" y="367042"/>
                  </a:cubicBezTo>
                  <a:lnTo>
                    <a:pt x="0" y="53336"/>
                  </a:lnTo>
                  <a:cubicBezTo>
                    <a:pt x="0" y="39191"/>
                    <a:pt x="5619" y="25624"/>
                    <a:pt x="15622" y="15622"/>
                  </a:cubicBezTo>
                  <a:cubicBezTo>
                    <a:pt x="25624" y="5619"/>
                    <a:pt x="39191" y="0"/>
                    <a:pt x="53336" y="0"/>
                  </a:cubicBezTo>
                  <a:close/>
                </a:path>
              </a:pathLst>
            </a:custGeom>
            <a:solidFill>
              <a:srgbClr val="398085">
                <a:alpha val="40784"/>
              </a:srgbClr>
            </a:solidFill>
          </p:spPr>
        </p:sp>
        <p:sp>
          <p:nvSpPr>
            <p:cNvPr name="TextBox 6" id="6"/>
            <p:cNvSpPr txBox="true"/>
            <p:nvPr/>
          </p:nvSpPr>
          <p:spPr>
            <a:xfrm>
              <a:off x="0" y="-19050"/>
              <a:ext cx="4829549" cy="439429"/>
            </a:xfrm>
            <a:prstGeom prst="rect">
              <a:avLst/>
            </a:prstGeom>
          </p:spPr>
          <p:txBody>
            <a:bodyPr anchor="ctr" rtlCol="false" tIns="50800" lIns="50800" bIns="50800" rIns="50800"/>
            <a:lstStyle/>
            <a:p>
              <a:pPr algn="ctr">
                <a:lnSpc>
                  <a:spcPts val="2640"/>
                </a:lnSpc>
              </a:pPr>
            </a:p>
          </p:txBody>
        </p:sp>
      </p:grpSp>
      <p:sp>
        <p:nvSpPr>
          <p:cNvPr name="Freeform 7" id="7"/>
          <p:cNvSpPr/>
          <p:nvPr/>
        </p:nvSpPr>
        <p:spPr>
          <a:xfrm flipH="false" flipV="false" rot="0">
            <a:off x="7810253" y="5975146"/>
            <a:ext cx="2959264" cy="2955565"/>
          </a:xfrm>
          <a:custGeom>
            <a:avLst/>
            <a:gdLst/>
            <a:ahLst/>
            <a:cxnLst/>
            <a:rect r="r" b="b" t="t" l="l"/>
            <a:pathLst>
              <a:path h="2955565" w="2959264">
                <a:moveTo>
                  <a:pt x="0" y="0"/>
                </a:moveTo>
                <a:lnTo>
                  <a:pt x="2959263" y="0"/>
                </a:lnTo>
                <a:lnTo>
                  <a:pt x="2959263" y="2955565"/>
                </a:lnTo>
                <a:lnTo>
                  <a:pt x="0" y="2955565"/>
                </a:lnTo>
                <a:lnTo>
                  <a:pt x="0" y="0"/>
                </a:lnTo>
                <a:close/>
              </a:path>
            </a:pathLst>
          </a:custGeom>
          <a:blipFill>
            <a:blip r:embed="rId4">
              <a:alphaModFix amt="51000"/>
            </a:blip>
            <a:stretch>
              <a:fillRect l="0" t="0" r="0" b="0"/>
            </a:stretch>
          </a:blipFill>
        </p:spPr>
      </p:sp>
      <p:sp>
        <p:nvSpPr>
          <p:cNvPr name="Freeform 8" id="8"/>
          <p:cNvSpPr/>
          <p:nvPr/>
        </p:nvSpPr>
        <p:spPr>
          <a:xfrm flipH="false" flipV="false" rot="0">
            <a:off x="11054066" y="5821297"/>
            <a:ext cx="2959264" cy="2955565"/>
          </a:xfrm>
          <a:custGeom>
            <a:avLst/>
            <a:gdLst/>
            <a:ahLst/>
            <a:cxnLst/>
            <a:rect r="r" b="b" t="t" l="l"/>
            <a:pathLst>
              <a:path h="2955565" w="2959264">
                <a:moveTo>
                  <a:pt x="0" y="0"/>
                </a:moveTo>
                <a:lnTo>
                  <a:pt x="2959264" y="0"/>
                </a:lnTo>
                <a:lnTo>
                  <a:pt x="2959264" y="2955565"/>
                </a:lnTo>
                <a:lnTo>
                  <a:pt x="0" y="2955565"/>
                </a:lnTo>
                <a:lnTo>
                  <a:pt x="0" y="0"/>
                </a:lnTo>
                <a:close/>
              </a:path>
            </a:pathLst>
          </a:custGeom>
          <a:blipFill>
            <a:blip r:embed="rId4">
              <a:alphaModFix amt="51000"/>
            </a:blip>
            <a:stretch>
              <a:fillRect l="0" t="0" r="0" b="0"/>
            </a:stretch>
          </a:blipFill>
        </p:spPr>
      </p:sp>
      <p:sp>
        <p:nvSpPr>
          <p:cNvPr name="Freeform 9" id="9"/>
          <p:cNvSpPr/>
          <p:nvPr/>
        </p:nvSpPr>
        <p:spPr>
          <a:xfrm flipH="false" flipV="false" rot="0">
            <a:off x="14288582" y="5691124"/>
            <a:ext cx="2959264" cy="2955565"/>
          </a:xfrm>
          <a:custGeom>
            <a:avLst/>
            <a:gdLst/>
            <a:ahLst/>
            <a:cxnLst/>
            <a:rect r="r" b="b" t="t" l="l"/>
            <a:pathLst>
              <a:path h="2955565" w="2959264">
                <a:moveTo>
                  <a:pt x="0" y="0"/>
                </a:moveTo>
                <a:lnTo>
                  <a:pt x="2959264" y="0"/>
                </a:lnTo>
                <a:lnTo>
                  <a:pt x="2959264" y="2955565"/>
                </a:lnTo>
                <a:lnTo>
                  <a:pt x="0" y="2955565"/>
                </a:lnTo>
                <a:lnTo>
                  <a:pt x="0" y="0"/>
                </a:lnTo>
                <a:close/>
              </a:path>
            </a:pathLst>
          </a:custGeom>
          <a:blipFill>
            <a:blip r:embed="rId4">
              <a:alphaModFix amt="51000"/>
            </a:blip>
            <a:stretch>
              <a:fillRect l="0" t="0" r="0" b="0"/>
            </a:stretch>
          </a:blipFill>
        </p:spPr>
      </p:sp>
      <p:grpSp>
        <p:nvGrpSpPr>
          <p:cNvPr name="Group 10" id="10"/>
          <p:cNvGrpSpPr/>
          <p:nvPr/>
        </p:nvGrpSpPr>
        <p:grpSpPr>
          <a:xfrm rot="0">
            <a:off x="8662806" y="6638799"/>
            <a:ext cx="1254157" cy="1254157"/>
            <a:chOff x="0" y="0"/>
            <a:chExt cx="588434" cy="588434"/>
          </a:xfrm>
        </p:grpSpPr>
        <p:sp>
          <p:nvSpPr>
            <p:cNvPr name="Freeform 11" id="11"/>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42A6A3"/>
              </a:solidFill>
              <a:prstDash val="solid"/>
              <a:round/>
            </a:ln>
          </p:spPr>
        </p:sp>
        <p:sp>
          <p:nvSpPr>
            <p:cNvPr name="TextBox 12" id="12"/>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13" id="13"/>
          <p:cNvGrpSpPr/>
          <p:nvPr/>
        </p:nvGrpSpPr>
        <p:grpSpPr>
          <a:xfrm rot="0">
            <a:off x="11929690" y="6638799"/>
            <a:ext cx="1254157" cy="1254157"/>
            <a:chOff x="0" y="0"/>
            <a:chExt cx="588434" cy="588434"/>
          </a:xfrm>
        </p:grpSpPr>
        <p:sp>
          <p:nvSpPr>
            <p:cNvPr name="Freeform 14" id="14"/>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42A6A3"/>
              </a:solidFill>
              <a:prstDash val="solid"/>
              <a:round/>
            </a:ln>
          </p:spPr>
        </p:sp>
        <p:sp>
          <p:nvSpPr>
            <p:cNvPr name="TextBox 15" id="15"/>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grpSp>
        <p:nvGrpSpPr>
          <p:cNvPr name="Group 16" id="16"/>
          <p:cNvGrpSpPr/>
          <p:nvPr/>
        </p:nvGrpSpPr>
        <p:grpSpPr>
          <a:xfrm rot="0">
            <a:off x="15143740" y="6638799"/>
            <a:ext cx="1254157" cy="1254157"/>
            <a:chOff x="0" y="0"/>
            <a:chExt cx="588434" cy="588434"/>
          </a:xfrm>
        </p:grpSpPr>
        <p:sp>
          <p:nvSpPr>
            <p:cNvPr name="Freeform 17" id="17"/>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42A6A3"/>
              </a:solidFill>
              <a:prstDash val="solid"/>
              <a:round/>
            </a:ln>
          </p:spPr>
        </p:sp>
        <p:sp>
          <p:nvSpPr>
            <p:cNvPr name="TextBox 18" id="18"/>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TextBox 19" id="19"/>
          <p:cNvSpPr txBox="true"/>
          <p:nvPr/>
        </p:nvSpPr>
        <p:spPr>
          <a:xfrm rot="0">
            <a:off x="2352068" y="6887367"/>
            <a:ext cx="2694122" cy="747269"/>
          </a:xfrm>
          <a:prstGeom prst="rect">
            <a:avLst/>
          </a:prstGeom>
        </p:spPr>
        <p:txBody>
          <a:bodyPr anchor="t" rtlCol="false" tIns="0" lIns="0" bIns="0" rIns="0">
            <a:spAutoFit/>
          </a:bodyPr>
          <a:lstStyle/>
          <a:p>
            <a:pPr algn="ctr">
              <a:lnSpc>
                <a:spcPts val="2897"/>
              </a:lnSpc>
              <a:spcBef>
                <a:spcPct val="0"/>
              </a:spcBef>
            </a:pPr>
            <a:r>
              <a:rPr lang="en-US" b="true" sz="2414">
                <a:solidFill>
                  <a:srgbClr val="FFFFFF"/>
                </a:solidFill>
                <a:latin typeface="Poppins Bold"/>
                <a:ea typeface="Poppins Bold"/>
                <a:cs typeface="Poppins Bold"/>
                <a:sym typeface="Poppins Bold"/>
              </a:rPr>
              <a:t>NEW INTENT DATA AUDIENCE</a:t>
            </a:r>
          </a:p>
        </p:txBody>
      </p:sp>
      <p:sp>
        <p:nvSpPr>
          <p:cNvPr name="Freeform 20" id="20"/>
          <p:cNvSpPr/>
          <p:nvPr/>
        </p:nvSpPr>
        <p:spPr>
          <a:xfrm flipH="false" flipV="false" rot="0">
            <a:off x="9976070" y="6788745"/>
            <a:ext cx="1894514" cy="1020670"/>
          </a:xfrm>
          <a:custGeom>
            <a:avLst/>
            <a:gdLst/>
            <a:ahLst/>
            <a:cxnLst/>
            <a:rect r="r" b="b" t="t" l="l"/>
            <a:pathLst>
              <a:path h="1020670" w="1894514">
                <a:moveTo>
                  <a:pt x="0" y="0"/>
                </a:moveTo>
                <a:lnTo>
                  <a:pt x="1894514" y="0"/>
                </a:lnTo>
                <a:lnTo>
                  <a:pt x="1894514" y="1020670"/>
                </a:lnTo>
                <a:lnTo>
                  <a:pt x="0" y="1020670"/>
                </a:lnTo>
                <a:lnTo>
                  <a:pt x="0" y="0"/>
                </a:lnTo>
                <a:close/>
              </a:path>
            </a:pathLst>
          </a:custGeom>
          <a:blipFill>
            <a:blip r:embed="rId5"/>
            <a:stretch>
              <a:fillRect l="0" t="0" r="0" b="0"/>
            </a:stretch>
          </a:blipFill>
        </p:spPr>
      </p:sp>
      <p:sp>
        <p:nvSpPr>
          <p:cNvPr name="Freeform 21" id="21"/>
          <p:cNvSpPr/>
          <p:nvPr/>
        </p:nvSpPr>
        <p:spPr>
          <a:xfrm flipH="false" flipV="false" rot="0">
            <a:off x="13183450" y="6788745"/>
            <a:ext cx="1894514" cy="1020670"/>
          </a:xfrm>
          <a:custGeom>
            <a:avLst/>
            <a:gdLst/>
            <a:ahLst/>
            <a:cxnLst/>
            <a:rect r="r" b="b" t="t" l="l"/>
            <a:pathLst>
              <a:path h="1020670" w="1894514">
                <a:moveTo>
                  <a:pt x="0" y="0"/>
                </a:moveTo>
                <a:lnTo>
                  <a:pt x="1894514" y="0"/>
                </a:lnTo>
                <a:lnTo>
                  <a:pt x="1894514" y="1020670"/>
                </a:lnTo>
                <a:lnTo>
                  <a:pt x="0" y="1020670"/>
                </a:lnTo>
                <a:lnTo>
                  <a:pt x="0" y="0"/>
                </a:lnTo>
                <a:close/>
              </a:path>
            </a:pathLst>
          </a:custGeom>
          <a:blipFill>
            <a:blip r:embed="rId5"/>
            <a:stretch>
              <a:fillRect l="0" t="0" r="0" b="0"/>
            </a:stretch>
          </a:blipFill>
        </p:spPr>
      </p:sp>
      <p:sp>
        <p:nvSpPr>
          <p:cNvPr name="Freeform 22" id="22"/>
          <p:cNvSpPr/>
          <p:nvPr/>
        </p:nvSpPr>
        <p:spPr>
          <a:xfrm flipH="false" flipV="false" rot="0">
            <a:off x="4650837" y="5788095"/>
            <a:ext cx="2959264" cy="2955565"/>
          </a:xfrm>
          <a:custGeom>
            <a:avLst/>
            <a:gdLst/>
            <a:ahLst/>
            <a:cxnLst/>
            <a:rect r="r" b="b" t="t" l="l"/>
            <a:pathLst>
              <a:path h="2955565" w="2959264">
                <a:moveTo>
                  <a:pt x="0" y="0"/>
                </a:moveTo>
                <a:lnTo>
                  <a:pt x="2959264" y="0"/>
                </a:lnTo>
                <a:lnTo>
                  <a:pt x="2959264" y="2955565"/>
                </a:lnTo>
                <a:lnTo>
                  <a:pt x="0" y="2955565"/>
                </a:lnTo>
                <a:lnTo>
                  <a:pt x="0" y="0"/>
                </a:lnTo>
                <a:close/>
              </a:path>
            </a:pathLst>
          </a:custGeom>
          <a:blipFill>
            <a:blip r:embed="rId4">
              <a:alphaModFix amt="51000"/>
            </a:blip>
            <a:stretch>
              <a:fillRect l="0" t="0" r="0" b="0"/>
            </a:stretch>
          </a:blipFill>
        </p:spPr>
      </p:sp>
      <p:grpSp>
        <p:nvGrpSpPr>
          <p:cNvPr name="Group 23" id="23"/>
          <p:cNvGrpSpPr/>
          <p:nvPr/>
        </p:nvGrpSpPr>
        <p:grpSpPr>
          <a:xfrm rot="0">
            <a:off x="5503390" y="6638799"/>
            <a:ext cx="1254157" cy="1254157"/>
            <a:chOff x="0" y="0"/>
            <a:chExt cx="588434" cy="588434"/>
          </a:xfrm>
        </p:grpSpPr>
        <p:sp>
          <p:nvSpPr>
            <p:cNvPr name="Freeform 24" id="24"/>
            <p:cNvSpPr/>
            <p:nvPr/>
          </p:nvSpPr>
          <p:spPr>
            <a:xfrm flipH="false" flipV="false" rot="0">
              <a:off x="0" y="0"/>
              <a:ext cx="588434" cy="588434"/>
            </a:xfrm>
            <a:custGeom>
              <a:avLst/>
              <a:gdLst/>
              <a:ahLst/>
              <a:cxnLst/>
              <a:rect r="r" b="b" t="t" l="l"/>
              <a:pathLst>
                <a:path h="588434" w="588434">
                  <a:moveTo>
                    <a:pt x="294217" y="0"/>
                  </a:moveTo>
                  <a:lnTo>
                    <a:pt x="294217" y="0"/>
                  </a:lnTo>
                  <a:cubicBezTo>
                    <a:pt x="456709" y="0"/>
                    <a:pt x="588434" y="131725"/>
                    <a:pt x="588434" y="294217"/>
                  </a:cubicBezTo>
                  <a:lnTo>
                    <a:pt x="588434" y="294217"/>
                  </a:lnTo>
                  <a:cubicBezTo>
                    <a:pt x="588434" y="372248"/>
                    <a:pt x="557436" y="447084"/>
                    <a:pt x="502260" y="502260"/>
                  </a:cubicBezTo>
                  <a:cubicBezTo>
                    <a:pt x="447084" y="557436"/>
                    <a:pt x="372248" y="588434"/>
                    <a:pt x="294217" y="588434"/>
                  </a:cubicBezTo>
                  <a:lnTo>
                    <a:pt x="294217" y="588434"/>
                  </a:lnTo>
                  <a:cubicBezTo>
                    <a:pt x="216186" y="588434"/>
                    <a:pt x="141351" y="557436"/>
                    <a:pt x="86174" y="502260"/>
                  </a:cubicBezTo>
                  <a:cubicBezTo>
                    <a:pt x="30998" y="447084"/>
                    <a:pt x="0" y="372248"/>
                    <a:pt x="0" y="294217"/>
                  </a:cubicBezTo>
                  <a:lnTo>
                    <a:pt x="0" y="294217"/>
                  </a:lnTo>
                  <a:cubicBezTo>
                    <a:pt x="0" y="216186"/>
                    <a:pt x="30998" y="141351"/>
                    <a:pt x="86174" y="86174"/>
                  </a:cubicBezTo>
                  <a:cubicBezTo>
                    <a:pt x="141351" y="30998"/>
                    <a:pt x="216186" y="0"/>
                    <a:pt x="294217" y="0"/>
                  </a:cubicBezTo>
                  <a:close/>
                </a:path>
              </a:pathLst>
            </a:custGeom>
            <a:solidFill>
              <a:srgbClr val="FFFFFF"/>
            </a:solidFill>
            <a:ln w="85725" cap="rnd">
              <a:solidFill>
                <a:srgbClr val="A0EEEB"/>
              </a:solidFill>
              <a:prstDash val="solid"/>
              <a:round/>
            </a:ln>
          </p:spPr>
        </p:sp>
        <p:sp>
          <p:nvSpPr>
            <p:cNvPr name="TextBox 25" id="25"/>
            <p:cNvSpPr txBox="true"/>
            <p:nvPr/>
          </p:nvSpPr>
          <p:spPr>
            <a:xfrm>
              <a:off x="0" y="-19050"/>
              <a:ext cx="588434" cy="607484"/>
            </a:xfrm>
            <a:prstGeom prst="rect">
              <a:avLst/>
            </a:prstGeom>
          </p:spPr>
          <p:txBody>
            <a:bodyPr anchor="ctr" rtlCol="false" tIns="50800" lIns="50800" bIns="50800" rIns="50800"/>
            <a:lstStyle/>
            <a:p>
              <a:pPr algn="ctr">
                <a:lnSpc>
                  <a:spcPts val="2640"/>
                </a:lnSpc>
              </a:pPr>
            </a:p>
          </p:txBody>
        </p:sp>
      </p:grpSp>
      <p:sp>
        <p:nvSpPr>
          <p:cNvPr name="Freeform 26" id="26"/>
          <p:cNvSpPr/>
          <p:nvPr/>
        </p:nvSpPr>
        <p:spPr>
          <a:xfrm flipH="false" flipV="false" rot="0">
            <a:off x="6783458" y="6760192"/>
            <a:ext cx="1894514" cy="1020670"/>
          </a:xfrm>
          <a:custGeom>
            <a:avLst/>
            <a:gdLst/>
            <a:ahLst/>
            <a:cxnLst/>
            <a:rect r="r" b="b" t="t" l="l"/>
            <a:pathLst>
              <a:path h="1020670" w="1894514">
                <a:moveTo>
                  <a:pt x="0" y="0"/>
                </a:moveTo>
                <a:lnTo>
                  <a:pt x="1894515" y="0"/>
                </a:lnTo>
                <a:lnTo>
                  <a:pt x="1894515" y="1020670"/>
                </a:lnTo>
                <a:lnTo>
                  <a:pt x="0" y="1020670"/>
                </a:lnTo>
                <a:lnTo>
                  <a:pt x="0" y="0"/>
                </a:lnTo>
                <a:close/>
              </a:path>
            </a:pathLst>
          </a:custGeom>
          <a:blipFill>
            <a:blip r:embed="rId5"/>
            <a:stretch>
              <a:fillRect l="0" t="0" r="0" b="0"/>
            </a:stretch>
          </a:blipFill>
        </p:spPr>
      </p:sp>
      <p:sp>
        <p:nvSpPr>
          <p:cNvPr name="Freeform 27" id="27"/>
          <p:cNvSpPr/>
          <p:nvPr/>
        </p:nvSpPr>
        <p:spPr>
          <a:xfrm flipH="false" flipV="false" rot="0">
            <a:off x="5830969" y="6971027"/>
            <a:ext cx="598999" cy="598999"/>
          </a:xfrm>
          <a:custGeom>
            <a:avLst/>
            <a:gdLst/>
            <a:ahLst/>
            <a:cxnLst/>
            <a:rect r="r" b="b" t="t" l="l"/>
            <a:pathLst>
              <a:path h="598999" w="598999">
                <a:moveTo>
                  <a:pt x="0" y="0"/>
                </a:moveTo>
                <a:lnTo>
                  <a:pt x="598999" y="0"/>
                </a:lnTo>
                <a:lnTo>
                  <a:pt x="598999" y="598999"/>
                </a:lnTo>
                <a:lnTo>
                  <a:pt x="0" y="5989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8931303" y="7009655"/>
            <a:ext cx="717163" cy="512446"/>
          </a:xfrm>
          <a:custGeom>
            <a:avLst/>
            <a:gdLst/>
            <a:ahLst/>
            <a:cxnLst/>
            <a:rect r="r" b="b" t="t" l="l"/>
            <a:pathLst>
              <a:path h="512446" w="717163">
                <a:moveTo>
                  <a:pt x="0" y="0"/>
                </a:moveTo>
                <a:lnTo>
                  <a:pt x="717163" y="0"/>
                </a:lnTo>
                <a:lnTo>
                  <a:pt x="717163" y="512446"/>
                </a:lnTo>
                <a:lnTo>
                  <a:pt x="0" y="5124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12357236" y="6896892"/>
            <a:ext cx="399066" cy="689035"/>
          </a:xfrm>
          <a:custGeom>
            <a:avLst/>
            <a:gdLst/>
            <a:ahLst/>
            <a:cxnLst/>
            <a:rect r="r" b="b" t="t" l="l"/>
            <a:pathLst>
              <a:path h="689035" w="399066">
                <a:moveTo>
                  <a:pt x="0" y="0"/>
                </a:moveTo>
                <a:lnTo>
                  <a:pt x="399066" y="0"/>
                </a:lnTo>
                <a:lnTo>
                  <a:pt x="399066" y="689035"/>
                </a:lnTo>
                <a:lnTo>
                  <a:pt x="0" y="6890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15699517" y="6887367"/>
            <a:ext cx="411713" cy="411713"/>
          </a:xfrm>
          <a:custGeom>
            <a:avLst/>
            <a:gdLst/>
            <a:ahLst/>
            <a:cxnLst/>
            <a:rect r="r" b="b" t="t" l="l"/>
            <a:pathLst>
              <a:path h="411713" w="411713">
                <a:moveTo>
                  <a:pt x="0" y="0"/>
                </a:moveTo>
                <a:lnTo>
                  <a:pt x="411713" y="0"/>
                </a:lnTo>
                <a:lnTo>
                  <a:pt x="411713" y="411713"/>
                </a:lnTo>
                <a:lnTo>
                  <a:pt x="0" y="411713"/>
                </a:lnTo>
                <a:lnTo>
                  <a:pt x="0" y="0"/>
                </a:lnTo>
                <a:close/>
              </a:path>
            </a:pathLst>
          </a:custGeom>
          <a:blipFill>
            <a:blip r:embed="rId12"/>
            <a:stretch>
              <a:fillRect l="0" t="0" r="0" b="0"/>
            </a:stretch>
          </a:blipFill>
        </p:spPr>
      </p:sp>
      <p:sp>
        <p:nvSpPr>
          <p:cNvPr name="Freeform 31" id="31"/>
          <p:cNvSpPr/>
          <p:nvPr/>
        </p:nvSpPr>
        <p:spPr>
          <a:xfrm flipH="false" flipV="false" rot="0">
            <a:off x="15373239" y="7009655"/>
            <a:ext cx="454072" cy="454072"/>
          </a:xfrm>
          <a:custGeom>
            <a:avLst/>
            <a:gdLst/>
            <a:ahLst/>
            <a:cxnLst/>
            <a:rect r="r" b="b" t="t" l="l"/>
            <a:pathLst>
              <a:path h="454072" w="454072">
                <a:moveTo>
                  <a:pt x="0" y="0"/>
                </a:moveTo>
                <a:lnTo>
                  <a:pt x="454072" y="0"/>
                </a:lnTo>
                <a:lnTo>
                  <a:pt x="454072" y="454072"/>
                </a:lnTo>
                <a:lnTo>
                  <a:pt x="0" y="4540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2" id="32"/>
          <p:cNvSpPr/>
          <p:nvPr/>
        </p:nvSpPr>
        <p:spPr>
          <a:xfrm flipH="false" flipV="false" rot="0">
            <a:off x="15719300" y="7241409"/>
            <a:ext cx="357934" cy="365239"/>
          </a:xfrm>
          <a:custGeom>
            <a:avLst/>
            <a:gdLst/>
            <a:ahLst/>
            <a:cxnLst/>
            <a:rect r="r" b="b" t="t" l="l"/>
            <a:pathLst>
              <a:path h="365239" w="357934">
                <a:moveTo>
                  <a:pt x="0" y="0"/>
                </a:moveTo>
                <a:lnTo>
                  <a:pt x="357934" y="0"/>
                </a:lnTo>
                <a:lnTo>
                  <a:pt x="357934" y="365239"/>
                </a:lnTo>
                <a:lnTo>
                  <a:pt x="0" y="36523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3" id="33"/>
          <p:cNvSpPr txBox="true"/>
          <p:nvPr/>
        </p:nvSpPr>
        <p:spPr>
          <a:xfrm rot="0">
            <a:off x="8060217" y="8069166"/>
            <a:ext cx="2459336" cy="539742"/>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Match successful leads</a:t>
            </a:r>
          </a:p>
        </p:txBody>
      </p:sp>
      <p:sp>
        <p:nvSpPr>
          <p:cNvPr name="TextBox 34" id="34"/>
          <p:cNvSpPr txBox="true"/>
          <p:nvPr/>
        </p:nvSpPr>
        <p:spPr>
          <a:xfrm rot="0">
            <a:off x="1858551" y="1428750"/>
            <a:ext cx="9003139" cy="1539273"/>
          </a:xfrm>
          <a:prstGeom prst="rect">
            <a:avLst/>
          </a:prstGeom>
        </p:spPr>
        <p:txBody>
          <a:bodyPr anchor="t" rtlCol="false" tIns="0" lIns="0" bIns="0" rIns="0">
            <a:spAutoFit/>
          </a:bodyPr>
          <a:lstStyle/>
          <a:p>
            <a:pPr algn="l">
              <a:lnSpc>
                <a:spcPts val="5883"/>
              </a:lnSpc>
            </a:pPr>
            <a:r>
              <a:rPr lang="en-US" sz="5253" b="true">
                <a:solidFill>
                  <a:srgbClr val="F6F6F6"/>
                </a:solidFill>
                <a:latin typeface="Poppins Semi-Bold"/>
                <a:ea typeface="Poppins Semi-Bold"/>
                <a:cs typeface="Poppins Semi-Bold"/>
                <a:sym typeface="Poppins Semi-Bold"/>
              </a:rPr>
              <a:t>All-in-On</a:t>
            </a:r>
            <a:r>
              <a:rPr lang="en-US" sz="5253" b="true">
                <a:solidFill>
                  <a:srgbClr val="F6F6F6"/>
                </a:solidFill>
                <a:latin typeface="Poppins Semi-Bold"/>
                <a:ea typeface="Poppins Semi-Bold"/>
                <a:cs typeface="Poppins Semi-Bold"/>
                <a:sym typeface="Poppins Semi-Bold"/>
              </a:rPr>
              <a:t>e Market Coverage</a:t>
            </a:r>
          </a:p>
        </p:txBody>
      </p:sp>
      <p:sp>
        <p:nvSpPr>
          <p:cNvPr name="TextBox 35" id="35"/>
          <p:cNvSpPr txBox="true"/>
          <p:nvPr/>
        </p:nvSpPr>
        <p:spPr>
          <a:xfrm rot="0">
            <a:off x="11465714" y="8069166"/>
            <a:ext cx="2182110" cy="539742"/>
          </a:xfrm>
          <a:prstGeom prst="rect">
            <a:avLst/>
          </a:prstGeom>
        </p:spPr>
        <p:txBody>
          <a:bodyPr anchor="t" rtlCol="false" tIns="0" lIns="0" bIns="0" rIns="0">
            <a:spAutoFit/>
          </a:bodyPr>
          <a:lstStyle/>
          <a:p>
            <a:pPr algn="ctr">
              <a:lnSpc>
                <a:spcPts val="2102"/>
              </a:lnSpc>
              <a:spcBef>
                <a:spcPct val="0"/>
              </a:spcBef>
            </a:pPr>
            <a:r>
              <a:rPr lang="en-US" b="true" sz="1752">
                <a:solidFill>
                  <a:srgbClr val="FFFFFF"/>
                </a:solidFill>
                <a:latin typeface="Poppins Bold"/>
                <a:ea typeface="Poppins Bold"/>
                <a:cs typeface="Poppins Bold"/>
                <a:sym typeface="Poppins Bold"/>
              </a:rPr>
              <a:t>Optimized Audience</a:t>
            </a:r>
          </a:p>
        </p:txBody>
      </p:sp>
      <p:sp>
        <p:nvSpPr>
          <p:cNvPr name="TextBox 36" id="36"/>
          <p:cNvSpPr txBox="true"/>
          <p:nvPr/>
        </p:nvSpPr>
        <p:spPr>
          <a:xfrm rot="0">
            <a:off x="14032626" y="8040591"/>
            <a:ext cx="3564898" cy="611093"/>
          </a:xfrm>
          <a:prstGeom prst="rect">
            <a:avLst/>
          </a:prstGeom>
        </p:spPr>
        <p:txBody>
          <a:bodyPr anchor="t" rtlCol="false" tIns="0" lIns="0" bIns="0" rIns="0">
            <a:spAutoFit/>
          </a:bodyPr>
          <a:lstStyle/>
          <a:p>
            <a:pPr algn="ctr">
              <a:lnSpc>
                <a:spcPts val="2417"/>
              </a:lnSpc>
            </a:pPr>
            <a:r>
              <a:rPr lang="en-US" sz="1752" b="true">
                <a:solidFill>
                  <a:srgbClr val="79CECB"/>
                </a:solidFill>
                <a:latin typeface="Poppins Bold"/>
                <a:ea typeface="Poppins Bold"/>
                <a:cs typeface="Poppins Bold"/>
                <a:sym typeface="Poppins Bold"/>
              </a:rPr>
              <a:t>Omni-Channel</a:t>
            </a:r>
          </a:p>
          <a:p>
            <a:pPr algn="ctr">
              <a:lnSpc>
                <a:spcPts val="2417"/>
              </a:lnSpc>
            </a:pPr>
            <a:r>
              <a:rPr lang="en-US" sz="1752" b="true">
                <a:solidFill>
                  <a:srgbClr val="79CECB"/>
                </a:solidFill>
                <a:latin typeface="Poppins Bold"/>
                <a:ea typeface="Poppins Bold"/>
                <a:cs typeface="Poppins Bold"/>
                <a:sym typeface="Poppins Bold"/>
              </a:rPr>
              <a:t>Outreach</a:t>
            </a:r>
          </a:p>
        </p:txBody>
      </p:sp>
      <p:sp>
        <p:nvSpPr>
          <p:cNvPr name="TextBox 37" id="37"/>
          <p:cNvSpPr txBox="true"/>
          <p:nvPr/>
        </p:nvSpPr>
        <p:spPr>
          <a:xfrm rot="0">
            <a:off x="4892836" y="8069166"/>
            <a:ext cx="2475265" cy="539742"/>
          </a:xfrm>
          <a:prstGeom prst="rect">
            <a:avLst/>
          </a:prstGeom>
        </p:spPr>
        <p:txBody>
          <a:bodyPr anchor="t" rtlCol="false" tIns="0" lIns="0" bIns="0" rIns="0">
            <a:spAutoFit/>
          </a:bodyPr>
          <a:lstStyle/>
          <a:p>
            <a:pPr algn="ctr">
              <a:lnSpc>
                <a:spcPts val="2102"/>
              </a:lnSpc>
            </a:pPr>
            <a:r>
              <a:rPr lang="en-US" sz="1752" b="true">
                <a:solidFill>
                  <a:srgbClr val="FFFFFF"/>
                </a:solidFill>
                <a:latin typeface="Poppins Bold"/>
                <a:ea typeface="Poppins Bold"/>
                <a:cs typeface="Poppins Bold"/>
                <a:sym typeface="Poppins Bold"/>
              </a:rPr>
              <a:t>Filter failed</a:t>
            </a:r>
          </a:p>
          <a:p>
            <a:pPr algn="ctr">
              <a:lnSpc>
                <a:spcPts val="2102"/>
              </a:lnSpc>
              <a:spcBef>
                <a:spcPct val="0"/>
              </a:spcBef>
            </a:pPr>
            <a:r>
              <a:rPr lang="en-US" b="true" sz="1752">
                <a:solidFill>
                  <a:srgbClr val="FFFFFF"/>
                </a:solidFill>
                <a:latin typeface="Poppins Bold"/>
                <a:ea typeface="Poppins Bold"/>
                <a:cs typeface="Poppins Bold"/>
                <a:sym typeface="Poppins Bold"/>
              </a:rPr>
              <a:t>leads</a:t>
            </a:r>
          </a:p>
        </p:txBody>
      </p:sp>
      <p:sp>
        <p:nvSpPr>
          <p:cNvPr name="TextBox 38" id="38"/>
          <p:cNvSpPr txBox="true"/>
          <p:nvPr/>
        </p:nvSpPr>
        <p:spPr>
          <a:xfrm rot="0">
            <a:off x="1858551" y="3243961"/>
            <a:ext cx="10098502" cy="2447163"/>
          </a:xfrm>
          <a:prstGeom prst="rect">
            <a:avLst/>
          </a:prstGeom>
        </p:spPr>
        <p:txBody>
          <a:bodyPr anchor="t" rtlCol="false" tIns="0" lIns="0" bIns="0" rIns="0">
            <a:spAutoFit/>
          </a:bodyPr>
          <a:lstStyle/>
          <a:p>
            <a:pPr algn="l" marL="453390" indent="-226695" lvl="1">
              <a:lnSpc>
                <a:spcPts val="3276"/>
              </a:lnSpc>
              <a:buFont typeface="Arial"/>
              <a:buChar char="•"/>
            </a:pPr>
            <a:r>
              <a:rPr lang="en-US" b="true" sz="2100" spc="35">
                <a:solidFill>
                  <a:srgbClr val="D9D9D9"/>
                </a:solidFill>
                <a:latin typeface="Poppins Medium"/>
                <a:ea typeface="Poppins Medium"/>
                <a:cs typeface="Poppins Medium"/>
                <a:sym typeface="Poppins Medium"/>
              </a:rPr>
              <a:t>Access 1,464 zip codes in South &amp; Central Florida</a:t>
            </a:r>
          </a:p>
          <a:p>
            <a:pPr algn="l" marL="453390" indent="-226695" lvl="1">
              <a:lnSpc>
                <a:spcPts val="3276"/>
              </a:lnSpc>
              <a:buFont typeface="Arial"/>
              <a:buChar char="•"/>
            </a:pPr>
            <a:r>
              <a:rPr lang="en-US" b="true" sz="2100" spc="35">
                <a:solidFill>
                  <a:srgbClr val="D9D9D9"/>
                </a:solidFill>
                <a:latin typeface="Poppins Medium"/>
                <a:ea typeface="Poppins Medium"/>
                <a:cs typeface="Poppins Medium"/>
                <a:sym typeface="Poppins Medium"/>
              </a:rPr>
              <a:t>Target 2 audiences (mid + high intent) with a mixed funnel dataset</a:t>
            </a:r>
          </a:p>
          <a:p>
            <a:pPr algn="l" marL="453390" indent="-226695" lvl="1">
              <a:lnSpc>
                <a:spcPts val="3276"/>
              </a:lnSpc>
              <a:buFont typeface="Arial"/>
              <a:buChar char="•"/>
            </a:pPr>
            <a:r>
              <a:rPr lang="en-US" b="true" sz="2100" spc="35">
                <a:solidFill>
                  <a:srgbClr val="D9D9D9"/>
                </a:solidFill>
                <a:latin typeface="Poppins Medium"/>
                <a:ea typeface="Poppins Medium"/>
                <a:cs typeface="Poppins Medium"/>
                <a:sym typeface="Poppins Medium"/>
              </a:rPr>
              <a:t>Get unlimited storm-response maps (48 hr. turnaround, M–F)</a:t>
            </a:r>
          </a:p>
          <a:p>
            <a:pPr algn="l" marL="453390" indent="-226695" lvl="1">
              <a:lnSpc>
                <a:spcPts val="3276"/>
              </a:lnSpc>
              <a:buFont typeface="Arial"/>
              <a:buChar char="•"/>
            </a:pPr>
            <a:r>
              <a:rPr lang="en-US" b="true" sz="2100" spc="35">
                <a:solidFill>
                  <a:srgbClr val="D9D9D9"/>
                </a:solidFill>
                <a:latin typeface="Poppins Medium"/>
                <a:ea typeface="Poppins Medium"/>
                <a:cs typeface="Poppins Medium"/>
                <a:sym typeface="Poppins Medium"/>
              </a:rPr>
              <a:t>Includes Zip Code Targeting, Bulk Intent Data, Website Deanonymization, and more</a:t>
            </a:r>
          </a:p>
          <a:p>
            <a:pPr algn="l" marL="453390" indent="-226695" lvl="1">
              <a:lnSpc>
                <a:spcPts val="3276"/>
              </a:lnSpc>
              <a:buFont typeface="Arial"/>
              <a:buChar char="•"/>
            </a:pPr>
            <a:r>
              <a:rPr lang="en-US" b="true" sz="2100" spc="35">
                <a:solidFill>
                  <a:srgbClr val="D9D9D9"/>
                </a:solidFill>
                <a:latin typeface="Poppins Medium"/>
                <a:ea typeface="Poppins Medium"/>
                <a:cs typeface="Poppins Medium"/>
                <a:sym typeface="Poppins Medium"/>
              </a:rPr>
              <a:t>$2,000 setup + $500/month</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2926080"/>
            <a:ext cx="18288000" cy="12184380"/>
          </a:xfrm>
          <a:custGeom>
            <a:avLst/>
            <a:gdLst/>
            <a:ahLst/>
            <a:cxnLst/>
            <a:rect r="r" b="b" t="t" l="l"/>
            <a:pathLst>
              <a:path h="12184380" w="18288000">
                <a:moveTo>
                  <a:pt x="0" y="0"/>
                </a:moveTo>
                <a:lnTo>
                  <a:pt x="18288000" y="0"/>
                </a:lnTo>
                <a:lnTo>
                  <a:pt x="18288000" y="12184380"/>
                </a:lnTo>
                <a:lnTo>
                  <a:pt x="0" y="12184380"/>
                </a:lnTo>
                <a:lnTo>
                  <a:pt x="0" y="0"/>
                </a:lnTo>
                <a:close/>
              </a:path>
            </a:pathLst>
          </a:custGeom>
          <a:blipFill>
            <a:blip r:embed="rId2">
              <a:alphaModFix amt="43999"/>
            </a:blip>
            <a:stretch>
              <a:fillRect l="0" t="0" r="0" b="0"/>
            </a:stretch>
          </a:blipFill>
          <a:ln w="85725" cap="sq">
            <a:solidFill>
              <a:srgbClr val="000000">
                <a:alpha val="43922"/>
              </a:srgbClr>
            </a:solidFill>
            <a:prstDash val="solid"/>
            <a:miter/>
          </a:ln>
        </p:spPr>
      </p:sp>
      <p:sp>
        <p:nvSpPr>
          <p:cNvPr name="Freeform 3" id="3"/>
          <p:cNvSpPr/>
          <p:nvPr/>
        </p:nvSpPr>
        <p:spPr>
          <a:xfrm flipH="false" flipV="false" rot="0">
            <a:off x="15415657" y="7414657"/>
            <a:ext cx="2872343" cy="2872343"/>
          </a:xfrm>
          <a:custGeom>
            <a:avLst/>
            <a:gdLst/>
            <a:ahLst/>
            <a:cxnLst/>
            <a:rect r="r" b="b" t="t" l="l"/>
            <a:pathLst>
              <a:path h="2872343" w="2872343">
                <a:moveTo>
                  <a:pt x="0" y="0"/>
                </a:moveTo>
                <a:lnTo>
                  <a:pt x="2872343" y="0"/>
                </a:lnTo>
                <a:lnTo>
                  <a:pt x="2872343" y="2872343"/>
                </a:lnTo>
                <a:lnTo>
                  <a:pt x="0" y="2872343"/>
                </a:lnTo>
                <a:lnTo>
                  <a:pt x="0" y="0"/>
                </a:lnTo>
                <a:close/>
              </a:path>
            </a:pathLst>
          </a:custGeom>
          <a:blipFill>
            <a:blip r:embed="rId3">
              <a:alphaModFix amt="21999"/>
            </a:blip>
            <a:stretch>
              <a:fillRect l="0" t="0" r="0" b="0"/>
            </a:stretch>
          </a:blipFill>
        </p:spPr>
      </p:sp>
      <p:sp>
        <p:nvSpPr>
          <p:cNvPr name="TextBox 4" id="4"/>
          <p:cNvSpPr txBox="true"/>
          <p:nvPr/>
        </p:nvSpPr>
        <p:spPr>
          <a:xfrm rot="0">
            <a:off x="1858551" y="1428750"/>
            <a:ext cx="9003139" cy="796323"/>
          </a:xfrm>
          <a:prstGeom prst="rect">
            <a:avLst/>
          </a:prstGeom>
        </p:spPr>
        <p:txBody>
          <a:bodyPr anchor="t" rtlCol="false" tIns="0" lIns="0" bIns="0" rIns="0">
            <a:spAutoFit/>
          </a:bodyPr>
          <a:lstStyle/>
          <a:p>
            <a:pPr algn="l" marL="0" indent="0" lvl="0">
              <a:lnSpc>
                <a:spcPts val="5883"/>
              </a:lnSpc>
            </a:pPr>
            <a:r>
              <a:rPr lang="en-US" b="true" sz="5253">
                <a:solidFill>
                  <a:srgbClr val="F6F6F6"/>
                </a:solidFill>
                <a:latin typeface="Poppins Semi-Bold"/>
                <a:ea typeface="Poppins Semi-Bold"/>
                <a:cs typeface="Poppins Semi-Bold"/>
                <a:sym typeface="Poppins Semi-Bold"/>
              </a:rPr>
              <a:t>Terms</a:t>
            </a:r>
          </a:p>
        </p:txBody>
      </p:sp>
      <p:sp>
        <p:nvSpPr>
          <p:cNvPr name="TextBox 5" id="5"/>
          <p:cNvSpPr txBox="true"/>
          <p:nvPr/>
        </p:nvSpPr>
        <p:spPr>
          <a:xfrm rot="0">
            <a:off x="1858551" y="2664667"/>
            <a:ext cx="14653035" cy="2411730"/>
          </a:xfrm>
          <a:prstGeom prst="rect">
            <a:avLst/>
          </a:prstGeom>
        </p:spPr>
        <p:txBody>
          <a:bodyPr anchor="t" rtlCol="false" tIns="0" lIns="0" bIns="0" rIns="0">
            <a:spAutoFit/>
          </a:bodyPr>
          <a:lstStyle/>
          <a:p>
            <a:pPr algn="l" marL="0" indent="0" lvl="0">
              <a:lnSpc>
                <a:spcPts val="2730"/>
              </a:lnSpc>
              <a:spcBef>
                <a:spcPct val="0"/>
              </a:spcBef>
            </a:pPr>
            <a:r>
              <a:rPr lang="en-US" b="true" sz="2100" spc="35">
                <a:solidFill>
                  <a:srgbClr val="D9D9D9"/>
                </a:solidFill>
                <a:latin typeface="Poppins Medium"/>
                <a:ea typeface="Poppins Medium"/>
                <a:cs typeface="Poppins Medium"/>
                <a:sym typeface="Poppins Medium"/>
              </a:rPr>
              <a:t>public adjuster Florida, licensed public adjuster Florida, insurance denied my claim Florida, insurance underpaid fire damage claim, not enough insurance payout water damage, insurance won’t cover storm damage Florida, need money fast insurance claim hurricane, insurance delays payment Florida claim, best public adjuster near me, hire public adjuster for insurance claim, do public adjusters get better settlements Florida, public adjuster for denied claim Florida, adjuster for underpaid insurance claim, fire damage insurance underpayment Florida, hurricane damage insurance denied claim Florida, public adjuster insurance won’t pay, insurance adjuster for delayed payment.</a:t>
            </a:r>
          </a:p>
        </p:txBody>
      </p:sp>
      <p:sp>
        <p:nvSpPr>
          <p:cNvPr name="TextBox 6" id="6"/>
          <p:cNvSpPr txBox="true"/>
          <p:nvPr/>
        </p:nvSpPr>
        <p:spPr>
          <a:xfrm rot="0">
            <a:off x="1858551" y="5477303"/>
            <a:ext cx="14653035" cy="1725930"/>
          </a:xfrm>
          <a:prstGeom prst="rect">
            <a:avLst/>
          </a:prstGeom>
        </p:spPr>
        <p:txBody>
          <a:bodyPr anchor="t" rtlCol="false" tIns="0" lIns="0" bIns="0" rIns="0">
            <a:spAutoFit/>
          </a:bodyPr>
          <a:lstStyle/>
          <a:p>
            <a:pPr algn="l" marL="0" indent="0" lvl="0">
              <a:lnSpc>
                <a:spcPts val="2730"/>
              </a:lnSpc>
              <a:spcBef>
                <a:spcPct val="0"/>
              </a:spcBef>
            </a:pPr>
            <a:r>
              <a:rPr lang="en-US" b="true" sz="2100" spc="35">
                <a:solidFill>
                  <a:srgbClr val="D9D9D9"/>
                </a:solidFill>
                <a:latin typeface="Poppins Medium"/>
                <a:ea typeface="Poppins Medium"/>
                <a:cs typeface="Poppins Medium"/>
                <a:sym typeface="Poppins Medium"/>
              </a:rPr>
              <a:t>property insurance advocate Florida, fire damage public adjuster, water damage claim help Florida, hurricane damage insurance claim, storm damage adjuster, AC leak insurance claim Florida, p-trap leak insurance claim, mold damage claim Florida, how to fight insurance company after property damage, how to appeal denied insurance claim Florida, don’t understand homeowners insurance claim process, how long does it take insurance to pay fire damage.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ByteBlink AI: Turning Hidden Data</dc:description>
  <dc:identifier>DAGwppjCbGY</dc:identifier>
  <dcterms:modified xsi:type="dcterms:W3CDTF">2011-08-01T06:04:30Z</dcterms:modified>
  <cp:revision>1</cp:revision>
  <dc:title>Complete Presentation - ByteBlink AI: Turning Hidden Data into Opportunity</dc:title>
</cp:coreProperties>
</file>